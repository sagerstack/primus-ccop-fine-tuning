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8" r:id="rId2"/>
    <p:sldId id="287" r:id="rId3"/>
    <p:sldId id="278" r:id="rId4"/>
    <p:sldId id="276" r:id="rId5"/>
    <p:sldId id="286" r:id="rId6"/>
    <p:sldId id="284" r:id="rId7"/>
    <p:sldId id="260" r:id="rId8"/>
    <p:sldId id="261" r:id="rId9"/>
    <p:sldId id="265" r:id="rId10"/>
    <p:sldId id="290" r:id="rId11"/>
    <p:sldId id="279" r:id="rId12"/>
    <p:sldId id="285" r:id="rId13"/>
    <p:sldId id="282" r:id="rId14"/>
    <p:sldId id="268" r:id="rId15"/>
    <p:sldId id="263" r:id="rId16"/>
    <p:sldId id="289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51"/>
    <a:srgbClr val="E99998"/>
    <a:srgbClr val="90C8F4"/>
    <a:srgbClr val="E9FCF4"/>
    <a:srgbClr val="F9FAFC"/>
    <a:srgbClr val="B8A5E8"/>
    <a:srgbClr val="FCFFC4"/>
    <a:srgbClr val="C4B6FE"/>
    <a:srgbClr val="FFFFE1"/>
    <a:srgbClr val="8AB4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EF9EA-8181-FB43-A023-BF1665FFB226}" v="84" dt="2025-12-18T10:16:31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8"/>
    <p:restoredTop sz="94733"/>
  </p:normalViewPr>
  <p:slideViewPr>
    <p:cSldViewPr snapToGrid="0">
      <p:cViewPr varScale="1">
        <p:scale>
          <a:sx n="124" d="100"/>
          <a:sy n="124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11E0E-CD2E-F04C-BE18-C841F5800BC7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F959E-40BE-7B4B-A153-1E926B55C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3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AADA8-484A-33CC-80BB-FA70D290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4399C-8D37-BDA5-CC6E-BFC826116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B1041-CE53-9487-DF5F-996B93D32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F4327-1078-FCBA-1E9E-869433100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7038-F608-AAE8-2D76-24063F3E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9D1F3C-0277-7548-84AD-C053FFD21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9A815-12D4-1389-E0EC-61982E5D4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4E3AF-0924-0945-6F54-B557A9FA39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1431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4728-F1EA-47F8-D648-1E940ADA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59DC4-9CBF-BA73-CBA6-649EEB158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798E0-80CF-0B7E-624C-02DEF009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C0F24-1C47-3F1A-BB41-7AEC1D00C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602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1EB1-3318-A04D-788B-3522C5F79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57F77-F6DC-D9A5-8668-C5BB2DAB0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7A724-F884-770E-2361-D232B45E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8F526-7CAB-7AAF-9973-272CC3B9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E03C-80B3-0962-7ED2-AEDD9461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CBB1F-1EC6-7C87-739B-6BAA664581E3}"/>
              </a:ext>
            </a:extLst>
          </p:cNvPr>
          <p:cNvSpPr/>
          <p:nvPr userDrawn="1"/>
        </p:nvSpPr>
        <p:spPr>
          <a:xfrm>
            <a:off x="0" y="-2"/>
            <a:ext cx="323273" cy="68580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0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7E91-7524-2C3E-D970-837851FC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72D8C-1972-4079-41D0-473EE999C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83194-91F0-86DB-1711-E3799C50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65D4E-924B-1CFA-29C8-EF62E5F4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F415-2813-9FC8-655F-BB889025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4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3C75-3084-8A91-D937-FB6DB6A0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4B1BF-BB46-CFC4-53D7-2D6FA5CF5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38509-277D-5B73-D715-156E83136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AD553-83D8-9B39-DBBB-3521E539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E64A6-630E-56EC-EF45-ECC87B07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A0A5A-6CFF-EEC3-A8AE-9B7A79492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2961AC-CA17-2CD7-17EC-BB208442FB55}"/>
              </a:ext>
            </a:extLst>
          </p:cNvPr>
          <p:cNvSpPr/>
          <p:nvPr userDrawn="1"/>
        </p:nvSpPr>
        <p:spPr>
          <a:xfrm>
            <a:off x="0" y="-2"/>
            <a:ext cx="323273" cy="68580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4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68C7-61A6-EEA3-6F0E-5318E234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3F439-7269-22CD-43AF-40228B1A1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410A9-5B81-F069-CC18-33E079D86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55B6F-0E6D-945C-AADE-59D9213D4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FA987-50B9-752A-F216-DA5B12528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8A800-16A4-57F7-19F4-7CC5391A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F8E3C-A417-EBED-4E57-F23675B7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8244E8-9718-FA4B-4FEA-8A6A7F88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9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0309-39DB-AF61-3006-B53452939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A7016-1005-95BE-E8F4-845DFC486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08B5C-255C-C1A9-917E-93E117B5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31AF6-89EF-5CE2-F474-9986FBCF2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3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35155C-BE59-D056-92C9-D3C45B891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AA26B-F900-2FB8-20E6-302B81C1A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8ADD5-4623-64A4-C079-631EFB16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9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6ED32-BA59-61A7-0850-5D40AEC3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AD2CA-3CDC-BF70-0F4E-E114FF49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7C603-80AE-8E02-870A-4F1BBC012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A9FCE-6DED-DE56-C515-41FED165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9FC5C-26D9-EDB2-6E7D-E52A0DA8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424FF-DD45-EF27-903F-A6D118EB7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4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A40C6-AB46-9E30-B75F-B4A071C5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FCEA5-7860-0DB0-0F02-6E3B97B29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7D650-5664-F657-5D44-15B7CC25A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1664F-C35E-DF07-2183-A80AC9029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392BE-69D7-9862-A37C-AD912EE7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0E2E2-9D97-76E2-3BBB-C0F0B26A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F025-4BD8-36D4-80D1-F1AC2CDA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F42E2-C0E7-987A-0E86-A75588430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662E-BB6C-C3B2-6EA3-60F4B6DA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81D5-58BD-118A-9BC1-59F786E4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95A64-B9C1-E454-3C66-C9B70C95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0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AD30F9-C63E-FB47-14D8-004F0676C5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E66E5-C272-6FCB-DFE8-435851E3D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486DB-BFB6-0554-464F-9D8A7DCB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D35B-0A2D-5F6B-D567-A1FE3221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D0DE2-62BF-A9A4-983F-99D09CD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670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0442CB-4A90-3F25-4327-EDDAAF8C057D}"/>
              </a:ext>
            </a:extLst>
          </p:cNvPr>
          <p:cNvSpPr/>
          <p:nvPr userDrawn="1"/>
        </p:nvSpPr>
        <p:spPr>
          <a:xfrm>
            <a:off x="0" y="-2"/>
            <a:ext cx="323273" cy="685800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77E16-7595-B629-0662-8E2631890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B4F2A-6843-55F9-E1CC-F5D8F6A4E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79884-03AF-673E-F90D-6D83DF1A6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3B901-46DF-4543-A52F-025BAD1B5CD4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ED65B-801C-444A-7AA0-A79E5B6BF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B22D2-ED6F-56BB-4570-524D2FB58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877C6-7655-AA4D-91C3-FB59579C6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3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4.0430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rxiv.org/abs/2502.11191?utm_source=chatgpt.co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rxiv.org/abs/2305.1431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arxiv.org/abs/2408.13338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0357C-9802-8486-0790-AD5F8E7F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2">
            <a:extLst>
              <a:ext uri="{FF2B5EF4-FFF2-40B4-BE49-F238E27FC236}">
                <a16:creationId xmlns:a16="http://schemas.microsoft.com/office/drawing/2014/main" id="{62410823-E429-3EB1-1049-5607622655FD}"/>
              </a:ext>
            </a:extLst>
          </p:cNvPr>
          <p:cNvSpPr/>
          <p:nvPr/>
        </p:nvSpPr>
        <p:spPr>
          <a:xfrm>
            <a:off x="644769" y="1867472"/>
            <a:ext cx="9161584" cy="2089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  <a:t>Fine-Tuning Language Model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</a:br>
            <a:r>
              <a:rPr lang="en-US" sz="4400" dirty="0">
                <a:solidFill>
                  <a:schemeClr val="bg1">
                    <a:lumMod val="85000"/>
                  </a:schemeClr>
                </a:solidFill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  <a:t>on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  <a:t>Singapore’s 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</a:b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  <a:t>Cybersecurity Code of Practice</a:t>
            </a:r>
            <a:endParaRPr lang="en-US" sz="31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1553820-6CB5-D282-074D-512B522B4236}"/>
              </a:ext>
            </a:extLst>
          </p:cNvPr>
          <p:cNvSpPr/>
          <p:nvPr/>
        </p:nvSpPr>
        <p:spPr>
          <a:xfrm>
            <a:off x="644769" y="4160696"/>
            <a:ext cx="79013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3000"/>
              </a:spcAft>
              <a:buNone/>
            </a:pPr>
            <a:r>
              <a:rPr lang="en-US" sz="135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Cybersecurity &amp; Risk Compliance Assessment for Critical Information Infrastructure Owners</a:t>
            </a:r>
            <a:endParaRPr lang="en-US" sz="135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0341A1-854A-2D8C-A5D6-ACEE443188BE}"/>
              </a:ext>
            </a:extLst>
          </p:cNvPr>
          <p:cNvSpPr/>
          <p:nvPr/>
        </p:nvSpPr>
        <p:spPr>
          <a:xfrm>
            <a:off x="644768" y="3991705"/>
            <a:ext cx="11160000" cy="61546"/>
          </a:xfrm>
          <a:prstGeom prst="rect">
            <a:avLst/>
          </a:prstGeom>
          <a:gradFill flip="none" rotWithShape="1">
            <a:gsLst>
              <a:gs pos="52000">
                <a:srgbClr val="B8A5E8"/>
              </a:gs>
              <a:gs pos="0">
                <a:srgbClr val="E99998"/>
              </a:gs>
              <a:gs pos="100000">
                <a:srgbClr val="90C8F4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42CFD-2693-F5CD-487A-0B705F750D30}"/>
              </a:ext>
            </a:extLst>
          </p:cNvPr>
          <p:cNvSpPr txBox="1"/>
          <p:nvPr/>
        </p:nvSpPr>
        <p:spPr>
          <a:xfrm>
            <a:off x="7578969" y="5292969"/>
            <a:ext cx="4304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Kailasa" panose="02000500000000020004" pitchFamily="2" charset="0"/>
                <a:cs typeface="Kailasa" panose="02000500000000020004" pitchFamily="2" charset="0"/>
              </a:rPr>
              <a:t>Sagar Pratap Singh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Kailasa" panose="02000500000000020004" pitchFamily="2" charset="0"/>
                <a:cs typeface="Kailasa" panose="02000500000000020004" pitchFamily="2" charset="0"/>
              </a:rPr>
              <a:t>MDAI-E Studio Term 1 Report | SUTD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Kailasa" panose="02000500000000020004" pitchFamily="2" charset="0"/>
                <a:cs typeface="Kailasa" panose="02000500000000020004" pitchFamily="2" charset="0"/>
              </a:rPr>
              <a:t>Industry Partner AETHER by RAiD</a:t>
            </a:r>
          </a:p>
          <a:p>
            <a:pPr algn="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Kailasa" panose="02000500000000020004" pitchFamily="2" charset="0"/>
                <a:cs typeface="Kailasa" panose="02000500000000020004" pitchFamily="2" charset="0"/>
              </a:rPr>
              <a:t>19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04842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309" y="233006"/>
            <a:ext cx="58163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Agenda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 0" descr="/tmp/rasterized-gradient-17db5b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09" y="1703480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" name="Text 1"/>
          <p:cNvSpPr/>
          <p:nvPr/>
        </p:nvSpPr>
        <p:spPr>
          <a:xfrm>
            <a:off x="661301" y="1807660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91909" y="1714989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Project Objectives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1909" y="1953710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Goals and target outcomes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7" name="Image 1" descr="/tmp/rasterized-gradient-8f9c69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9" y="2313080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Text 4"/>
          <p:cNvSpPr/>
          <p:nvPr/>
        </p:nvSpPr>
        <p:spPr>
          <a:xfrm>
            <a:off x="661301" y="2417260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3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091909" y="2324589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Benefits for CIIOs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091909" y="2563310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Value proposition for critical infrastructure owners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Image 2" descr="/tmp/rasterized-gradient-8ec7c2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09" y="2912686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2" name="Text 7"/>
          <p:cNvSpPr/>
          <p:nvPr/>
        </p:nvSpPr>
        <p:spPr>
          <a:xfrm>
            <a:off x="661301" y="3016866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91909" y="2924195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Related Works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091909" y="3162916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Comparative Research and Learnings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7" name="Image 6" descr="/tmp/rasterized-gradient-f16ecf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440" y="3014637"/>
            <a:ext cx="457200" cy="4572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187586" y="3118143"/>
            <a:ext cx="202907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10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6670040" y="3026146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Next Steps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6670040" y="3264867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Immediate action items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406400" y="5077618"/>
            <a:ext cx="11379200" cy="568920"/>
          </a:xfrm>
          <a:prstGeom prst="roundRect">
            <a:avLst>
              <a:gd name="adj" fmla="val 1785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431800" y="5077618"/>
            <a:ext cx="0" cy="568920"/>
          </a:xfrm>
          <a:prstGeom prst="line">
            <a:avLst/>
          </a:prstGeom>
          <a:noFill/>
          <a:ln w="381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11200" y="5255418"/>
            <a:ext cx="110368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Current Focus: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Phase 2 Baseline Evaluation - Ground truth validation and model benchmarking in progress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29"/>
          <p:cNvSpPr/>
          <p:nvPr/>
        </p:nvSpPr>
        <p:spPr>
          <a:xfrm>
            <a:off x="406400" y="6342461"/>
            <a:ext cx="116067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Duration: 20 minutes + Q&amp;A</a:t>
            </a:r>
            <a:endParaRPr lang="en-US" sz="900" dirty="0"/>
          </a:p>
        </p:txBody>
      </p:sp>
      <p:pic>
        <p:nvPicPr>
          <p:cNvPr id="40" name="Image 2" descr="/tmp/rasterized-gradient-8ec7c22f.png">
            <a:extLst>
              <a:ext uri="{FF2B5EF4-FFF2-40B4-BE49-F238E27FC236}">
                <a16:creationId xmlns:a16="http://schemas.microsoft.com/office/drawing/2014/main" id="{E60DF52B-1C7F-9053-A2C2-FB85EA49CE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884" y="3511064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1269522C-AF18-6CDA-0092-2C4E137C68FD}"/>
              </a:ext>
            </a:extLst>
          </p:cNvPr>
          <p:cNvSpPr/>
          <p:nvPr/>
        </p:nvSpPr>
        <p:spPr>
          <a:xfrm>
            <a:off x="675876" y="3615244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5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BA1A7B2B-EA26-C2B0-9B4D-6CA07C3EB5C4}"/>
              </a:ext>
            </a:extLst>
          </p:cNvPr>
          <p:cNvSpPr/>
          <p:nvPr/>
        </p:nvSpPr>
        <p:spPr>
          <a:xfrm>
            <a:off x="1106484" y="3522573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 Tuning Model on CCoP 2.0 Standards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16654E5-C505-E66E-FB64-44A8BB469705}"/>
              </a:ext>
            </a:extLst>
          </p:cNvPr>
          <p:cNvSpPr/>
          <p:nvPr/>
        </p:nvSpPr>
        <p:spPr>
          <a:xfrm>
            <a:off x="1106484" y="3761294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The case for fine-tuning and methodology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4" name="Image 3" descr="/tmp/rasterized-gradient-f1c5f369.png">
            <a:extLst>
              <a:ext uri="{FF2B5EF4-FFF2-40B4-BE49-F238E27FC236}">
                <a16:creationId xmlns:a16="http://schemas.microsoft.com/office/drawing/2014/main" id="{9019BDEC-DE8B-2087-AB7A-CFB005673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884" y="4110762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5" name="Text 10">
            <a:extLst>
              <a:ext uri="{FF2B5EF4-FFF2-40B4-BE49-F238E27FC236}">
                <a16:creationId xmlns:a16="http://schemas.microsoft.com/office/drawing/2014/main" id="{9535256E-C6C3-21E8-EC0E-E0F69B8C24D1}"/>
              </a:ext>
            </a:extLst>
          </p:cNvPr>
          <p:cNvSpPr/>
          <p:nvPr/>
        </p:nvSpPr>
        <p:spPr>
          <a:xfrm>
            <a:off x="675876" y="4214942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6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488A31C8-6A97-7EDA-3098-E0E025304083}"/>
              </a:ext>
            </a:extLst>
          </p:cNvPr>
          <p:cNvSpPr/>
          <p:nvPr/>
        </p:nvSpPr>
        <p:spPr>
          <a:xfrm>
            <a:off x="1106484" y="4122271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Benchmarks &amp; Evaluation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975E1599-31CC-71B2-1141-3401F946A8F9}"/>
              </a:ext>
            </a:extLst>
          </p:cNvPr>
          <p:cNvSpPr/>
          <p:nvPr/>
        </p:nvSpPr>
        <p:spPr>
          <a:xfrm>
            <a:off x="1106484" y="4360992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21 benchmarks across 3 tiers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8" name="Image 0" descr="/tmp/rasterized-gradient-17db5bcb.png">
            <a:extLst>
              <a:ext uri="{FF2B5EF4-FFF2-40B4-BE49-F238E27FC236}">
                <a16:creationId xmlns:a16="http://schemas.microsoft.com/office/drawing/2014/main" id="{6ECB1CC3-CDE3-E78A-AE36-3ACA00311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84" y="1099255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9" name="Text 1">
            <a:extLst>
              <a:ext uri="{FF2B5EF4-FFF2-40B4-BE49-F238E27FC236}">
                <a16:creationId xmlns:a16="http://schemas.microsoft.com/office/drawing/2014/main" id="{D33CCC75-293F-5DFA-7904-E4EA17FA08A4}"/>
              </a:ext>
            </a:extLst>
          </p:cNvPr>
          <p:cNvSpPr/>
          <p:nvPr/>
        </p:nvSpPr>
        <p:spPr>
          <a:xfrm>
            <a:off x="675876" y="1203435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1DD508A8-68CB-CB63-2165-0E179F274A65}"/>
              </a:ext>
            </a:extLst>
          </p:cNvPr>
          <p:cNvSpPr/>
          <p:nvPr/>
        </p:nvSpPr>
        <p:spPr>
          <a:xfrm>
            <a:off x="1106484" y="1110764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Problem Statement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FB4C2E94-6DE3-29D7-3611-BA80F7C5DACA}"/>
              </a:ext>
            </a:extLst>
          </p:cNvPr>
          <p:cNvSpPr/>
          <p:nvPr/>
        </p:nvSpPr>
        <p:spPr>
          <a:xfrm>
            <a:off x="1106484" y="1349485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Singapore’s CCoP 2.0 standards and mandates for CIIOs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2" name="Image 4" descr="/tmp/rasterized-gradient-0500bd5e.png">
            <a:extLst>
              <a:ext uri="{FF2B5EF4-FFF2-40B4-BE49-F238E27FC236}">
                <a16:creationId xmlns:a16="http://schemas.microsoft.com/office/drawing/2014/main" id="{699B7CAE-42F5-7B2C-C39D-4F47E224B4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0440" y="1173739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3" name="Text 13">
            <a:extLst>
              <a:ext uri="{FF2B5EF4-FFF2-40B4-BE49-F238E27FC236}">
                <a16:creationId xmlns:a16="http://schemas.microsoft.com/office/drawing/2014/main" id="{C950B989-9B28-0FEF-112D-E89C8F607362}"/>
              </a:ext>
            </a:extLst>
          </p:cNvPr>
          <p:cNvSpPr/>
          <p:nvPr/>
        </p:nvSpPr>
        <p:spPr>
          <a:xfrm>
            <a:off x="6239432" y="1277919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7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441B54AC-65BA-9178-4CC5-0F40B6082ECF}"/>
              </a:ext>
            </a:extLst>
          </p:cNvPr>
          <p:cNvSpPr/>
          <p:nvPr/>
        </p:nvSpPr>
        <p:spPr>
          <a:xfrm>
            <a:off x="6670040" y="1185248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Project Plan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ECE87700-03A6-489E-551D-3D1F82E5C88B}"/>
              </a:ext>
            </a:extLst>
          </p:cNvPr>
          <p:cNvSpPr/>
          <p:nvPr/>
        </p:nvSpPr>
        <p:spPr>
          <a:xfrm>
            <a:off x="6670040" y="1423969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Targets and timeline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6" name="Image 5" descr="/tmp/rasterized-gradient-98b318b9.png">
            <a:extLst>
              <a:ext uri="{FF2B5EF4-FFF2-40B4-BE49-F238E27FC236}">
                <a16:creationId xmlns:a16="http://schemas.microsoft.com/office/drawing/2014/main" id="{2006E6B8-9ADD-A045-84CF-5DB86A9293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0440" y="1783339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7" name="Text 16">
            <a:extLst>
              <a:ext uri="{FF2B5EF4-FFF2-40B4-BE49-F238E27FC236}">
                <a16:creationId xmlns:a16="http://schemas.microsoft.com/office/drawing/2014/main" id="{225D92ED-B3F8-9111-6A55-C1901F18B687}"/>
              </a:ext>
            </a:extLst>
          </p:cNvPr>
          <p:cNvSpPr/>
          <p:nvPr/>
        </p:nvSpPr>
        <p:spPr>
          <a:xfrm>
            <a:off x="6239432" y="1887519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94860D54-6EEE-2689-9B1E-46DE9A605653}"/>
              </a:ext>
            </a:extLst>
          </p:cNvPr>
          <p:cNvSpPr/>
          <p:nvPr/>
        </p:nvSpPr>
        <p:spPr>
          <a:xfrm>
            <a:off x="6670040" y="1794848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Updates from Phase 1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CB91FCD5-0D9C-F866-265C-C1960FFFD6CE}"/>
              </a:ext>
            </a:extLst>
          </p:cNvPr>
          <p:cNvSpPr/>
          <p:nvPr/>
        </p:nvSpPr>
        <p:spPr>
          <a:xfrm>
            <a:off x="6670040" y="2033569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Establishing ground-truth and local infrastructure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5" name="Image 5" descr="/tmp/rasterized-gradient-98b318b9.png">
            <a:extLst>
              <a:ext uri="{FF2B5EF4-FFF2-40B4-BE49-F238E27FC236}">
                <a16:creationId xmlns:a16="http://schemas.microsoft.com/office/drawing/2014/main" id="{9A18F077-908E-8B2A-1BD2-317F43B194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0440" y="2410609"/>
            <a:ext cx="457200" cy="45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6" name="Text 16">
            <a:extLst>
              <a:ext uri="{FF2B5EF4-FFF2-40B4-BE49-F238E27FC236}">
                <a16:creationId xmlns:a16="http://schemas.microsoft.com/office/drawing/2014/main" id="{AD344D98-186E-237C-FEFD-F5A8859EE70A}"/>
              </a:ext>
            </a:extLst>
          </p:cNvPr>
          <p:cNvSpPr/>
          <p:nvPr/>
        </p:nvSpPr>
        <p:spPr>
          <a:xfrm>
            <a:off x="6239432" y="2514789"/>
            <a:ext cx="101001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60"/>
              </a:lnSpc>
            </a:pPr>
            <a:r>
              <a:rPr lang="en-US" sz="1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9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D613C23E-D66C-7BA2-99B0-897752BBF81B}"/>
              </a:ext>
            </a:extLst>
          </p:cNvPr>
          <p:cNvSpPr/>
          <p:nvPr/>
        </p:nvSpPr>
        <p:spPr>
          <a:xfrm>
            <a:off x="6670040" y="2422118"/>
            <a:ext cx="507796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2 Developments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4E2662C3-7A57-87BF-1DBC-0A8F39455616}"/>
              </a:ext>
            </a:extLst>
          </p:cNvPr>
          <p:cNvSpPr/>
          <p:nvPr/>
        </p:nvSpPr>
        <p:spPr>
          <a:xfrm>
            <a:off x="6670040" y="2660839"/>
            <a:ext cx="507796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200"/>
              </a:spcBef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Evaluating baseline model performance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17E3C-49E3-D4F2-72A1-AB1FF5FF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E1F5-8062-D1DD-8FF6-BA0FA2F6B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107" y="0"/>
            <a:ext cx="9062774" cy="79505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Tsukushi A Round Gothic Regular" panose="02020400000000000000" pitchFamily="18" charset="-128"/>
                <a:cs typeface="Sabon Next LT" panose="02000500000000000000" pitchFamily="2" charset="0"/>
              </a:rPr>
              <a:t>Problem Statement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6C0C629E-0093-FFBD-D3B4-1444AE19953A}"/>
              </a:ext>
            </a:extLst>
          </p:cNvPr>
          <p:cNvSpPr/>
          <p:nvPr/>
        </p:nvSpPr>
        <p:spPr>
          <a:xfrm>
            <a:off x="457200" y="1005840"/>
            <a:ext cx="5669280" cy="2194560"/>
          </a:xfrm>
          <a:prstGeom prst="rect">
            <a:avLst/>
          </a:prstGeom>
          <a:solidFill>
            <a:srgbClr val="F9FAFC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47C99D5A-5AC5-37E2-AD08-87A813BD6098}"/>
              </a:ext>
            </a:extLst>
          </p:cNvPr>
          <p:cNvSpPr/>
          <p:nvPr/>
        </p:nvSpPr>
        <p:spPr>
          <a:xfrm>
            <a:off x="457200" y="1005840"/>
            <a:ext cx="45720" cy="21945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93943E6-2DC7-B6F7-B8D1-765ABDE10D33}"/>
              </a:ext>
            </a:extLst>
          </p:cNvPr>
          <p:cNvSpPr/>
          <p:nvPr/>
        </p:nvSpPr>
        <p:spPr>
          <a:xfrm>
            <a:off x="640080" y="1097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WHAT IS CYBERSECURITY CODE OF PRACTICE?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EAF485D5-0E67-E38F-93CB-DD0565993CCF}"/>
              </a:ext>
            </a:extLst>
          </p:cNvPr>
          <p:cNvSpPr/>
          <p:nvPr/>
        </p:nvSpPr>
        <p:spPr>
          <a:xfrm>
            <a:off x="640080" y="13716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CCoP 2.0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is a mandatory regulatory framework issued by the </a:t>
            </a:r>
            <a:r>
              <a:rPr lang="en-US" sz="12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Cyber Security Agency of Singapore (CSA)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that prescribes cybersecurity measures for Critical Information Infrastructure Owners (CIIOs) to safeguard systems essential to national functions.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C7105027-3A2F-DE20-9717-3753370CFC4E}"/>
              </a:ext>
            </a:extLst>
          </p:cNvPr>
          <p:cNvSpPr/>
          <p:nvPr/>
        </p:nvSpPr>
        <p:spPr>
          <a:xfrm>
            <a:off x="807720" y="2450658"/>
            <a:ext cx="1152525" cy="38862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81EAFFE-CC18-4847-9371-2BF656273BB2}"/>
              </a:ext>
            </a:extLst>
          </p:cNvPr>
          <p:cNvSpPr/>
          <p:nvPr/>
        </p:nvSpPr>
        <p:spPr>
          <a:xfrm>
            <a:off x="807720" y="2542098"/>
            <a:ext cx="11525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220</a:t>
            </a:r>
            <a:endParaRPr lang="en-US" sz="2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4B3EC55-F9AB-F1FF-F881-918953E623F6}"/>
              </a:ext>
            </a:extLst>
          </p:cNvPr>
          <p:cNvSpPr/>
          <p:nvPr/>
        </p:nvSpPr>
        <p:spPr>
          <a:xfrm>
            <a:off x="807720" y="2907858"/>
            <a:ext cx="115252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Security Requirements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BA17C497-1A77-BAC0-2F17-660A09E2B236}"/>
              </a:ext>
            </a:extLst>
          </p:cNvPr>
          <p:cNvSpPr/>
          <p:nvPr/>
        </p:nvSpPr>
        <p:spPr>
          <a:xfrm>
            <a:off x="2545080" y="2450658"/>
            <a:ext cx="1152525" cy="38862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927DBDD8-1E5E-C861-1D35-C2B20B92FCD1}"/>
              </a:ext>
            </a:extLst>
          </p:cNvPr>
          <p:cNvSpPr/>
          <p:nvPr/>
        </p:nvSpPr>
        <p:spPr>
          <a:xfrm>
            <a:off x="2545080" y="2542098"/>
            <a:ext cx="11525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11</a:t>
            </a:r>
            <a:endParaRPr lang="en-US" sz="2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E4EB539-4132-E1B9-8628-8E1E9F24B9CA}"/>
              </a:ext>
            </a:extLst>
          </p:cNvPr>
          <p:cNvSpPr/>
          <p:nvPr/>
        </p:nvSpPr>
        <p:spPr>
          <a:xfrm>
            <a:off x="2545080" y="2907858"/>
            <a:ext cx="115252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Control Domains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D3D8C78-F38A-F410-808E-C80AA685066A}"/>
              </a:ext>
            </a:extLst>
          </p:cNvPr>
          <p:cNvSpPr/>
          <p:nvPr/>
        </p:nvSpPr>
        <p:spPr>
          <a:xfrm>
            <a:off x="4282440" y="2450658"/>
            <a:ext cx="1152525" cy="388620"/>
          </a:xfrm>
          <a:prstGeom prst="roundRect">
            <a:avLst>
              <a:gd name="adj" fmla="val 9412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DB62CA08-C63E-E16C-CF76-A20CEA0E2732}"/>
              </a:ext>
            </a:extLst>
          </p:cNvPr>
          <p:cNvSpPr/>
          <p:nvPr/>
        </p:nvSpPr>
        <p:spPr>
          <a:xfrm>
            <a:off x="4282440" y="2542098"/>
            <a:ext cx="115252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F44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2022</a:t>
            </a:r>
            <a:endParaRPr lang="en-US" sz="2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0E0D85CE-3382-083D-F746-AD091A60E753}"/>
              </a:ext>
            </a:extLst>
          </p:cNvPr>
          <p:cNvSpPr/>
          <p:nvPr/>
        </p:nvSpPr>
        <p:spPr>
          <a:xfrm>
            <a:off x="4282440" y="2907858"/>
            <a:ext cx="1152525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Effective Date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56F2792C-9C11-0C32-40E5-5B1D44C15948}"/>
              </a:ext>
            </a:extLst>
          </p:cNvPr>
          <p:cNvSpPr/>
          <p:nvPr/>
        </p:nvSpPr>
        <p:spPr>
          <a:xfrm>
            <a:off x="502920" y="3376488"/>
            <a:ext cx="5623560" cy="3024312"/>
          </a:xfrm>
          <a:prstGeom prst="rect">
            <a:avLst/>
          </a:prstGeom>
          <a:solidFill>
            <a:srgbClr val="F9FAFC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B13C1F45-0B66-57A2-B7A9-6C05919DEBD4}"/>
              </a:ext>
            </a:extLst>
          </p:cNvPr>
          <p:cNvSpPr/>
          <p:nvPr/>
        </p:nvSpPr>
        <p:spPr>
          <a:xfrm>
            <a:off x="457200" y="3376488"/>
            <a:ext cx="45720" cy="30243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99E566A9-A0E5-2612-9CFB-84DE388E4141}"/>
              </a:ext>
            </a:extLst>
          </p:cNvPr>
          <p:cNvSpPr/>
          <p:nvPr/>
        </p:nvSpPr>
        <p:spPr>
          <a:xfrm>
            <a:off x="548640" y="3466023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CRITICAL INFORMATION INFRASTRUCTURE OWNERS (CIIOs)</a:t>
            </a:r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297EDA69-2997-6E24-BA84-15CCD76721CB}"/>
              </a:ext>
            </a:extLst>
          </p:cNvPr>
          <p:cNvSpPr/>
          <p:nvPr/>
        </p:nvSpPr>
        <p:spPr>
          <a:xfrm>
            <a:off x="548640" y="3740343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Organizations designated by the </a:t>
            </a:r>
            <a:r>
              <a:rPr lang="en-US" sz="12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Commissioner of Cybersecurity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as owners of Critical Information Infrastructure (CII) necessary for continuous delivery of essential services for Singapore.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D3E626F8-5D30-6A24-514D-8AD8AE8CD267}"/>
              </a:ext>
            </a:extLst>
          </p:cNvPr>
          <p:cNvSpPr/>
          <p:nvPr/>
        </p:nvSpPr>
        <p:spPr>
          <a:xfrm>
            <a:off x="548640" y="462007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AA234A27-3472-4F7E-E0AF-8ABB7C435C50}"/>
              </a:ext>
            </a:extLst>
          </p:cNvPr>
          <p:cNvSpPr/>
          <p:nvPr/>
        </p:nvSpPr>
        <p:spPr>
          <a:xfrm>
            <a:off x="548640" y="462007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⚡ Energy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F9275A44-F47A-DE31-7D53-D4F2B4CA91B5}"/>
              </a:ext>
            </a:extLst>
          </p:cNvPr>
          <p:cNvSpPr/>
          <p:nvPr/>
        </p:nvSpPr>
        <p:spPr>
          <a:xfrm>
            <a:off x="2377440" y="462007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220AF0BE-291E-84D3-C562-94F382F72D84}"/>
              </a:ext>
            </a:extLst>
          </p:cNvPr>
          <p:cNvSpPr/>
          <p:nvPr/>
        </p:nvSpPr>
        <p:spPr>
          <a:xfrm>
            <a:off x="2377440" y="462007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💧 Water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CAC2BCA7-633B-D8E1-E07D-CE7DF0C0CFAD}"/>
              </a:ext>
            </a:extLst>
          </p:cNvPr>
          <p:cNvSpPr/>
          <p:nvPr/>
        </p:nvSpPr>
        <p:spPr>
          <a:xfrm>
            <a:off x="4206240" y="462007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817F457C-476A-9D84-2432-F090CA986D57}"/>
              </a:ext>
            </a:extLst>
          </p:cNvPr>
          <p:cNvSpPr/>
          <p:nvPr/>
        </p:nvSpPr>
        <p:spPr>
          <a:xfrm>
            <a:off x="4206240" y="462007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🏥 Healthcare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57F6935C-5E53-B621-D9D9-62E9F50C8EBD}"/>
              </a:ext>
            </a:extLst>
          </p:cNvPr>
          <p:cNvSpPr/>
          <p:nvPr/>
        </p:nvSpPr>
        <p:spPr>
          <a:xfrm>
            <a:off x="548640" y="516871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2FE6385E-E57B-29B4-5D65-B5FD1D150A0D}"/>
              </a:ext>
            </a:extLst>
          </p:cNvPr>
          <p:cNvSpPr/>
          <p:nvPr/>
        </p:nvSpPr>
        <p:spPr>
          <a:xfrm>
            <a:off x="548640" y="516871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🏦 Banking &amp; Finance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ED68F584-6073-B035-6871-2CE0BAC3C959}"/>
              </a:ext>
            </a:extLst>
          </p:cNvPr>
          <p:cNvSpPr/>
          <p:nvPr/>
        </p:nvSpPr>
        <p:spPr>
          <a:xfrm>
            <a:off x="2377440" y="516871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36D54169-7DD3-2C02-FB97-E5472B64AF94}"/>
              </a:ext>
            </a:extLst>
          </p:cNvPr>
          <p:cNvSpPr/>
          <p:nvPr/>
        </p:nvSpPr>
        <p:spPr>
          <a:xfrm>
            <a:off x="2377440" y="516871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🚆 Transport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4694CAD0-E325-D50F-3617-31B873B820D2}"/>
              </a:ext>
            </a:extLst>
          </p:cNvPr>
          <p:cNvSpPr/>
          <p:nvPr/>
        </p:nvSpPr>
        <p:spPr>
          <a:xfrm>
            <a:off x="4206240" y="516871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D4E77667-89B7-F41A-29E7-4617384CDA56}"/>
              </a:ext>
            </a:extLst>
          </p:cNvPr>
          <p:cNvSpPr/>
          <p:nvPr/>
        </p:nvSpPr>
        <p:spPr>
          <a:xfrm>
            <a:off x="4206240" y="516871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🏛️ Government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2972EEBE-5FDD-A388-FF00-C3777C08BE7F}"/>
              </a:ext>
            </a:extLst>
          </p:cNvPr>
          <p:cNvSpPr/>
          <p:nvPr/>
        </p:nvSpPr>
        <p:spPr>
          <a:xfrm>
            <a:off x="548640" y="571735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35B8FE7A-3418-919D-EE3F-72B2A6BF2D95}"/>
              </a:ext>
            </a:extLst>
          </p:cNvPr>
          <p:cNvSpPr/>
          <p:nvPr/>
        </p:nvSpPr>
        <p:spPr>
          <a:xfrm>
            <a:off x="548640" y="571735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📡 Infocomm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Shape 32">
            <a:extLst>
              <a:ext uri="{FF2B5EF4-FFF2-40B4-BE49-F238E27FC236}">
                <a16:creationId xmlns:a16="http://schemas.microsoft.com/office/drawing/2014/main" id="{AF67E4C0-41F4-D73D-EF4C-0EEEF72E1E1A}"/>
              </a:ext>
            </a:extLst>
          </p:cNvPr>
          <p:cNvSpPr/>
          <p:nvPr/>
        </p:nvSpPr>
        <p:spPr>
          <a:xfrm>
            <a:off x="2377440" y="571735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5B7C3A34-B26F-C0D8-CB6F-490E66B2756D}"/>
              </a:ext>
            </a:extLst>
          </p:cNvPr>
          <p:cNvSpPr/>
          <p:nvPr/>
        </p:nvSpPr>
        <p:spPr>
          <a:xfrm>
            <a:off x="2377440" y="571735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📺 Media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968EE180-4315-6868-E803-98C2690E2BC7}"/>
              </a:ext>
            </a:extLst>
          </p:cNvPr>
          <p:cNvSpPr/>
          <p:nvPr/>
        </p:nvSpPr>
        <p:spPr>
          <a:xfrm>
            <a:off x="4206240" y="5717352"/>
            <a:ext cx="173736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437F48B0-1135-6012-A8AF-2478094282D3}"/>
              </a:ext>
            </a:extLst>
          </p:cNvPr>
          <p:cNvSpPr/>
          <p:nvPr/>
        </p:nvSpPr>
        <p:spPr>
          <a:xfrm>
            <a:off x="4206240" y="5717352"/>
            <a:ext cx="1737360" cy="457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🚨 Security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Shape 36">
            <a:extLst>
              <a:ext uri="{FF2B5EF4-FFF2-40B4-BE49-F238E27FC236}">
                <a16:creationId xmlns:a16="http://schemas.microsoft.com/office/drawing/2014/main" id="{CA320857-DDF3-2A32-C68C-8001E023ACBF}"/>
              </a:ext>
            </a:extLst>
          </p:cNvPr>
          <p:cNvSpPr/>
          <p:nvPr/>
        </p:nvSpPr>
        <p:spPr>
          <a:xfrm>
            <a:off x="6263640" y="1005840"/>
            <a:ext cx="5440680" cy="5394960"/>
          </a:xfrm>
          <a:prstGeom prst="rect">
            <a:avLst/>
          </a:prstGeom>
          <a:solidFill>
            <a:srgbClr val="F9FAFC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9B0F8533-2816-C3E7-C83C-6AEF94424F18}"/>
              </a:ext>
            </a:extLst>
          </p:cNvPr>
          <p:cNvSpPr/>
          <p:nvPr/>
        </p:nvSpPr>
        <p:spPr>
          <a:xfrm>
            <a:off x="6263640" y="1005840"/>
            <a:ext cx="45720" cy="5394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C0D222A1-DD82-B027-2CB2-B27F360C8CA0}"/>
              </a:ext>
            </a:extLst>
          </p:cNvPr>
          <p:cNvSpPr/>
          <p:nvPr/>
        </p:nvSpPr>
        <p:spPr>
          <a:xfrm>
            <a:off x="644652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MANDATE FOR CIIOs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806E0B8F-BC41-0113-8253-640A3895EFEE}"/>
              </a:ext>
            </a:extLst>
          </p:cNvPr>
          <p:cNvSpPr/>
          <p:nvPr/>
        </p:nvSpPr>
        <p:spPr>
          <a:xfrm>
            <a:off x="6446520" y="1463040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Shape 40">
            <a:extLst>
              <a:ext uri="{FF2B5EF4-FFF2-40B4-BE49-F238E27FC236}">
                <a16:creationId xmlns:a16="http://schemas.microsoft.com/office/drawing/2014/main" id="{73E0F48C-FCAE-3956-4F26-E19CC15881AB}"/>
              </a:ext>
            </a:extLst>
          </p:cNvPr>
          <p:cNvSpPr/>
          <p:nvPr/>
        </p:nvSpPr>
        <p:spPr>
          <a:xfrm>
            <a:off x="6583680" y="16276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318A641E-2316-8552-BDE2-47B7A59C00D6}"/>
              </a:ext>
            </a:extLst>
          </p:cNvPr>
          <p:cNvSpPr/>
          <p:nvPr/>
        </p:nvSpPr>
        <p:spPr>
          <a:xfrm>
            <a:off x="6583680" y="1627632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🔍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6AA2016B-F137-527E-889E-5B3BBA6A101C}"/>
              </a:ext>
            </a:extLst>
          </p:cNvPr>
          <p:cNvSpPr/>
          <p:nvPr/>
        </p:nvSpPr>
        <p:spPr>
          <a:xfrm>
            <a:off x="7086600" y="16002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Conduct </a:t>
            </a:r>
            <a:r>
              <a:rPr lang="en-US" sz="12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cybersecurity audits every 2 years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13ACF2C3-9A19-D1C7-2427-C91D12F068D5}"/>
              </a:ext>
            </a:extLst>
          </p:cNvPr>
          <p:cNvSpPr/>
          <p:nvPr/>
        </p:nvSpPr>
        <p:spPr>
          <a:xfrm>
            <a:off x="6446520" y="2258568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3D308E9C-9983-701E-0137-6603DB35BA9E}"/>
              </a:ext>
            </a:extLst>
          </p:cNvPr>
          <p:cNvSpPr/>
          <p:nvPr/>
        </p:nvSpPr>
        <p:spPr>
          <a:xfrm>
            <a:off x="6583680" y="24231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84A7592C-3F60-F730-CF24-87AD888934ED}"/>
              </a:ext>
            </a:extLst>
          </p:cNvPr>
          <p:cNvSpPr/>
          <p:nvPr/>
        </p:nvSpPr>
        <p:spPr>
          <a:xfrm>
            <a:off x="6583680" y="2423160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📊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76C7C66A-2EF2-1BE2-05AB-16D1AF4ADE3B}"/>
              </a:ext>
            </a:extLst>
          </p:cNvPr>
          <p:cNvSpPr/>
          <p:nvPr/>
        </p:nvSpPr>
        <p:spPr>
          <a:xfrm>
            <a:off x="7086600" y="239572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Conduct </a:t>
            </a:r>
            <a:r>
              <a:rPr lang="en-US" sz="12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annual cybersecurity risk assessments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4C516A75-96D1-44A0-089F-0B33B5E90707}"/>
              </a:ext>
            </a:extLst>
          </p:cNvPr>
          <p:cNvSpPr/>
          <p:nvPr/>
        </p:nvSpPr>
        <p:spPr>
          <a:xfrm>
            <a:off x="6446520" y="3054096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Shape 48">
            <a:extLst>
              <a:ext uri="{FF2B5EF4-FFF2-40B4-BE49-F238E27FC236}">
                <a16:creationId xmlns:a16="http://schemas.microsoft.com/office/drawing/2014/main" id="{F76A690E-600E-0207-D564-BF581065105D}"/>
              </a:ext>
            </a:extLst>
          </p:cNvPr>
          <p:cNvSpPr/>
          <p:nvPr/>
        </p:nvSpPr>
        <p:spPr>
          <a:xfrm>
            <a:off x="6583680" y="32186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2547C146-87E4-819A-F6A9-A21C468D8416}"/>
              </a:ext>
            </a:extLst>
          </p:cNvPr>
          <p:cNvSpPr/>
          <p:nvPr/>
        </p:nvSpPr>
        <p:spPr>
          <a:xfrm>
            <a:off x="6583680" y="3218688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✅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8AAB8079-2D11-8A50-264C-E3C9D3937CB2}"/>
              </a:ext>
            </a:extLst>
          </p:cNvPr>
          <p:cNvSpPr/>
          <p:nvPr/>
        </p:nvSpPr>
        <p:spPr>
          <a:xfrm>
            <a:off x="7086600" y="319125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Comply with </a:t>
            </a:r>
            <a:r>
              <a:rPr lang="en-US" sz="1200" dirty="0">
                <a:solidFill>
                  <a:srgbClr val="EF444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CCoP 2.0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- approximately 220 security requirements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A95C2FA8-22E3-C237-A231-7BB68E053B75}"/>
              </a:ext>
            </a:extLst>
          </p:cNvPr>
          <p:cNvSpPr/>
          <p:nvPr/>
        </p:nvSpPr>
        <p:spPr>
          <a:xfrm>
            <a:off x="6446520" y="3849624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Shape 52">
            <a:extLst>
              <a:ext uri="{FF2B5EF4-FFF2-40B4-BE49-F238E27FC236}">
                <a16:creationId xmlns:a16="http://schemas.microsoft.com/office/drawing/2014/main" id="{516BCF17-DE1B-4396-5125-DA27BC378FB4}"/>
              </a:ext>
            </a:extLst>
          </p:cNvPr>
          <p:cNvSpPr/>
          <p:nvPr/>
        </p:nvSpPr>
        <p:spPr>
          <a:xfrm>
            <a:off x="6583680" y="401421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Text 53">
            <a:extLst>
              <a:ext uri="{FF2B5EF4-FFF2-40B4-BE49-F238E27FC236}">
                <a16:creationId xmlns:a16="http://schemas.microsoft.com/office/drawing/2014/main" id="{A2067AB9-62E2-F793-8428-2D147E8518E5}"/>
              </a:ext>
            </a:extLst>
          </p:cNvPr>
          <p:cNvSpPr/>
          <p:nvPr/>
        </p:nvSpPr>
        <p:spPr>
          <a:xfrm>
            <a:off x="6583680" y="4014216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🚨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84239699-E2BA-5231-D1FA-D419239BC072}"/>
              </a:ext>
            </a:extLst>
          </p:cNvPr>
          <p:cNvSpPr/>
          <p:nvPr/>
        </p:nvSpPr>
        <p:spPr>
          <a:xfrm>
            <a:off x="7086600" y="3986784"/>
            <a:ext cx="4297680" cy="411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Report cybersecurity incidents within </a:t>
            </a:r>
            <a:r>
              <a:rPr lang="en-US" sz="12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prescribed timeframes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Shape 55">
            <a:extLst>
              <a:ext uri="{FF2B5EF4-FFF2-40B4-BE49-F238E27FC236}">
                <a16:creationId xmlns:a16="http://schemas.microsoft.com/office/drawing/2014/main" id="{D076ECD7-FE36-6425-5B82-362965EC17AE}"/>
              </a:ext>
            </a:extLst>
          </p:cNvPr>
          <p:cNvSpPr/>
          <p:nvPr/>
        </p:nvSpPr>
        <p:spPr>
          <a:xfrm>
            <a:off x="6446520" y="4645152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Shape 56">
            <a:extLst>
              <a:ext uri="{FF2B5EF4-FFF2-40B4-BE49-F238E27FC236}">
                <a16:creationId xmlns:a16="http://schemas.microsoft.com/office/drawing/2014/main" id="{71D4CC47-8C3A-66BF-FD53-D77648246F4C}"/>
              </a:ext>
            </a:extLst>
          </p:cNvPr>
          <p:cNvSpPr/>
          <p:nvPr/>
        </p:nvSpPr>
        <p:spPr>
          <a:xfrm>
            <a:off x="6583680" y="48097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Text 57">
            <a:extLst>
              <a:ext uri="{FF2B5EF4-FFF2-40B4-BE49-F238E27FC236}">
                <a16:creationId xmlns:a16="http://schemas.microsoft.com/office/drawing/2014/main" id="{AF5F807E-83E7-2FFB-011A-AAEF70F724E2}"/>
              </a:ext>
            </a:extLst>
          </p:cNvPr>
          <p:cNvSpPr/>
          <p:nvPr/>
        </p:nvSpPr>
        <p:spPr>
          <a:xfrm>
            <a:off x="6583680" y="4809744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📝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Text 58">
            <a:extLst>
              <a:ext uri="{FF2B5EF4-FFF2-40B4-BE49-F238E27FC236}">
                <a16:creationId xmlns:a16="http://schemas.microsoft.com/office/drawing/2014/main" id="{D644A423-F0EB-3954-0F61-9BB8FFB61BF0}"/>
              </a:ext>
            </a:extLst>
          </p:cNvPr>
          <p:cNvSpPr/>
          <p:nvPr/>
        </p:nvSpPr>
        <p:spPr>
          <a:xfrm>
            <a:off x="7086600" y="478231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Notify CSA of </a:t>
            </a:r>
            <a:r>
              <a:rPr lang="en-US" sz="12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material changes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to CII systems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Shape 59">
            <a:extLst>
              <a:ext uri="{FF2B5EF4-FFF2-40B4-BE49-F238E27FC236}">
                <a16:creationId xmlns:a16="http://schemas.microsoft.com/office/drawing/2014/main" id="{097D5BAC-1D22-0F34-E954-9BAE6114CB26}"/>
              </a:ext>
            </a:extLst>
          </p:cNvPr>
          <p:cNvSpPr/>
          <p:nvPr/>
        </p:nvSpPr>
        <p:spPr>
          <a:xfrm>
            <a:off x="6446520" y="5440680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9" name="Shape 60">
            <a:extLst>
              <a:ext uri="{FF2B5EF4-FFF2-40B4-BE49-F238E27FC236}">
                <a16:creationId xmlns:a16="http://schemas.microsoft.com/office/drawing/2014/main" id="{7AB7422E-F6DA-4219-8B65-C962CA5F595D}"/>
              </a:ext>
            </a:extLst>
          </p:cNvPr>
          <p:cNvSpPr/>
          <p:nvPr/>
        </p:nvSpPr>
        <p:spPr>
          <a:xfrm>
            <a:off x="6583680" y="56052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 61">
            <a:extLst>
              <a:ext uri="{FF2B5EF4-FFF2-40B4-BE49-F238E27FC236}">
                <a16:creationId xmlns:a16="http://schemas.microsoft.com/office/drawing/2014/main" id="{412CBF87-F693-4D6B-AB36-DA21B60E4338}"/>
              </a:ext>
            </a:extLst>
          </p:cNvPr>
          <p:cNvSpPr/>
          <p:nvPr/>
        </p:nvSpPr>
        <p:spPr>
          <a:xfrm>
            <a:off x="6583680" y="5605272"/>
            <a:ext cx="365760" cy="365760"/>
          </a:xfrm>
          <a:prstGeom prst="rect">
            <a:avLst/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🛡️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 62">
            <a:extLst>
              <a:ext uri="{FF2B5EF4-FFF2-40B4-BE49-F238E27FC236}">
                <a16:creationId xmlns:a16="http://schemas.microsoft.com/office/drawing/2014/main" id="{A273009D-847D-4EED-26C8-199845984B5B}"/>
              </a:ext>
            </a:extLst>
          </p:cNvPr>
          <p:cNvSpPr/>
          <p:nvPr/>
        </p:nvSpPr>
        <p:spPr>
          <a:xfrm>
            <a:off x="7086600" y="5577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Maintain </a:t>
            </a:r>
            <a:r>
              <a:rPr lang="en-US" sz="12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detection mechanisms</a:t>
            </a: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Tenorite" pitchFamily="34" charset="-120"/>
              </a:rPr>
              <a:t> for cybersecurity threats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5757D3-BB3A-A644-CE21-97171EFC8734}"/>
              </a:ext>
            </a:extLst>
          </p:cNvPr>
          <p:cNvSpPr txBox="1"/>
          <p:nvPr/>
        </p:nvSpPr>
        <p:spPr>
          <a:xfrm>
            <a:off x="11776719" y="64008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8364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8000" y="1370807"/>
            <a:ext cx="5492749" cy="870943"/>
          </a:xfrm>
          <a:prstGeom prst="rect">
            <a:avLst/>
          </a:prstGeom>
          <a:solidFill>
            <a:schemeClr val="bg1"/>
          </a:solidFill>
          <a:ln w="12700">
            <a:solidFill>
              <a:srgbClr val="90C8F4"/>
            </a:solidFill>
            <a:prstDash val="solid"/>
          </a:ln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1370807"/>
            <a:ext cx="0" cy="870943"/>
          </a:xfrm>
          <a:prstGeom prst="line">
            <a:avLst/>
          </a:prstGeom>
          <a:noFill/>
          <a:ln w="38100">
            <a:solidFill>
              <a:srgbClr val="90C8F4"/>
            </a:solidFill>
            <a:prstDash val="solid"/>
          </a:ln>
        </p:spPr>
        <p:txBody>
          <a:bodyPr/>
          <a:lstStyle/>
          <a:p>
            <a:endParaRPr lang="en-US" sz="32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301" y="1523207"/>
            <a:ext cx="516216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IT — Information Technology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301" y="1769468"/>
            <a:ext cx="516216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Computer networks, servers, cloud platforms, databases, enterprise applications that process and store data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91251" y="1370807"/>
            <a:ext cx="5492749" cy="870943"/>
          </a:xfrm>
          <a:prstGeom prst="rect">
            <a:avLst/>
          </a:prstGeom>
          <a:solidFill>
            <a:schemeClr val="bg1"/>
          </a:solidFill>
          <a:ln w="12700">
            <a:solidFill>
              <a:srgbClr val="E99998"/>
            </a:solidFill>
            <a:prstDash val="solid"/>
          </a:ln>
        </p:spPr>
        <p:txBody>
          <a:bodyPr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07859" y="1370807"/>
            <a:ext cx="0" cy="870943"/>
          </a:xfrm>
          <a:prstGeom prst="line">
            <a:avLst/>
          </a:prstGeom>
          <a:noFill/>
          <a:ln w="38100">
            <a:solidFill>
              <a:srgbClr val="E99998"/>
            </a:solidFill>
            <a:prstDash val="solid"/>
          </a:ln>
        </p:spPr>
        <p:txBody>
          <a:bodyPr/>
          <a:lstStyle/>
          <a:p>
            <a:endParaRPr lang="en-US" sz="32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32552" y="1523207"/>
            <a:ext cx="516216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OT — Operational Technology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2552" y="1769468"/>
            <a:ext cx="5162169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Industrial control systems, SCADA, PLCs, sensors that monitor and control physical processes in critical infrastructure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78864" y="5778103"/>
            <a:ext cx="177800" cy="17780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32864" y="5787034"/>
            <a:ext cx="830406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5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Both IT &amp; OT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351828" y="5778103"/>
            <a:ext cx="177800" cy="17780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605829" y="5787034"/>
            <a:ext cx="1072515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5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IT Heavy (60%+)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718665" y="5778103"/>
            <a:ext cx="177800" cy="177800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666" y="5787034"/>
            <a:ext cx="528823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5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OT Only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8000" y="3206949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0400" y="3430389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9801" y="3333948"/>
            <a:ext cx="28367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1. Audit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39801" y="3537149"/>
            <a:ext cx="2836724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Audit trails, logging, monitoring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847902" y="3426619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65600" y="3206949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18000" y="3430389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97400" y="3333948"/>
            <a:ext cx="260334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2. Governance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97400" y="3537149"/>
            <a:ext cx="260334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Policies, roles, management oversight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76703" y="3426619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15-20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823200" y="3206949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75600" y="3430389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55000" y="3333948"/>
            <a:ext cx="260334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3. Risk Management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55000" y="3537149"/>
            <a:ext cx="260334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Risk assessments, BCP, DR, cloud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934303" y="3426619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25-30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08000" y="3920530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0400" y="414397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39801" y="4047529"/>
            <a:ext cx="26683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4. Asset Management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39801" y="4250730"/>
            <a:ext cx="266832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Inventory, classification, lifecycle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82802" y="4140201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8-10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165600" y="3907830"/>
            <a:ext cx="3556000" cy="6246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90C8F4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330700" y="414397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10101" y="4047529"/>
            <a:ext cx="25774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5. Protect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610101" y="4250730"/>
            <a:ext cx="257744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Network, access, encryption, patching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289142" y="4151891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80-90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823200" y="3920530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975600" y="4143971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255000" y="4047529"/>
            <a:ext cx="260334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6. Detect, Respond &amp; Recover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55000" y="4250730"/>
            <a:ext cx="260334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Incident detection, forensics, recovery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934303" y="4140201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25-30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08000" y="4634112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60400" y="4857552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39801" y="4761111"/>
            <a:ext cx="26683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7. Cybersecurity Awareness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39801" y="4964312"/>
            <a:ext cx="266832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Training, awareness, phishing prevention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682802" y="4853782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8-10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165600" y="4634112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318000" y="4857552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597400" y="4761111"/>
            <a:ext cx="260334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8. Supply Chain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597400" y="4964312"/>
            <a:ext cx="260334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Vendor security, procurement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276703" y="4853782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10-12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823200" y="4634112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975600" y="4857552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255000" y="4761111"/>
            <a:ext cx="260334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9. Third Party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255000" y="4964312"/>
            <a:ext cx="260334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Access controls, contractor security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934303" y="4853782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12-15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08000" y="5334993"/>
            <a:ext cx="3556000" cy="6246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E9999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673100" y="557113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52501" y="5474692"/>
            <a:ext cx="25774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10. OT/ICS Security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52501" y="5677893"/>
            <a:ext cx="257744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SCADA, Purdue Model, PLC protection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3587080" y="5571133"/>
            <a:ext cx="396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35-40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4165600" y="5347693"/>
            <a:ext cx="3556000" cy="599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B8A5E8"/>
            </a:solidFill>
          </a:ln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4318000" y="5571133"/>
            <a:ext cx="152400" cy="152400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597401" y="5474692"/>
            <a:ext cx="26683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200" b="1" dirty="0">
                <a:solidFill>
                  <a:srgbClr val="3A3A3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11. Assurance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597401" y="5677893"/>
            <a:ext cx="266832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Bef>
                <a:spcPts val="200"/>
              </a:spcBef>
            </a:pPr>
            <a:r>
              <a:rPr lang="en-US" sz="105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Compliance verification, pen testing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340402" y="5567363"/>
            <a:ext cx="3960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dirty="0">
                <a:solidFill>
                  <a:srgbClr val="66666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8-10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49301" y="2861477"/>
            <a:ext cx="2486985" cy="17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b="1" dirty="0">
                <a:solidFill>
                  <a:srgbClr val="4A4A4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60%</a:t>
            </a:r>
            <a:r>
              <a:rPr lang="en-US" sz="110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of clauses apply to both IT and OT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4343797" y="2889724"/>
            <a:ext cx="2843745" cy="17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b="1" dirty="0">
                <a:solidFill>
                  <a:srgbClr val="4A4A4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Protect</a:t>
            </a:r>
            <a:r>
              <a:rPr lang="en-US" sz="110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section has the most clauses (80-90)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053468" y="2914849"/>
            <a:ext cx="2596719" cy="17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b="1" dirty="0">
                <a:solidFill>
                  <a:srgbClr val="4A4A4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OT/ICS</a:t>
            </a:r>
            <a:r>
              <a:rPr lang="en-US" sz="1100" dirty="0">
                <a:solidFill>
                  <a:srgbClr val="88888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is the only exclusively OT section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8BF61F59-EED8-3EB0-1646-FF28E011C263}"/>
              </a:ext>
            </a:extLst>
          </p:cNvPr>
          <p:cNvSpPr txBox="1">
            <a:spLocks/>
          </p:cNvSpPr>
          <p:nvPr/>
        </p:nvSpPr>
        <p:spPr>
          <a:xfrm>
            <a:off x="323273" y="114727"/>
            <a:ext cx="9062774" cy="79505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Tsukushi A Round Gothic Regular" panose="02020400000000000000" pitchFamily="18" charset="-128"/>
                <a:cs typeface="Sabon Next LT" panose="02000500000000000000" pitchFamily="2" charset="0"/>
              </a:rPr>
              <a:t>Overview of CCoP 2.0 Standards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655BF5A-0EB2-B164-F721-D94421B7A93E}"/>
              </a:ext>
            </a:extLst>
          </p:cNvPr>
          <p:cNvSpPr/>
          <p:nvPr/>
        </p:nvSpPr>
        <p:spPr>
          <a:xfrm>
            <a:off x="533401" y="2890742"/>
            <a:ext cx="99392" cy="11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BA3A1D3-CC7C-7A85-3263-039F2A4926CF}"/>
              </a:ext>
            </a:extLst>
          </p:cNvPr>
          <p:cNvSpPr/>
          <p:nvPr/>
        </p:nvSpPr>
        <p:spPr>
          <a:xfrm>
            <a:off x="4162002" y="2914849"/>
            <a:ext cx="99392" cy="11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627FA13-566E-8B65-CD7E-78B89F146C0B}"/>
              </a:ext>
            </a:extLst>
          </p:cNvPr>
          <p:cNvSpPr/>
          <p:nvPr/>
        </p:nvSpPr>
        <p:spPr>
          <a:xfrm>
            <a:off x="7822832" y="2934573"/>
            <a:ext cx="99392" cy="1192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2" name="Text 3">
            <a:extLst>
              <a:ext uri="{FF2B5EF4-FFF2-40B4-BE49-F238E27FC236}">
                <a16:creationId xmlns:a16="http://schemas.microsoft.com/office/drawing/2014/main" id="{A6E55B1B-61F7-E9C0-DB96-8769EF152FCC}"/>
              </a:ext>
            </a:extLst>
          </p:cNvPr>
          <p:cNvSpPr/>
          <p:nvPr/>
        </p:nvSpPr>
        <p:spPr>
          <a:xfrm>
            <a:off x="507999" y="1007198"/>
            <a:ext cx="64643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APPLICABILITY TO DIFFERENT TECHNOLOGIES DEPLOYED IN CII ORGANIZATIONS</a:t>
            </a:r>
          </a:p>
        </p:txBody>
      </p:sp>
      <p:sp>
        <p:nvSpPr>
          <p:cNvPr id="83" name="Text 3">
            <a:extLst>
              <a:ext uri="{FF2B5EF4-FFF2-40B4-BE49-F238E27FC236}">
                <a16:creationId xmlns:a16="http://schemas.microsoft.com/office/drawing/2014/main" id="{23E8B76E-E98E-909C-5390-0438D350EE36}"/>
              </a:ext>
            </a:extLst>
          </p:cNvPr>
          <p:cNvSpPr/>
          <p:nvPr/>
        </p:nvSpPr>
        <p:spPr>
          <a:xfrm>
            <a:off x="476059" y="2513529"/>
            <a:ext cx="5708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220 CLAUSES ACROSS 11 CONTROL SECTIONS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4149C-B503-2F7D-D9A3-1D6163D60E01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20430"/>
            <a:ext cx="58163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  <a:spcAft>
                <a:spcPts val="4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Project Objectives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762000"/>
            <a:ext cx="11606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3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Fine-tuning LLM on Singapore's CCoP 2.0 for Critical Information Infrastructure compliance</a:t>
            </a:r>
            <a:endParaRPr lang="en-US" sz="1300" dirty="0">
              <a:latin typeface="Tenorite" pitchFamily="2" charset="0"/>
            </a:endParaRPr>
          </a:p>
        </p:txBody>
      </p:sp>
      <p:pic>
        <p:nvPicPr>
          <p:cNvPr id="4" name="Image 0" descr="/tmp/rasterized-gradient-64505a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20" y="1413225"/>
            <a:ext cx="558800" cy="55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5168" y="1514825"/>
            <a:ext cx="32344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230920" y="1356397"/>
            <a:ext cx="10642600" cy="698301"/>
          </a:xfrm>
          <a:prstGeom prst="roundRect">
            <a:avLst>
              <a:gd name="adj" fmla="val 14550"/>
            </a:avLst>
          </a:prstGeom>
          <a:solidFill>
            <a:srgbClr val="F9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249971" y="1356397"/>
            <a:ext cx="0" cy="698301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446821" y="1483396"/>
            <a:ext cx="10453879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Establish Ground Truth for CCoP 2.0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446821" y="1732237"/>
            <a:ext cx="1045387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Create comprehensive evaluation dataset with 118 test cases across 21 benchmarks, validated by domain experts covering all 11 sections of CCoP 2.0 (220 clauses)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" name="Image 1" descr="/tmp/rasterized-gradient-5d3c3a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20" y="2270048"/>
            <a:ext cx="558800" cy="558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5168" y="2371648"/>
            <a:ext cx="32344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230920" y="2181698"/>
            <a:ext cx="10642600" cy="1315443"/>
          </a:xfrm>
          <a:prstGeom prst="roundRect">
            <a:avLst>
              <a:gd name="adj" fmla="val 77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1249971" y="2181698"/>
            <a:ext cx="0" cy="1315443"/>
          </a:xfrm>
          <a:prstGeom prst="line">
            <a:avLst/>
          </a:prstGeom>
          <a:noFill/>
          <a:ln w="285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446821" y="2308698"/>
            <a:ext cx="10453879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Benchmark Baseline Performance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446821" y="2557539"/>
            <a:ext cx="1045387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Compare language models on CCoP 2.0 compliance tasks to establish baseline capabilities: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446821" y="2829200"/>
            <a:ext cx="1810940" cy="54094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586521" y="2918099"/>
            <a:ext cx="15621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Llama-Primus-Reasoning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586521" y="3121300"/>
            <a:ext cx="1562172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8B cybersecurity specialist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359360" y="2829200"/>
            <a:ext cx="1346795" cy="54094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499061" y="2918099"/>
            <a:ext cx="10887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GPT-5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499061" y="3121300"/>
            <a:ext cx="1088743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With web-search tool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807756" y="2829200"/>
            <a:ext cx="1346795" cy="540940"/>
          </a:xfrm>
          <a:prstGeom prst="roundRect">
            <a:avLst>
              <a:gd name="adj" fmla="val 93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947457" y="2918099"/>
            <a:ext cx="108874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DeepSeek-V3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4947457" y="3121300"/>
            <a:ext cx="1088743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With web-search tool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5" name="Image 2" descr="/tmp/rasterized-gradient-7f483e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20" y="3669780"/>
            <a:ext cx="558800" cy="5588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15168" y="3771380"/>
            <a:ext cx="32344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1230920" y="3624141"/>
            <a:ext cx="10642600" cy="698301"/>
          </a:xfrm>
          <a:prstGeom prst="roundRect">
            <a:avLst>
              <a:gd name="adj" fmla="val 145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1249971" y="3624141"/>
            <a:ext cx="0" cy="698301"/>
          </a:xfrm>
          <a:prstGeom prst="line">
            <a:avLst/>
          </a:prstGeom>
          <a:noFill/>
          <a:ln w="28575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1446821" y="3751140"/>
            <a:ext cx="10453879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Fine-tune Model on CCoP 2.0 Standards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1446821" y="3999981"/>
            <a:ext cx="1045387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Train Llama-Primus-Reasoning using QLoRA (4-bit quantization) to achieve </a:t>
            </a:r>
            <a:r>
              <a:rPr lang="en-US" sz="1100" b="1" u="sng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at least</a:t>
            </a:r>
            <a:r>
              <a:rPr lang="en-US" sz="11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50% accuracy</a:t>
            </a: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in compliance violation detection across both IT and OT infrastructure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1" name="Image 3" descr="/tmp/rasterized-gradient-d440eb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20" y="4495082"/>
            <a:ext cx="558800" cy="5588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15168" y="4596682"/>
            <a:ext cx="32344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1230920" y="4449442"/>
            <a:ext cx="10642600" cy="698301"/>
          </a:xfrm>
          <a:prstGeom prst="roundRect">
            <a:avLst>
              <a:gd name="adj" fmla="val 1455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1249971" y="4449442"/>
            <a:ext cx="0" cy="698301"/>
          </a:xfrm>
          <a:prstGeom prst="line">
            <a:avLst/>
          </a:prstGeom>
          <a:noFill/>
          <a:ln w="285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1446821" y="4576442"/>
            <a:ext cx="10453879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Deploy to Isolated CII Environment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1446821" y="4825282"/>
            <a:ext cx="1045387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Integrate fine-tuned model with CI/CD pipelines for automated detection of non-compliant source code and infrastructure configurations in air-gapped environments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8" name="Text 32"/>
          <p:cNvSpPr/>
          <p:nvPr/>
        </p:nvSpPr>
        <p:spPr>
          <a:xfrm>
            <a:off x="406400" y="6342461"/>
            <a:ext cx="116067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Project Period: September 2025 – August 2026 | Target: Reduce CIIO compliance timeline from months to hours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5F50AC-A9F1-CA5F-1DC3-20A4D85D8DA9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04800"/>
            <a:ext cx="1137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400"/>
              </a:spcAft>
            </a:pP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Benefits of a CCoP 2.0 Trained Model for CIIOs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400" y="736600"/>
            <a:ext cx="1160678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Transforming compliance from a months-long burden to continuous automated assurance</a:t>
            </a:r>
            <a:endParaRPr lang="en-US" sz="1200" dirty="0">
              <a:latin typeface="Tenorite" pitchFamily="2" charset="0"/>
            </a:endParaRPr>
          </a:p>
        </p:txBody>
      </p:sp>
      <p:pic>
        <p:nvPicPr>
          <p:cNvPr id="4" name="Image 0" descr="/tmp/rasterized-gradient-aeaafd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" y="1365113"/>
            <a:ext cx="3691533" cy="1449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Text 2"/>
          <p:cNvSpPr/>
          <p:nvPr/>
        </p:nvSpPr>
        <p:spPr>
          <a:xfrm>
            <a:off x="759067" y="1568312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0066" y="1603833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⏱️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16267" y="1647091"/>
            <a:ext cx="2257650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Time &amp; Cost Efficiency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9068" y="2025513"/>
            <a:ext cx="3350836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Reduces compliance timeline from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months to hours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. Frees security teams for strategic work instead of manual audits.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9" name="Image 1" descr="/tmp/rasterized-gradient-fb4f4d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801" y="1365113"/>
            <a:ext cx="3691533" cy="14499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3000" y="1568312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653998" y="1603833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🔍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060201" y="1647091"/>
            <a:ext cx="3239367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Automated Compliance Analysis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03001" y="2025513"/>
            <a:ext cx="3350836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Gap analysis, preemptive code scanning, and infrastructure review with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at least 50% target accuracy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across 220 clauses.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4" name="Image 2" descr="/tmp/rasterized-gradient-21980a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733" y="1365113"/>
            <a:ext cx="3691533" cy="14499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46932" y="1568312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497931" y="1603833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⚙️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904133" y="1647091"/>
            <a:ext cx="1704337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CI/CD Integration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46933" y="2025513"/>
            <a:ext cx="3350836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Catches violations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early in development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. Enables continuous compliance monitoring in deployment pipelines.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555867" y="2967496"/>
            <a:ext cx="3691533" cy="1254521"/>
          </a:xfrm>
          <a:prstGeom prst="roundRect">
            <a:avLst>
              <a:gd name="adj" fmla="val 10123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59067" y="3117943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10066" y="3153465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🔒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1216267" y="3196722"/>
            <a:ext cx="2388579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Air-Gapped Deployment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59068" y="3575144"/>
            <a:ext cx="3350836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Lightweight 8B model runs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locally on-premise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. No sensitive data leaves the secure CII perimeter.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4399801" y="2967496"/>
            <a:ext cx="3691533" cy="1254521"/>
          </a:xfrm>
          <a:prstGeom prst="roundRect">
            <a:avLst>
              <a:gd name="adj" fmla="val 10123"/>
            </a:avLst>
          </a:prstGeom>
          <a:solidFill>
            <a:srgbClr val="4B5563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603000" y="3117943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653998" y="3153465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✅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5060201" y="3196722"/>
            <a:ext cx="2594001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Consistency &amp; Availability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603001" y="3575144"/>
            <a:ext cx="3350836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Consistent interpretation of CCoP requirements. Available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24/7 at scale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without human bottlenecks.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243733" y="2967496"/>
            <a:ext cx="3691533" cy="1254521"/>
          </a:xfrm>
          <a:prstGeom prst="roundRect">
            <a:avLst>
              <a:gd name="adj" fmla="val 10123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446932" y="3117943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497931" y="3153465"/>
            <a:ext cx="25867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📋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27"/>
          <p:cNvSpPr/>
          <p:nvPr/>
        </p:nvSpPr>
        <p:spPr>
          <a:xfrm>
            <a:off x="8904133" y="3196722"/>
            <a:ext cx="1635110" cy="226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Audit Readiness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446933" y="3575144"/>
            <a:ext cx="3350836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Prepares evidence for </a:t>
            </a: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CSA audits</a:t>
            </a:r>
            <a:r>
              <a:rPr lang="en-US" sz="12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. Supports both IT and OT infrastructure assessments.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55867" y="4399818"/>
            <a:ext cx="11379200" cy="810021"/>
          </a:xfrm>
          <a:prstGeom prst="roundRect">
            <a:avLst>
              <a:gd name="adj" fmla="val 1254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1238482" y="4552218"/>
            <a:ext cx="123569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220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1238482" y="4897499"/>
            <a:ext cx="123569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CCoP Clauses Covered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3445316" y="4614328"/>
            <a:ext cx="12700" cy="381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4430218" y="4552218"/>
            <a:ext cx="1127605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IT + OT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4430218" y="4897499"/>
            <a:ext cx="1127605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Infrastructure Support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6530028" y="4614328"/>
            <a:ext cx="12700" cy="381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7517853" y="4552218"/>
            <a:ext cx="82946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&gt;50%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7517853" y="4897499"/>
            <a:ext cx="82946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Target Accuracy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9322440" y="4614328"/>
            <a:ext cx="12700" cy="381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 39"/>
          <p:cNvSpPr/>
          <p:nvPr/>
        </p:nvSpPr>
        <p:spPr>
          <a:xfrm>
            <a:off x="10309184" y="4552218"/>
            <a:ext cx="939772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8B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10309184" y="4897499"/>
            <a:ext cx="939772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Lightweight Model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Shape 41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4267AC-5AE6-4025-F4BD-2E4C9880717F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17500"/>
            <a:ext cx="113995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  <a:spcAft>
                <a:spcPts val="18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Related Works: Two Adaptation Strategies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Tenorite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814473"/>
            <a:ext cx="5461000" cy="4530725"/>
          </a:xfrm>
          <a:prstGeom prst="rect">
            <a:avLst/>
          </a:prstGeom>
          <a:solidFill>
            <a:srgbClr val="F8FAFC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6600" y="1025560"/>
            <a:ext cx="1573005" cy="431796"/>
          </a:xfrm>
          <a:prstGeom prst="roundRect">
            <a:avLst>
              <a:gd name="adj" fmla="val 16667"/>
            </a:avLst>
          </a:prstGeom>
          <a:solidFill>
            <a:srgbClr val="A5C8F4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3600" y="1161631"/>
            <a:ext cx="1282394" cy="251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400"/>
              </a:lnSpc>
            </a:pPr>
            <a:r>
              <a:rPr lang="en-US" sz="16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FINE-TUNING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407131" y="1152266"/>
            <a:ext cx="3732617" cy="37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CYBERSECURITY REASONING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6600" y="1648231"/>
            <a:ext cx="5103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Domain-adapted training on curated cybersecurity corpora to improve classification and reasoning on stable technical taxonomies.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6600" y="2452772"/>
            <a:ext cx="5003800" cy="985440"/>
          </a:xfrm>
          <a:prstGeom prst="roundRect">
            <a:avLst>
              <a:gd name="adj" fmla="val 7733"/>
            </a:avLst>
          </a:prstGeom>
          <a:solidFill>
            <a:srgbClr val="DCEAFE"/>
          </a:solidFill>
          <a:ln/>
        </p:spPr>
        <p:txBody>
          <a:bodyPr wrap="square" rtlCol="0" anchor="ctr"/>
          <a:lstStyle/>
          <a:p>
            <a:endParaRPr lang="en-US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001" y="2579773"/>
            <a:ext cx="479298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500"/>
              </a:spcAft>
            </a:pPr>
            <a:r>
              <a:rPr lang="en-US" sz="1400" dirty="0">
                <a:solidFill>
                  <a:srgbClr val="1E40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WHY FINE-TUNING?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9001" y="28032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1E3A8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Output space is finite and well-defined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89001" y="29810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sz="1200" dirty="0">
                <a:solidFill>
                  <a:srgbClr val="1E3A8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Ground truth labels are stable over time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89001" y="31588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sz="1200" dirty="0">
                <a:solidFill>
                  <a:srgbClr val="1E3A8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Evaluation uses objective metrics (accuracy, F1)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6600" y="3793812"/>
            <a:ext cx="5003800" cy="1322784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1700" y="3933513"/>
            <a:ext cx="4767072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600"/>
              </a:spcAft>
            </a:pPr>
            <a:r>
              <a:rPr lang="en-US" sz="14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EXAMPLE: PRIMUS / Llama-Primus-Reasoning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1700" y="4151795"/>
            <a:ext cx="4767072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600"/>
              </a:spcAft>
            </a:pPr>
            <a:r>
              <a:rPr lang="en-US" sz="12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Maps vulnerability descriptions to structured outputs: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01700" y="4370075"/>
            <a:ext cx="4673600" cy="606821"/>
          </a:xfrm>
          <a:prstGeom prst="roundRect">
            <a:avLst>
              <a:gd name="adj" fmla="val 83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3300" y="4446276"/>
            <a:ext cx="4559808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dirty="0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CVE-2021-44228 (Log4Shell)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3300" y="4626457"/>
            <a:ext cx="4559808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  <a:spcBef>
                <a:spcPts val="300"/>
              </a:spcBef>
            </a:pPr>
            <a:r>
              <a:rPr lang="en-US" sz="105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- CWE-502 (Deserialization of Untrusted Data)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3300" y="4776277"/>
            <a:ext cx="4559808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  <a:spcBef>
                <a:spcPts val="200"/>
              </a:spcBef>
            </a:pPr>
            <a:r>
              <a:rPr lang="en-US" sz="105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- MITRE ATT&amp;CK T1190 (Exploit Public-Facing App)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23000" y="814473"/>
            <a:ext cx="5461000" cy="4530725"/>
          </a:xfrm>
          <a:prstGeom prst="rect">
            <a:avLst/>
          </a:prstGeom>
          <a:solidFill>
            <a:srgbClr val="F8FAFC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93749" y="995003"/>
            <a:ext cx="1346154" cy="417510"/>
          </a:xfrm>
          <a:prstGeom prst="roundRect">
            <a:avLst>
              <a:gd name="adj" fmla="val 16667"/>
            </a:avLst>
          </a:prstGeom>
          <a:solidFill>
            <a:srgbClr val="C4B6FE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74544" y="1154563"/>
            <a:ext cx="1024835" cy="24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6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RAG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808078" y="1486446"/>
            <a:ext cx="4440500" cy="3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COMPLIANCE &amp; REGULATORY DOMAINS</a:t>
            </a: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51600" y="1648231"/>
            <a:ext cx="5103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</a:pPr>
            <a:r>
              <a:rPr lang="en-US" sz="14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Retrieval-Augmented Generation grounds outputs in authoritative source documents, addressing hallucination and outdated knowledge.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51600" y="2452772"/>
            <a:ext cx="5003800" cy="985440"/>
          </a:xfrm>
          <a:prstGeom prst="roundRect">
            <a:avLst>
              <a:gd name="adj" fmla="val 7733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endParaRPr lang="en-US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4001" y="2579773"/>
            <a:ext cx="479298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500"/>
              </a:spcAft>
            </a:pPr>
            <a:r>
              <a:rPr lang="en-US" sz="1400" dirty="0">
                <a:solidFill>
                  <a:srgbClr val="6D28D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WHY RETRIEVAL-AUGMENTED GENERATION (RAG) ?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04001" y="28032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1200" dirty="0">
                <a:solidFill>
                  <a:srgbClr val="5B21B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Responses must be traceable to statutes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04001" y="29810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sz="1200" dirty="0">
                <a:solidFill>
                  <a:srgbClr val="5B21B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Citation accuracy is critical for audits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04001" y="3158812"/>
            <a:ext cx="47929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  <a:spcBef>
                <a:spcPts val="200"/>
              </a:spcBef>
            </a:pPr>
            <a:r>
              <a:rPr lang="en-US" sz="1200" dirty="0">
                <a:solidFill>
                  <a:srgbClr val="5B21B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Regulations update; no retraining needed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51600" y="3793812"/>
            <a:ext cx="5003800" cy="1322784"/>
          </a:xfrm>
          <a:prstGeom prst="roundRect">
            <a:avLst>
              <a:gd name="adj" fmla="val 5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16700" y="3933513"/>
            <a:ext cx="4767072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600"/>
              </a:spcAft>
            </a:pPr>
            <a:r>
              <a:rPr lang="en-US" sz="14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EXAMPLE: Legal Question-Answering Systems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16700" y="4151795"/>
            <a:ext cx="4767072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600"/>
              </a:spcAft>
            </a:pPr>
            <a:r>
              <a:rPr lang="en-US" sz="12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Retrieves relevant statutory provisions and generates citable responses: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16700" y="4370075"/>
            <a:ext cx="4673600" cy="606821"/>
          </a:xfrm>
          <a:prstGeom prst="roundRect">
            <a:avLst>
              <a:gd name="adj" fmla="val 83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18300" y="4446276"/>
            <a:ext cx="4559808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dirty="0">
                <a:solidFill>
                  <a:srgbClr val="334155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Query: "Is this action permissible?"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18300" y="4626457"/>
            <a:ext cx="4559808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  <a:spcBef>
                <a:spcPts val="300"/>
              </a:spcBef>
            </a:pPr>
            <a:r>
              <a:rPr lang="en-US" sz="105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- Retrieves relevant statute provisions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18300" y="4776277"/>
            <a:ext cx="4559808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  <a:spcBef>
                <a:spcPts val="200"/>
              </a:spcBef>
            </a:pPr>
            <a:r>
              <a:rPr lang="en-US" sz="105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- Generates response with explicit citations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8000" y="5618646"/>
            <a:ext cx="11176000" cy="413940"/>
          </a:xfrm>
          <a:prstGeom prst="roundRect">
            <a:avLst>
              <a:gd name="adj" fmla="val 184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2310" y="5676588"/>
            <a:ext cx="110109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>
                <a:solidFill>
                  <a:srgbClr val="2D2D2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Key Insight:</a:t>
            </a:r>
            <a:r>
              <a:rPr lang="en-US" sz="12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Fine-tuning excels at </a:t>
            </a:r>
            <a:r>
              <a:rPr lang="en-US" sz="1200" b="1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descriptive classification</a:t>
            </a:r>
            <a:r>
              <a:rPr lang="en-US" sz="12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(what is this?), while RAG excels at </a:t>
            </a:r>
            <a:r>
              <a:rPr lang="en-US" sz="1200" b="1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prescriptive compliance</a:t>
            </a:r>
            <a:r>
              <a:rPr lang="en-US" sz="12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(what does the regulation say?) </a:t>
            </a:r>
          </a:p>
          <a:p>
            <a:pPr>
              <a:lnSpc>
                <a:spcPts val="1260"/>
              </a:lnSpc>
            </a:pPr>
            <a:r>
              <a:rPr lang="en-US" sz="12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CCoP 2.0 benefits from </a:t>
            </a:r>
            <a:r>
              <a:rPr lang="en-US" sz="1200" b="1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both</a:t>
            </a:r>
            <a:r>
              <a:rPr lang="en-US" sz="12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approaches.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BE11B8-706C-7BA2-E6C9-A71906C30658}"/>
              </a:ext>
            </a:extLst>
          </p:cNvPr>
          <p:cNvSpPr/>
          <p:nvPr/>
        </p:nvSpPr>
        <p:spPr>
          <a:xfrm>
            <a:off x="522334" y="834712"/>
            <a:ext cx="45719" cy="4510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09AE94A-A5A6-9C76-9C20-57E31F7AEBFE}"/>
              </a:ext>
            </a:extLst>
          </p:cNvPr>
          <p:cNvSpPr/>
          <p:nvPr/>
        </p:nvSpPr>
        <p:spPr>
          <a:xfrm>
            <a:off x="6194453" y="819639"/>
            <a:ext cx="45719" cy="45307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DC4BE-41B0-F06D-A5E1-A1E86E18442B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5</a:t>
            </a:r>
          </a:p>
        </p:txBody>
      </p:sp>
      <p:sp>
        <p:nvSpPr>
          <p:cNvPr id="42" name="Shape 54">
            <a:extLst>
              <a:ext uri="{FF2B5EF4-FFF2-40B4-BE49-F238E27FC236}">
                <a16:creationId xmlns:a16="http://schemas.microsoft.com/office/drawing/2014/main" id="{3A1016F3-A728-F871-753B-E9B5A33F6BE7}"/>
              </a:ext>
            </a:extLst>
          </p:cNvPr>
          <p:cNvSpPr/>
          <p:nvPr/>
        </p:nvSpPr>
        <p:spPr>
          <a:xfrm>
            <a:off x="406400" y="6172295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7A9BFF-345F-8C1F-5A29-91BB45584FC5}"/>
              </a:ext>
            </a:extLst>
          </p:cNvPr>
          <p:cNvSpPr txBox="1"/>
          <p:nvPr/>
        </p:nvSpPr>
        <p:spPr>
          <a:xfrm>
            <a:off x="6194453" y="6215866"/>
            <a:ext cx="55911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"CBR-RAG: Case-Based Reasoning for Retrieval Augmented Generation in LLMs for Legal Question Answering," </a:t>
            </a:r>
            <a:r>
              <a:rPr lang="en-GB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https://arxiv.org/abs/2404.04302</a:t>
            </a:r>
            <a:r>
              <a:rPr lang="en-SG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D54BC6-B148-248F-F05B-61DA7D9F2A5B}"/>
              </a:ext>
            </a:extLst>
          </p:cNvPr>
          <p:cNvSpPr txBox="1"/>
          <p:nvPr/>
        </p:nvSpPr>
        <p:spPr>
          <a:xfrm>
            <a:off x="487631" y="6215866"/>
            <a:ext cx="54813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“Primus: A Pioneering Collection of Open-Source Datasets for Cybersecurity LLM Training,” </a:t>
            </a:r>
            <a:r>
              <a:rPr lang="en-GB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https://arxiv.org/abs/2502.11191</a:t>
            </a:r>
            <a:r>
              <a:rPr lang="en-SG" sz="800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317500"/>
            <a:ext cx="1139952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  <a:spcAft>
                <a:spcPts val="15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Case for CCoP 2.0: Fine-Tuning + RAG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Tenorite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1066800"/>
            <a:ext cx="11176000" cy="838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066800"/>
            <a:ext cx="0" cy="8382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440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219200"/>
            <a:ext cx="109331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Fine-tuning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improves compliance reasoning, gap identification, and risk justification. </a:t>
            </a:r>
          </a:p>
          <a:p>
            <a:pPr>
              <a:lnSpc>
                <a:spcPts val="1600"/>
              </a:lnSpc>
            </a:pPr>
            <a:endParaRPr lang="en-US" sz="1400" b="1" dirty="0">
              <a:solidFill>
                <a:srgbClr val="37415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>
              <a:lnSpc>
                <a:spcPts val="1600"/>
              </a:lnSpc>
            </a:pPr>
            <a:r>
              <a:rPr lang="en-US" sz="1400" b="1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RAG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provides authoritative clause traceability and audit defensibility. </a:t>
            </a: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Both are needed for CCoP 2.0.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8800" y="2421335"/>
            <a:ext cx="2344067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ASPECT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12505" y="2319735"/>
            <a:ext cx="3368872" cy="363140"/>
          </a:xfrm>
          <a:prstGeom prst="roundRect">
            <a:avLst>
              <a:gd name="adj" fmla="val 13989"/>
            </a:avLst>
          </a:prstGeom>
          <a:solidFill>
            <a:srgbClr val="DCEAFE"/>
          </a:solidFill>
          <a:ln/>
        </p:spPr>
        <p:txBody>
          <a:bodyPr wrap="square" rtlCol="0" anchor="ctr"/>
          <a:lstStyle/>
          <a:p>
            <a:endParaRPr lang="en-US" sz="4000" dirty="0">
              <a:solidFill>
                <a:srgbClr val="DCEA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3305" y="2421335"/>
            <a:ext cx="3125355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>
                <a:solidFill>
                  <a:srgbClr val="8AB4E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FINE-TUNING STRENGTHS</a:t>
            </a:r>
            <a:endParaRPr lang="en-US" sz="1200" dirty="0">
              <a:solidFill>
                <a:srgbClr val="8AB4E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82979" y="2319735"/>
            <a:ext cx="3368872" cy="363140"/>
          </a:xfrm>
          <a:prstGeom prst="roundRect">
            <a:avLst>
              <a:gd name="adj" fmla="val 1398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3779" y="2421335"/>
            <a:ext cx="3125355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200" b="1" dirty="0">
                <a:solidFill>
                  <a:srgbClr val="E9999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FINE-TUNING LIMITATIONS</a:t>
            </a:r>
            <a:endParaRPr lang="en-US" sz="1200" dirty="0">
              <a:solidFill>
                <a:srgbClr val="E9999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153451" y="2319735"/>
            <a:ext cx="1516323" cy="363140"/>
          </a:xfrm>
          <a:prstGeom prst="roundRect">
            <a:avLst>
              <a:gd name="adj" fmla="val 1398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91994" y="2421334"/>
            <a:ext cx="1441205" cy="204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</a:pPr>
            <a:r>
              <a:rPr lang="en-US" sz="1200" b="1" dirty="0">
                <a:solidFill>
                  <a:srgbClr val="B8A5E8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Addressed by RAG?</a:t>
            </a:r>
            <a:endParaRPr lang="en-US" sz="1200" dirty="0">
              <a:solidFill>
                <a:srgbClr val="B8A5E8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8000" y="2921797"/>
            <a:ext cx="2602905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0399" y="3023397"/>
            <a:ext cx="2344067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Compliance Reasoning</a:t>
            </a:r>
            <a:endParaRPr lang="en-US" sz="12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2505" y="29217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64904" y="30233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Improves scenario interpretation and audit-style reasoning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82979" y="29217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35378" y="30233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Hard to justify with exact regulatory text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53452" y="2903936"/>
            <a:ext cx="1530548" cy="381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293594" y="3005536"/>
            <a:ext cx="12502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b="1" dirty="0">
                <a:solidFill>
                  <a:srgbClr val="C4B6F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Yes</a:t>
            </a:r>
            <a:endParaRPr lang="en-US" sz="11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8000" y="3404397"/>
            <a:ext cx="2602905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0399" y="3505997"/>
            <a:ext cx="2344067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Gap Identification</a:t>
            </a:r>
            <a:endParaRPr lang="en-US" sz="12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12505" y="34043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64904" y="35059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Learns patterns of common control weaknesses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82979" y="34043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35378" y="35059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May miss edge cases tied to precise wording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153452" y="3386536"/>
            <a:ext cx="1530548" cy="381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293594" y="3488136"/>
            <a:ext cx="12502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b="1" dirty="0">
                <a:solidFill>
                  <a:srgbClr val="C4B6F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Yes</a:t>
            </a:r>
            <a:endParaRPr lang="en-US" sz="11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8000" y="3886997"/>
            <a:ext cx="2602905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60399" y="3988597"/>
            <a:ext cx="2344067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Remediation Guidance</a:t>
            </a:r>
            <a:endParaRPr lang="en-US" sz="12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12505" y="38869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64904" y="39885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Generates practical, proportionate recommendations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82979" y="38869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835378" y="39885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May lack explicit linkage to mandatory controls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153452" y="3869136"/>
            <a:ext cx="1530548" cy="381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293594" y="3970736"/>
            <a:ext cx="12502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b="1" dirty="0">
                <a:solidFill>
                  <a:srgbClr val="C4B6F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Yes</a:t>
            </a:r>
            <a:endParaRPr lang="en-US" sz="11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8000" y="4369597"/>
            <a:ext cx="2602905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0399" y="4471197"/>
            <a:ext cx="2344067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Regulatory Updates</a:t>
            </a:r>
            <a:endParaRPr lang="en-US" sz="12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12505" y="43695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364904" y="44711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No dependency on external retrieval systems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682979" y="43695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835378" y="44711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Requires retraining when clauses change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153452" y="4351736"/>
            <a:ext cx="1530548" cy="381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293594" y="4453336"/>
            <a:ext cx="12502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b="1" dirty="0">
                <a:solidFill>
                  <a:srgbClr val="C4B6F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Yes</a:t>
            </a:r>
            <a:endParaRPr lang="en-US" sz="11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8000" y="4852197"/>
            <a:ext cx="2602905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4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60399" y="4953797"/>
            <a:ext cx="2344067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Audit Defensibility</a:t>
            </a:r>
            <a:endParaRPr lang="en-US" sz="1200" b="1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212505" y="48521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364904" y="49537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Useful for preliminary analysis and reasoning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82979" y="4852197"/>
            <a:ext cx="3368873" cy="345281"/>
          </a:xfrm>
          <a:prstGeom prst="roundRect">
            <a:avLst>
              <a:gd name="adj" fmla="val 1471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40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35378" y="4953797"/>
            <a:ext cx="312535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</a:pPr>
            <a:r>
              <a:rPr lang="en-US" sz="1100" dirty="0">
                <a:solidFill>
                  <a:srgbClr val="4B556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Insufficient for evidence-based audits alone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0153452" y="4834336"/>
            <a:ext cx="1530548" cy="3810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0293594" y="4935936"/>
            <a:ext cx="12502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100" b="1" dirty="0">
                <a:solidFill>
                  <a:srgbClr val="C4B6FE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Yes</a:t>
            </a:r>
            <a:endParaRPr lang="en-US" sz="1100" dirty="0">
              <a:solidFill>
                <a:srgbClr val="C4B6FE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93775" y="5702300"/>
            <a:ext cx="11176000" cy="736599"/>
          </a:xfrm>
          <a:prstGeom prst="roundRect">
            <a:avLst>
              <a:gd name="adj" fmla="val 184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endParaRPr lang="en-US" sz="44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84276" y="5829300"/>
            <a:ext cx="11010900" cy="373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400" b="1" dirty="0">
                <a:solidFill>
                  <a:srgbClr val="2D2D2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This Project:</a:t>
            </a:r>
            <a:r>
              <a:rPr lang="en-US" sz="14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Focus on </a:t>
            </a:r>
            <a:r>
              <a:rPr lang="en-US" sz="1400" b="1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fine-tuning for compliance reasoning</a:t>
            </a:r>
            <a:r>
              <a:rPr lang="en-US" sz="14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 in Phase 2. </a:t>
            </a:r>
          </a:p>
          <a:p>
            <a:pPr>
              <a:lnSpc>
                <a:spcPts val="1260"/>
              </a:lnSpc>
            </a:pPr>
            <a:endParaRPr lang="en-US" sz="1400" dirty="0">
              <a:solidFill>
                <a:srgbClr val="475569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  <a:p>
            <a:pPr>
              <a:lnSpc>
                <a:spcPts val="1260"/>
              </a:lnSpc>
            </a:pPr>
            <a:r>
              <a:rPr lang="en-US" sz="1400" dirty="0">
                <a:solidFill>
                  <a:srgbClr val="475569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RAG-based grounding identified as future work for audit defensibility.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0C013B-9DD3-7AFE-C0EF-7551E876F0DC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12D5B-F34D-D848-EDFD-CD236FDF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7475-02E8-A34D-4A42-9A5F83794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272" y="0"/>
            <a:ext cx="11106727" cy="79505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Tsukushi A Round Gothic Regular" panose="02020400000000000000" pitchFamily="18" charset="-128"/>
                <a:cs typeface="Sabon Next LT" panose="02000500000000000000" pitchFamily="2" charset="0"/>
              </a:rPr>
              <a:t>Fine-Tuning Methodology</a:t>
            </a:r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88E9C748-372F-8DC7-6CFB-3C80A7E763D3}"/>
              </a:ext>
            </a:extLst>
          </p:cNvPr>
          <p:cNvSpPr/>
          <p:nvPr/>
        </p:nvSpPr>
        <p:spPr>
          <a:xfrm>
            <a:off x="773429" y="1137955"/>
            <a:ext cx="5368949" cy="1712104"/>
          </a:xfrm>
          <a:prstGeom prst="roundRect">
            <a:avLst>
              <a:gd name="adj" fmla="val 795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7EA7AD37-5897-89D3-2CD8-B5D1E7AEBBC5}"/>
              </a:ext>
            </a:extLst>
          </p:cNvPr>
          <p:cNvSpPr/>
          <p:nvPr/>
        </p:nvSpPr>
        <p:spPr>
          <a:xfrm>
            <a:off x="944880" y="131893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IS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QLoRA ?</a:t>
            </a: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95050942-C9AD-FD74-E7A5-79BE979BFE91}"/>
              </a:ext>
            </a:extLst>
          </p:cNvPr>
          <p:cNvSpPr/>
          <p:nvPr/>
        </p:nvSpPr>
        <p:spPr>
          <a:xfrm>
            <a:off x="944880" y="1541725"/>
            <a:ext cx="5151120" cy="911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Quantized Low-Rank Adaptation 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- A Parameter-Efficient Fine-Tuning (PEFT) technique that combines </a:t>
            </a:r>
            <a:r>
              <a:rPr lang="en-US" sz="1400" dirty="0">
                <a:solidFill>
                  <a:srgbClr val="3B82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4-bit quantization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with </a:t>
            </a:r>
            <a:r>
              <a:rPr lang="en-US" sz="1400" dirty="0">
                <a:solidFill>
                  <a:srgbClr val="8B5CF6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Low-Rank Adapters (LoRA)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to drastically cut resource usage while preserving model performance.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FB041992-FBAE-1147-3299-3E1598D9B274}"/>
              </a:ext>
            </a:extLst>
          </p:cNvPr>
          <p:cNvSpPr/>
          <p:nvPr/>
        </p:nvSpPr>
        <p:spPr>
          <a:xfrm>
            <a:off x="6251215" y="1151357"/>
            <a:ext cx="5265419" cy="1712104"/>
          </a:xfrm>
          <a:prstGeom prst="roundRect">
            <a:avLst>
              <a:gd name="adj" fmla="val 928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CE93C80A-AF7D-403D-8275-B9B74CEC4057}"/>
              </a:ext>
            </a:extLst>
          </p:cNvPr>
          <p:cNvSpPr/>
          <p:nvPr/>
        </p:nvSpPr>
        <p:spPr>
          <a:xfrm>
            <a:off x="6422666" y="1332332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WHY QLoRA FOR CCoP 2.0?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A9BCCA6E-9573-4517-0E15-D1566E1DD702}"/>
              </a:ext>
            </a:extLst>
          </p:cNvPr>
          <p:cNvSpPr/>
          <p:nvPr/>
        </p:nvSpPr>
        <p:spPr>
          <a:xfrm>
            <a:off x="6422666" y="1555128"/>
            <a:ext cx="5082540" cy="67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Enables </a:t>
            </a: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cost-efficient, lightweight offline deployment </a:t>
            </a:r>
            <a:r>
              <a:rPr lang="en-US" sz="14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for air-gapped and on-premise infrastructure - exactly what CIIOs need for their isolated CII environments.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9" name="Shape 4">
            <a:extLst>
              <a:ext uri="{FF2B5EF4-FFF2-40B4-BE49-F238E27FC236}">
                <a16:creationId xmlns:a16="http://schemas.microsoft.com/office/drawing/2014/main" id="{B6203BF6-C674-A218-798E-5C95E878C8D2}"/>
              </a:ext>
            </a:extLst>
          </p:cNvPr>
          <p:cNvSpPr/>
          <p:nvPr/>
        </p:nvSpPr>
        <p:spPr>
          <a:xfrm>
            <a:off x="773429" y="1133312"/>
            <a:ext cx="0" cy="1712104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0" name="Shape 4">
            <a:extLst>
              <a:ext uri="{FF2B5EF4-FFF2-40B4-BE49-F238E27FC236}">
                <a16:creationId xmlns:a16="http://schemas.microsoft.com/office/drawing/2014/main" id="{A1C2AA30-DE2E-C14A-93F5-E25F73E35299}"/>
              </a:ext>
            </a:extLst>
          </p:cNvPr>
          <p:cNvSpPr/>
          <p:nvPr/>
        </p:nvSpPr>
        <p:spPr>
          <a:xfrm>
            <a:off x="6282522" y="1151357"/>
            <a:ext cx="0" cy="1712104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1" name="Text 9">
            <a:extLst>
              <a:ext uri="{FF2B5EF4-FFF2-40B4-BE49-F238E27FC236}">
                <a16:creationId xmlns:a16="http://schemas.microsoft.com/office/drawing/2014/main" id="{BF1C2201-358E-33EE-FB2C-839CEBF8C09B}"/>
              </a:ext>
            </a:extLst>
          </p:cNvPr>
          <p:cNvSpPr/>
          <p:nvPr/>
        </p:nvSpPr>
        <p:spPr>
          <a:xfrm>
            <a:off x="773428" y="3183674"/>
            <a:ext cx="10731777" cy="1378387"/>
          </a:xfrm>
          <a:prstGeom prst="roundRect">
            <a:avLst>
              <a:gd name="adj" fmla="val 763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78CB2B3A-C2ED-4745-BA7E-111546DAFE48}"/>
              </a:ext>
            </a:extLst>
          </p:cNvPr>
          <p:cNvSpPr/>
          <p:nvPr/>
        </p:nvSpPr>
        <p:spPr>
          <a:xfrm>
            <a:off x="944879" y="3326549"/>
            <a:ext cx="81998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Fine-Tuning Pipeline</a:t>
            </a:r>
            <a:endParaRPr lang="en-US" sz="7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7D94795-AD25-310B-B3B7-4EB3E5EA489F}"/>
              </a:ext>
            </a:extLst>
          </p:cNvPr>
          <p:cNvGrpSpPr/>
          <p:nvPr/>
        </p:nvGrpSpPr>
        <p:grpSpPr>
          <a:xfrm>
            <a:off x="1342443" y="3582360"/>
            <a:ext cx="1602023" cy="741161"/>
            <a:chOff x="944878" y="3574198"/>
            <a:chExt cx="1602023" cy="741161"/>
          </a:xfrm>
        </p:grpSpPr>
        <p:sp>
          <p:nvSpPr>
            <p:cNvPr id="103" name="Text 11">
              <a:extLst>
                <a:ext uri="{FF2B5EF4-FFF2-40B4-BE49-F238E27FC236}">
                  <a16:creationId xmlns:a16="http://schemas.microsoft.com/office/drawing/2014/main" id="{730DE575-C593-54F1-40E3-323D0A40E69D}"/>
                </a:ext>
              </a:extLst>
            </p:cNvPr>
            <p:cNvSpPr/>
            <p:nvPr/>
          </p:nvSpPr>
          <p:spPr>
            <a:xfrm>
              <a:off x="944878" y="3574198"/>
              <a:ext cx="1602023" cy="741161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04" name="Text 12">
              <a:extLst>
                <a:ext uri="{FF2B5EF4-FFF2-40B4-BE49-F238E27FC236}">
                  <a16:creationId xmlns:a16="http://schemas.microsoft.com/office/drawing/2014/main" id="{B78C5B2F-181A-FD28-7A0F-26B480238478}"/>
                </a:ext>
              </a:extLst>
            </p:cNvPr>
            <p:cNvSpPr/>
            <p:nvPr/>
          </p:nvSpPr>
          <p:spPr>
            <a:xfrm>
              <a:off x="1038224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A5C8F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1. DATA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05" name="Text 13">
              <a:extLst>
                <a:ext uri="{FF2B5EF4-FFF2-40B4-BE49-F238E27FC236}">
                  <a16:creationId xmlns:a16="http://schemas.microsoft.com/office/drawing/2014/main" id="{AA10F9D1-E9CE-A7AF-DBBD-806208A77881}"/>
                </a:ext>
              </a:extLst>
            </p:cNvPr>
            <p:cNvSpPr/>
            <p:nvPr/>
          </p:nvSpPr>
          <p:spPr>
            <a:xfrm>
              <a:off x="1038224" y="3827504"/>
              <a:ext cx="1165860" cy="2916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Curate CCoP 2.0</a:t>
              </a:r>
            </a:p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training dataset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4B16362-9F7C-2FE0-B1F1-573C0B899D5B}"/>
              </a:ext>
            </a:extLst>
          </p:cNvPr>
          <p:cNvGrpSpPr/>
          <p:nvPr/>
        </p:nvGrpSpPr>
        <p:grpSpPr>
          <a:xfrm>
            <a:off x="3385965" y="3571952"/>
            <a:ext cx="1602023" cy="741160"/>
            <a:chOff x="2616516" y="3574199"/>
            <a:chExt cx="1602023" cy="741160"/>
          </a:xfrm>
        </p:grpSpPr>
        <p:sp>
          <p:nvSpPr>
            <p:cNvPr id="107" name="Text 15">
              <a:extLst>
                <a:ext uri="{FF2B5EF4-FFF2-40B4-BE49-F238E27FC236}">
                  <a16:creationId xmlns:a16="http://schemas.microsoft.com/office/drawing/2014/main" id="{7616D6A2-93CC-B298-968D-C04FF4C8E83E}"/>
                </a:ext>
              </a:extLst>
            </p:cNvPr>
            <p:cNvSpPr/>
            <p:nvPr/>
          </p:nvSpPr>
          <p:spPr>
            <a:xfrm>
              <a:off x="2616516" y="3574199"/>
              <a:ext cx="1602023" cy="741160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08" name="Text 16">
              <a:extLst>
                <a:ext uri="{FF2B5EF4-FFF2-40B4-BE49-F238E27FC236}">
                  <a16:creationId xmlns:a16="http://schemas.microsoft.com/office/drawing/2014/main" id="{D48F14BF-350F-94A0-BB11-1235A35AFC97}"/>
                </a:ext>
              </a:extLst>
            </p:cNvPr>
            <p:cNvSpPr/>
            <p:nvPr/>
          </p:nvSpPr>
          <p:spPr>
            <a:xfrm>
              <a:off x="2709862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C4B5FD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2. QUANTIZE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09" name="Text 17">
              <a:extLst>
                <a:ext uri="{FF2B5EF4-FFF2-40B4-BE49-F238E27FC236}">
                  <a16:creationId xmlns:a16="http://schemas.microsoft.com/office/drawing/2014/main" id="{28E7C62E-FDD9-7314-9DF1-546436831CA0}"/>
                </a:ext>
              </a:extLst>
            </p:cNvPr>
            <p:cNvSpPr/>
            <p:nvPr/>
          </p:nvSpPr>
          <p:spPr>
            <a:xfrm>
              <a:off x="2709862" y="3827504"/>
              <a:ext cx="1165860" cy="106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4-bit NF4 quantization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F45DCFF-B3A8-682F-50CD-CD1158BB491D}"/>
              </a:ext>
            </a:extLst>
          </p:cNvPr>
          <p:cNvGrpSpPr/>
          <p:nvPr/>
        </p:nvGrpSpPr>
        <p:grpSpPr>
          <a:xfrm>
            <a:off x="5429487" y="3571951"/>
            <a:ext cx="1602023" cy="741159"/>
            <a:chOff x="4288153" y="3574198"/>
            <a:chExt cx="1602023" cy="741159"/>
          </a:xfrm>
        </p:grpSpPr>
        <p:sp>
          <p:nvSpPr>
            <p:cNvPr id="111" name="Text 19">
              <a:extLst>
                <a:ext uri="{FF2B5EF4-FFF2-40B4-BE49-F238E27FC236}">
                  <a16:creationId xmlns:a16="http://schemas.microsoft.com/office/drawing/2014/main" id="{88976FD5-EBD6-72E6-D2F3-5CCF9C5C41B6}"/>
                </a:ext>
              </a:extLst>
            </p:cNvPr>
            <p:cNvSpPr/>
            <p:nvPr/>
          </p:nvSpPr>
          <p:spPr>
            <a:xfrm>
              <a:off x="4288153" y="3574198"/>
              <a:ext cx="1602023" cy="741159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12" name="Text 20">
              <a:extLst>
                <a:ext uri="{FF2B5EF4-FFF2-40B4-BE49-F238E27FC236}">
                  <a16:creationId xmlns:a16="http://schemas.microsoft.com/office/drawing/2014/main" id="{709E83CF-DCE6-ADD5-E46D-ACA42369A4CE}"/>
                </a:ext>
              </a:extLst>
            </p:cNvPr>
            <p:cNvSpPr/>
            <p:nvPr/>
          </p:nvSpPr>
          <p:spPr>
            <a:xfrm>
              <a:off x="4381499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F5A3A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3. TRAIN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13" name="Text 21">
              <a:extLst>
                <a:ext uri="{FF2B5EF4-FFF2-40B4-BE49-F238E27FC236}">
                  <a16:creationId xmlns:a16="http://schemas.microsoft.com/office/drawing/2014/main" id="{DF62FDBA-5D7D-2EFD-456C-4A86D86B0FC1}"/>
                </a:ext>
              </a:extLst>
            </p:cNvPr>
            <p:cNvSpPr/>
            <p:nvPr/>
          </p:nvSpPr>
          <p:spPr>
            <a:xfrm>
              <a:off x="4381499" y="3827504"/>
              <a:ext cx="1165860" cy="106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LoRA adapters on frozen weights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C430095-8213-B1D7-8F9C-E6EF260E967E}"/>
              </a:ext>
            </a:extLst>
          </p:cNvPr>
          <p:cNvGrpSpPr/>
          <p:nvPr/>
        </p:nvGrpSpPr>
        <p:grpSpPr>
          <a:xfrm>
            <a:off x="7473009" y="3571952"/>
            <a:ext cx="1602023" cy="741158"/>
            <a:chOff x="5959791" y="3574199"/>
            <a:chExt cx="1602023" cy="741158"/>
          </a:xfrm>
        </p:grpSpPr>
        <p:sp>
          <p:nvSpPr>
            <p:cNvPr id="115" name="Text 23">
              <a:extLst>
                <a:ext uri="{FF2B5EF4-FFF2-40B4-BE49-F238E27FC236}">
                  <a16:creationId xmlns:a16="http://schemas.microsoft.com/office/drawing/2014/main" id="{D764E6BF-5CBB-1589-E502-13ABFA973703}"/>
                </a:ext>
              </a:extLst>
            </p:cNvPr>
            <p:cNvSpPr/>
            <p:nvPr/>
          </p:nvSpPr>
          <p:spPr>
            <a:xfrm>
              <a:off x="5959791" y="3574199"/>
              <a:ext cx="1602023" cy="741158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16" name="Text 24">
              <a:extLst>
                <a:ext uri="{FF2B5EF4-FFF2-40B4-BE49-F238E27FC236}">
                  <a16:creationId xmlns:a16="http://schemas.microsoft.com/office/drawing/2014/main" id="{7AAA3D9C-9280-8579-5331-42708AB12F00}"/>
                </a:ext>
              </a:extLst>
            </p:cNvPr>
            <p:cNvSpPr/>
            <p:nvPr/>
          </p:nvSpPr>
          <p:spPr>
            <a:xfrm>
              <a:off x="6053137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A5C8F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4. EVALUATE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17" name="Text 25">
              <a:extLst>
                <a:ext uri="{FF2B5EF4-FFF2-40B4-BE49-F238E27FC236}">
                  <a16:creationId xmlns:a16="http://schemas.microsoft.com/office/drawing/2014/main" id="{CD39B6A2-0BE0-68DD-550E-43D50E3B906E}"/>
                </a:ext>
              </a:extLst>
            </p:cNvPr>
            <p:cNvSpPr/>
            <p:nvPr/>
          </p:nvSpPr>
          <p:spPr>
            <a:xfrm>
              <a:off x="6053137" y="3827504"/>
              <a:ext cx="1165860" cy="106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21 custom benchmarks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3D053AC-1E27-F590-C8F7-E2E2F5624E4C}"/>
              </a:ext>
            </a:extLst>
          </p:cNvPr>
          <p:cNvGrpSpPr/>
          <p:nvPr/>
        </p:nvGrpSpPr>
        <p:grpSpPr>
          <a:xfrm>
            <a:off x="9516531" y="3593828"/>
            <a:ext cx="1602023" cy="719281"/>
            <a:chOff x="7631428" y="3574198"/>
            <a:chExt cx="1602023" cy="719281"/>
          </a:xfrm>
        </p:grpSpPr>
        <p:sp>
          <p:nvSpPr>
            <p:cNvPr id="119" name="Text 27">
              <a:extLst>
                <a:ext uri="{FF2B5EF4-FFF2-40B4-BE49-F238E27FC236}">
                  <a16:creationId xmlns:a16="http://schemas.microsoft.com/office/drawing/2014/main" id="{8DE06C1C-4F80-4C10-559F-A92538FE134C}"/>
                </a:ext>
              </a:extLst>
            </p:cNvPr>
            <p:cNvSpPr/>
            <p:nvPr/>
          </p:nvSpPr>
          <p:spPr>
            <a:xfrm>
              <a:off x="7631428" y="3574198"/>
              <a:ext cx="1602023" cy="719281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20" name="Text 28">
              <a:extLst>
                <a:ext uri="{FF2B5EF4-FFF2-40B4-BE49-F238E27FC236}">
                  <a16:creationId xmlns:a16="http://schemas.microsoft.com/office/drawing/2014/main" id="{B59C906E-3AB3-86DE-4D5B-84DE750E3BF9}"/>
                </a:ext>
              </a:extLst>
            </p:cNvPr>
            <p:cNvSpPr/>
            <p:nvPr/>
          </p:nvSpPr>
          <p:spPr>
            <a:xfrm>
              <a:off x="7724774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C4B5FD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5. DEPLOY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121" name="Text 29">
              <a:extLst>
                <a:ext uri="{FF2B5EF4-FFF2-40B4-BE49-F238E27FC236}">
                  <a16:creationId xmlns:a16="http://schemas.microsoft.com/office/drawing/2014/main" id="{37B73A2B-3BC2-38BA-9250-0072980F37CF}"/>
                </a:ext>
              </a:extLst>
            </p:cNvPr>
            <p:cNvSpPr/>
            <p:nvPr/>
          </p:nvSpPr>
          <p:spPr>
            <a:xfrm>
              <a:off x="7724774" y="3827504"/>
              <a:ext cx="1165860" cy="106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Air-gapped CII environment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pic>
        <p:nvPicPr>
          <p:cNvPr id="128" name="Graphic 127" descr="Caret Right outline">
            <a:extLst>
              <a:ext uri="{FF2B5EF4-FFF2-40B4-BE49-F238E27FC236}">
                <a16:creationId xmlns:a16="http://schemas.microsoft.com/office/drawing/2014/main" id="{A1F30CD2-45E6-A18F-1FBE-52B6FFBF6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5917" y="3736704"/>
            <a:ext cx="400048" cy="400048"/>
          </a:xfrm>
          <a:prstGeom prst="rect">
            <a:avLst/>
          </a:prstGeom>
        </p:spPr>
      </p:pic>
      <p:pic>
        <p:nvPicPr>
          <p:cNvPr id="130" name="Graphic 129" descr="Caret Right outline">
            <a:extLst>
              <a:ext uri="{FF2B5EF4-FFF2-40B4-BE49-F238E27FC236}">
                <a16:creationId xmlns:a16="http://schemas.microsoft.com/office/drawing/2014/main" id="{4226DE67-9561-BCBC-E26B-21296E9D3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9439" y="3729450"/>
            <a:ext cx="400048" cy="400048"/>
          </a:xfrm>
          <a:prstGeom prst="rect">
            <a:avLst/>
          </a:prstGeom>
        </p:spPr>
      </p:pic>
      <p:pic>
        <p:nvPicPr>
          <p:cNvPr id="131" name="Graphic 130" descr="Caret Right outline">
            <a:extLst>
              <a:ext uri="{FF2B5EF4-FFF2-40B4-BE49-F238E27FC236}">
                <a16:creationId xmlns:a16="http://schemas.microsoft.com/office/drawing/2014/main" id="{D0B93EA9-0319-DAC3-701E-E08BFE11B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9510" y="3698604"/>
            <a:ext cx="400048" cy="400048"/>
          </a:xfrm>
          <a:prstGeom prst="rect">
            <a:avLst/>
          </a:prstGeom>
        </p:spPr>
      </p:pic>
      <p:pic>
        <p:nvPicPr>
          <p:cNvPr id="132" name="Graphic 131" descr="Caret Right outline">
            <a:extLst>
              <a:ext uri="{FF2B5EF4-FFF2-40B4-BE49-F238E27FC236}">
                <a16:creationId xmlns:a16="http://schemas.microsoft.com/office/drawing/2014/main" id="{65E9F134-BB1C-7DDA-280C-9282C0B76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728" y="3701433"/>
            <a:ext cx="400048" cy="400048"/>
          </a:xfrm>
          <a:prstGeom prst="rect">
            <a:avLst/>
          </a:prstGeom>
        </p:spPr>
      </p:pic>
      <p:sp>
        <p:nvSpPr>
          <p:cNvPr id="134" name="Text 30">
            <a:extLst>
              <a:ext uri="{FF2B5EF4-FFF2-40B4-BE49-F238E27FC236}">
                <a16:creationId xmlns:a16="http://schemas.microsoft.com/office/drawing/2014/main" id="{7B6185CA-B085-7CAC-E970-90D8F9D9CBED}"/>
              </a:ext>
            </a:extLst>
          </p:cNvPr>
          <p:cNvSpPr/>
          <p:nvPr/>
        </p:nvSpPr>
        <p:spPr>
          <a:xfrm>
            <a:off x="781289" y="5079820"/>
            <a:ext cx="2267384" cy="788336"/>
          </a:xfrm>
          <a:prstGeom prst="roundRect">
            <a:avLst>
              <a:gd name="adj" fmla="val 115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5" name="Shape 31">
            <a:extLst>
              <a:ext uri="{FF2B5EF4-FFF2-40B4-BE49-F238E27FC236}">
                <a16:creationId xmlns:a16="http://schemas.microsoft.com/office/drawing/2014/main" id="{B155D120-1D11-BCB7-949E-5519CE99BD59}"/>
              </a:ext>
            </a:extLst>
          </p:cNvPr>
          <p:cNvSpPr/>
          <p:nvPr/>
        </p:nvSpPr>
        <p:spPr>
          <a:xfrm>
            <a:off x="795577" y="5079820"/>
            <a:ext cx="0" cy="788336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6" name="Text 32">
            <a:extLst>
              <a:ext uri="{FF2B5EF4-FFF2-40B4-BE49-F238E27FC236}">
                <a16:creationId xmlns:a16="http://schemas.microsoft.com/office/drawing/2014/main" id="{792E76CD-B7D2-FDD5-653C-A343ECBFC032}"/>
              </a:ext>
            </a:extLst>
          </p:cNvPr>
          <p:cNvSpPr/>
          <p:nvPr/>
        </p:nvSpPr>
        <p:spPr>
          <a:xfrm>
            <a:off x="952739" y="5194120"/>
            <a:ext cx="1951025" cy="19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MEMORY EFFICIENT</a:t>
            </a:r>
            <a:endParaRPr lang="en-US" sz="675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7" name="Text 33">
            <a:extLst>
              <a:ext uri="{FF2B5EF4-FFF2-40B4-BE49-F238E27FC236}">
                <a16:creationId xmlns:a16="http://schemas.microsoft.com/office/drawing/2014/main" id="{35EE6AD8-F761-3AFA-5765-939A99BCC677}"/>
              </a:ext>
            </a:extLst>
          </p:cNvPr>
          <p:cNvSpPr/>
          <p:nvPr/>
        </p:nvSpPr>
        <p:spPr>
          <a:xfrm>
            <a:off x="952739" y="5352176"/>
            <a:ext cx="1951025" cy="17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Fine-tune 65B models on single 48GB GPU</a:t>
            </a:r>
            <a:endParaRPr lang="en-US" sz="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8" name="Text 34">
            <a:extLst>
              <a:ext uri="{FF2B5EF4-FFF2-40B4-BE49-F238E27FC236}">
                <a16:creationId xmlns:a16="http://schemas.microsoft.com/office/drawing/2014/main" id="{65F77BAE-C21B-5973-BC6A-3104BF5D6B22}"/>
              </a:ext>
            </a:extLst>
          </p:cNvPr>
          <p:cNvSpPr/>
          <p:nvPr/>
        </p:nvSpPr>
        <p:spPr>
          <a:xfrm>
            <a:off x="3618146" y="5079820"/>
            <a:ext cx="2267384" cy="788336"/>
          </a:xfrm>
          <a:prstGeom prst="roundRect">
            <a:avLst>
              <a:gd name="adj" fmla="val 115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9" name="Shape 35">
            <a:extLst>
              <a:ext uri="{FF2B5EF4-FFF2-40B4-BE49-F238E27FC236}">
                <a16:creationId xmlns:a16="http://schemas.microsoft.com/office/drawing/2014/main" id="{CC946364-1E53-0279-3F6A-78DD8EE3A43D}"/>
              </a:ext>
            </a:extLst>
          </p:cNvPr>
          <p:cNvSpPr/>
          <p:nvPr/>
        </p:nvSpPr>
        <p:spPr>
          <a:xfrm>
            <a:off x="3632434" y="5079820"/>
            <a:ext cx="0" cy="788336"/>
          </a:xfrm>
          <a:prstGeom prst="line">
            <a:avLst/>
          </a:prstGeom>
          <a:noFill/>
          <a:ln w="285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0" name="Text 36">
            <a:extLst>
              <a:ext uri="{FF2B5EF4-FFF2-40B4-BE49-F238E27FC236}">
                <a16:creationId xmlns:a16="http://schemas.microsoft.com/office/drawing/2014/main" id="{16B366DF-FE12-FABA-6A51-138B4B29E4C6}"/>
              </a:ext>
            </a:extLst>
          </p:cNvPr>
          <p:cNvSpPr/>
          <p:nvPr/>
        </p:nvSpPr>
        <p:spPr>
          <a:xfrm>
            <a:off x="3789596" y="5194120"/>
            <a:ext cx="1951025" cy="19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COST EFFECTIVE</a:t>
            </a:r>
            <a:endParaRPr lang="en-US" sz="675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1" name="Text 37">
            <a:extLst>
              <a:ext uri="{FF2B5EF4-FFF2-40B4-BE49-F238E27FC236}">
                <a16:creationId xmlns:a16="http://schemas.microsoft.com/office/drawing/2014/main" id="{ECED930C-C034-0516-BBF7-DA86C425434E}"/>
              </a:ext>
            </a:extLst>
          </p:cNvPr>
          <p:cNvSpPr/>
          <p:nvPr/>
        </p:nvSpPr>
        <p:spPr>
          <a:xfrm>
            <a:off x="3789596" y="5352176"/>
            <a:ext cx="1951025" cy="17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3-4x memory reduction vs full precision</a:t>
            </a:r>
            <a:endParaRPr lang="en-US" sz="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2" name="Text 38">
            <a:extLst>
              <a:ext uri="{FF2B5EF4-FFF2-40B4-BE49-F238E27FC236}">
                <a16:creationId xmlns:a16="http://schemas.microsoft.com/office/drawing/2014/main" id="{85CD0EE0-2919-7DE8-6D49-F82ED3598E4E}"/>
              </a:ext>
            </a:extLst>
          </p:cNvPr>
          <p:cNvSpPr/>
          <p:nvPr/>
        </p:nvSpPr>
        <p:spPr>
          <a:xfrm>
            <a:off x="6455003" y="5079820"/>
            <a:ext cx="2267384" cy="788336"/>
          </a:xfrm>
          <a:prstGeom prst="roundRect">
            <a:avLst>
              <a:gd name="adj" fmla="val 115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3" name="Shape 39">
            <a:extLst>
              <a:ext uri="{FF2B5EF4-FFF2-40B4-BE49-F238E27FC236}">
                <a16:creationId xmlns:a16="http://schemas.microsoft.com/office/drawing/2014/main" id="{BCFC7862-DB57-C159-C0B5-3D6A4A979C4A}"/>
              </a:ext>
            </a:extLst>
          </p:cNvPr>
          <p:cNvSpPr/>
          <p:nvPr/>
        </p:nvSpPr>
        <p:spPr>
          <a:xfrm>
            <a:off x="6469291" y="5079820"/>
            <a:ext cx="0" cy="788336"/>
          </a:xfrm>
          <a:prstGeom prst="line">
            <a:avLst/>
          </a:prstGeom>
          <a:noFill/>
          <a:ln w="28575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4" name="Text 40">
            <a:extLst>
              <a:ext uri="{FF2B5EF4-FFF2-40B4-BE49-F238E27FC236}">
                <a16:creationId xmlns:a16="http://schemas.microsoft.com/office/drawing/2014/main" id="{E146D308-2E88-EE2F-8987-A495E47984C1}"/>
              </a:ext>
            </a:extLst>
          </p:cNvPr>
          <p:cNvSpPr/>
          <p:nvPr/>
        </p:nvSpPr>
        <p:spPr>
          <a:xfrm>
            <a:off x="6626453" y="5194120"/>
            <a:ext cx="1951025" cy="19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HIGH ACCURACY</a:t>
            </a:r>
            <a:endParaRPr lang="en-US" sz="675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5" name="Text 41">
            <a:extLst>
              <a:ext uri="{FF2B5EF4-FFF2-40B4-BE49-F238E27FC236}">
                <a16:creationId xmlns:a16="http://schemas.microsoft.com/office/drawing/2014/main" id="{DA997902-EC37-BFE4-E38E-CEEB940BD3E8}"/>
              </a:ext>
            </a:extLst>
          </p:cNvPr>
          <p:cNvSpPr/>
          <p:nvPr/>
        </p:nvSpPr>
        <p:spPr>
          <a:xfrm>
            <a:off x="6626453" y="5352176"/>
            <a:ext cx="1951025" cy="17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97-99% performance retention</a:t>
            </a:r>
            <a:endParaRPr lang="en-US" sz="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6" name="Text 42">
            <a:extLst>
              <a:ext uri="{FF2B5EF4-FFF2-40B4-BE49-F238E27FC236}">
                <a16:creationId xmlns:a16="http://schemas.microsoft.com/office/drawing/2014/main" id="{6C162713-6BBB-58E0-4D12-22D69EA82048}"/>
              </a:ext>
            </a:extLst>
          </p:cNvPr>
          <p:cNvSpPr/>
          <p:nvPr/>
        </p:nvSpPr>
        <p:spPr>
          <a:xfrm>
            <a:off x="9237821" y="5079820"/>
            <a:ext cx="2267384" cy="788336"/>
          </a:xfrm>
          <a:prstGeom prst="roundRect">
            <a:avLst>
              <a:gd name="adj" fmla="val 115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7" name="Shape 43">
            <a:extLst>
              <a:ext uri="{FF2B5EF4-FFF2-40B4-BE49-F238E27FC236}">
                <a16:creationId xmlns:a16="http://schemas.microsoft.com/office/drawing/2014/main" id="{134774FD-AB9C-33F4-8713-CEA4099ACD84}"/>
              </a:ext>
            </a:extLst>
          </p:cNvPr>
          <p:cNvSpPr/>
          <p:nvPr/>
        </p:nvSpPr>
        <p:spPr>
          <a:xfrm>
            <a:off x="9252109" y="5079820"/>
            <a:ext cx="0" cy="788336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8" name="Text 44">
            <a:extLst>
              <a:ext uri="{FF2B5EF4-FFF2-40B4-BE49-F238E27FC236}">
                <a16:creationId xmlns:a16="http://schemas.microsoft.com/office/drawing/2014/main" id="{89A77455-0BAD-6C57-783E-CC698A788455}"/>
              </a:ext>
            </a:extLst>
          </p:cNvPr>
          <p:cNvSpPr/>
          <p:nvPr/>
        </p:nvSpPr>
        <p:spPr>
          <a:xfrm>
            <a:off x="9409271" y="5194120"/>
            <a:ext cx="1951025" cy="191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AIR-GAP READY</a:t>
            </a:r>
            <a:endParaRPr lang="en-US" sz="675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9" name="Text 45">
            <a:extLst>
              <a:ext uri="{FF2B5EF4-FFF2-40B4-BE49-F238E27FC236}">
                <a16:creationId xmlns:a16="http://schemas.microsoft.com/office/drawing/2014/main" id="{37496E24-9CDC-9220-38F9-32501D50EE3A}"/>
              </a:ext>
            </a:extLst>
          </p:cNvPr>
          <p:cNvSpPr/>
          <p:nvPr/>
        </p:nvSpPr>
        <p:spPr>
          <a:xfrm>
            <a:off x="9409271" y="5352176"/>
            <a:ext cx="1951025" cy="17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2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Offline deployment for CII infrastructure</a:t>
            </a:r>
            <a:endParaRPr lang="en-US" sz="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A0CF2-6B9B-C7E9-17F3-44E30D7922CF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FF63B-D84A-89DA-3CD1-5E43FCAAAE22}"/>
              </a:ext>
            </a:extLst>
          </p:cNvPr>
          <p:cNvSpPr txBox="1"/>
          <p:nvPr/>
        </p:nvSpPr>
        <p:spPr>
          <a:xfrm>
            <a:off x="614025" y="6339245"/>
            <a:ext cx="1081597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T. Dettmers, A. Pagnoni, A. Holtzman, and L. Zettlemoyer, "QLoRA: Efficient Finetuning of Quantized LLMs," </a:t>
            </a:r>
            <a:r>
              <a:rPr lang="en-US" sz="1100" i="1" dirty="0" err="1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arXiv</a:t>
            </a:r>
            <a:r>
              <a:rPr lang="en-US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preprint arXiv:2305.14314, 2023. [Online]. Available: </a:t>
            </a:r>
            <a:r>
              <a:rPr lang="en-US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https://arxiv.</a:t>
            </a:r>
            <a:r>
              <a:rPr lang="en-US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  <a:hlinkClick r:id="rId4"/>
              </a:rPr>
              <a:t>org</a:t>
            </a:r>
            <a:r>
              <a:rPr lang="en-US" sz="1100" i="1" dirty="0">
                <a:solidFill>
                  <a:schemeClr val="bg2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/abs/2305.14314</a:t>
            </a:r>
            <a:endParaRPr lang="en-US" sz="1100" i="1" dirty="0">
              <a:solidFill>
                <a:schemeClr val="bg2">
                  <a:lumMod val="50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Shape 60">
            <a:extLst>
              <a:ext uri="{FF2B5EF4-FFF2-40B4-BE49-F238E27FC236}">
                <a16:creationId xmlns:a16="http://schemas.microsoft.com/office/drawing/2014/main" id="{56B6E59B-133D-FAB6-AA64-D680D319D723}"/>
              </a:ext>
            </a:extLst>
          </p:cNvPr>
          <p:cNvSpPr/>
          <p:nvPr/>
        </p:nvSpPr>
        <p:spPr>
          <a:xfrm>
            <a:off x="592922" y="6352635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6876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1" y="304800"/>
            <a:ext cx="102169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  <a:spcAft>
                <a:spcPts val="4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Benchmarks &amp; Evaluation Framework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3453" y="724035"/>
            <a:ext cx="6146800" cy="5745361"/>
          </a:xfrm>
          <a:prstGeom prst="roundRect">
            <a:avLst>
              <a:gd name="adj" fmla="val 176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25853" y="876435"/>
            <a:ext cx="595884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21 BENCHMARKS BY TYPE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25853" y="1186196"/>
            <a:ext cx="5842000" cy="482600"/>
          </a:xfrm>
          <a:prstGeom prst="roundRect">
            <a:avLst>
              <a:gd name="adj" fmla="val 10526"/>
            </a:avLst>
          </a:prstGeom>
          <a:solidFill>
            <a:srgbClr val="A5C8F4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2853" y="1249696"/>
            <a:ext cx="56997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CLASSIFICATION (4 benchmarks)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5853" y="1668796"/>
            <a:ext cx="5842000" cy="10287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2853" y="17703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CCoP Applicability Determination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2853" y="19862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B2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Compliance Status Classification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2853" y="22021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B4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IT/OT Infrastructure Classification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2853" y="24180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B5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Control Requirement Comprehension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25853" y="2824496"/>
            <a:ext cx="5842000" cy="482600"/>
          </a:xfrm>
          <a:prstGeom prst="roundRect">
            <a:avLst>
              <a:gd name="adj" fmla="val 10526"/>
            </a:avLst>
          </a:prstGeom>
          <a:solidFill>
            <a:srgbClr val="C4B5FD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2853" y="2887996"/>
            <a:ext cx="56997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REASONING (15 benchmarks)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25853" y="3307096"/>
            <a:ext cx="5842000" cy="18034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2854" y="34086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B3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Conditional Compliance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2854" y="36118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B6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Control Intent Recognition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2854" y="38150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B7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Gap Identification Quality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2854" y="40182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B8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Gap Prioritization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2854" y="42214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B9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Risk Identification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2854" y="44246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B10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Risk Justification Coherence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52854" y="46278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B11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Risk Severity Assessment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2854" y="48310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B12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Audit Awareness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723054" y="35102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B13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Audit Planning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723054" y="37134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B14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Remediation Quality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723054" y="39166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B15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Remediation Prioritization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23054" y="41198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B16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Residual Risk Awareness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23054" y="43230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B17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Governance Understanding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723054" y="45262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B18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Cross-Scenario Consistency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723054" y="4729496"/>
            <a:ext cx="277215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B19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Cross-Domain Consistency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5853" y="5237496"/>
            <a:ext cx="5842000" cy="482600"/>
          </a:xfrm>
          <a:prstGeom prst="roundRect">
            <a:avLst>
              <a:gd name="adj" fmla="val 10526"/>
            </a:avLst>
          </a:prstGeom>
          <a:solidFill>
            <a:srgbClr val="F5A3A3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52853" y="5300996"/>
            <a:ext cx="569976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SAFETY (2 benchmarks)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5853" y="5720096"/>
            <a:ext cx="5842000" cy="59690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52853" y="58216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B20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Over-Specification Avoidance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2853" y="6037596"/>
            <a:ext cx="56997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B21</a:t>
            </a: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Hallucination Detection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6" name="Image 0" descr="/tmp/rasterized-gradient-5c8c9c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453" y="1007801"/>
            <a:ext cx="5029200" cy="949721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126653" y="1160201"/>
            <a:ext cx="47670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TIER 1: DETERMINISTIC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126653" y="1393761"/>
            <a:ext cx="4767072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300"/>
              </a:spcAft>
            </a:pPr>
            <a:r>
              <a:rPr lang="en-US" sz="11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Rule-based, binary outcomes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126653" y="1627322"/>
            <a:ext cx="47670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Label matching + automated key fact extraction. No human review required.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0" name="Image 1" descr="/tmp/rasterized-gradient-e96403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3453" y="2262323"/>
            <a:ext cx="5029200" cy="1127521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126653" y="2414723"/>
            <a:ext cx="47670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TIER 2: SEMANTIC REASONING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7126653" y="2648284"/>
            <a:ext cx="4767072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300"/>
              </a:spcAft>
            </a:pPr>
            <a:r>
              <a:rPr lang="en-US" sz="11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Similarity + fact recall + rubric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7126653" y="2881844"/>
            <a:ext cx="476707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Embedding-based semantic matching, reasoning dimension scores. 20% expert validation.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4" name="Image 2" descr="/tmp/rasterized-gradient-b10f7e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453" y="3694645"/>
            <a:ext cx="5029200" cy="949721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126653" y="3847045"/>
            <a:ext cx="476707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4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TIER 3: LLM-AS-JUDGE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7126653" y="4080605"/>
            <a:ext cx="4767072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300"/>
              </a:spcAft>
            </a:pPr>
            <a:r>
              <a:rPr lang="en-US" sz="11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Rubric-guided LLM evaluation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7126653" y="4314166"/>
            <a:ext cx="47670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Hallucination detection, forbidden claim checks. Single fabrication = failure.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6923453" y="4949167"/>
            <a:ext cx="5029200" cy="1236663"/>
          </a:xfrm>
          <a:prstGeom prst="roundRect">
            <a:avLst>
              <a:gd name="adj" fmla="val 8216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7075853" y="5101567"/>
            <a:ext cx="4818888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1000"/>
              </a:spcAft>
            </a:pPr>
            <a:r>
              <a:rPr lang="en-US" sz="11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EVALUATION CATEGORY WEIGHTS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2E28F72-44E1-1E31-599E-553D44574485}"/>
              </a:ext>
            </a:extLst>
          </p:cNvPr>
          <p:cNvGrpSpPr/>
          <p:nvPr/>
        </p:nvGrpSpPr>
        <p:grpSpPr>
          <a:xfrm>
            <a:off x="7045271" y="5348223"/>
            <a:ext cx="4785563" cy="651273"/>
            <a:chOff x="7075854" y="5321376"/>
            <a:chExt cx="4718244" cy="651273"/>
          </a:xfrm>
        </p:grpSpPr>
        <p:sp>
          <p:nvSpPr>
            <p:cNvPr id="50" name="Text 45"/>
            <p:cNvSpPr/>
            <p:nvPr/>
          </p:nvSpPr>
          <p:spPr>
            <a:xfrm>
              <a:off x="7075854" y="5325712"/>
              <a:ext cx="1104900" cy="637381"/>
            </a:xfrm>
            <a:prstGeom prst="roundRect">
              <a:avLst>
                <a:gd name="adj" fmla="val 7970"/>
              </a:avLst>
            </a:prstGeom>
            <a:solidFill>
              <a:srgbClr val="A5C8F4"/>
            </a:solidFill>
            <a:ln/>
          </p:spPr>
          <p:txBody>
            <a:bodyPr wrap="square" rtlCol="0" anchor="ctr"/>
            <a:lstStyle/>
            <a:p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1" name="Text 46"/>
            <p:cNvSpPr/>
            <p:nvPr/>
          </p:nvSpPr>
          <p:spPr>
            <a:xfrm>
              <a:off x="7116620" y="5427312"/>
              <a:ext cx="1023367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25%</a:t>
              </a:r>
              <a:endParaRPr lang="en-US" sz="1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2" name="Text 47"/>
            <p:cNvSpPr/>
            <p:nvPr/>
          </p:nvSpPr>
          <p:spPr>
            <a:xfrm>
              <a:off x="7116620" y="5701552"/>
              <a:ext cx="1023367" cy="159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60"/>
                </a:lnSpc>
                <a:spcBef>
                  <a:spcPts val="200"/>
                </a:spcBef>
              </a:pP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Applicability</a:t>
              </a:r>
              <a:endParaRPr lang="en-US" sz="9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3" name="Text 48"/>
            <p:cNvSpPr/>
            <p:nvPr/>
          </p:nvSpPr>
          <p:spPr>
            <a:xfrm>
              <a:off x="8231554" y="5325712"/>
              <a:ext cx="1104900" cy="637381"/>
            </a:xfrm>
            <a:prstGeom prst="roundRect">
              <a:avLst>
                <a:gd name="adj" fmla="val 7970"/>
              </a:avLst>
            </a:prstGeom>
            <a:solidFill>
              <a:srgbClr val="C4B5FD"/>
            </a:solidFill>
            <a:ln/>
          </p:spPr>
          <p:txBody>
            <a:bodyPr wrap="square" rtlCol="0" anchor="ctr"/>
            <a:lstStyle/>
            <a:p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4" name="Text 49"/>
            <p:cNvSpPr/>
            <p:nvPr/>
          </p:nvSpPr>
          <p:spPr>
            <a:xfrm>
              <a:off x="8268308" y="5427312"/>
              <a:ext cx="998784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25%</a:t>
              </a:r>
              <a:endParaRPr lang="en-US" sz="1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5" name="Text 50"/>
            <p:cNvSpPr/>
            <p:nvPr/>
          </p:nvSpPr>
          <p:spPr>
            <a:xfrm>
              <a:off x="8268308" y="5701552"/>
              <a:ext cx="998784" cy="159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60"/>
                </a:lnSpc>
                <a:spcBef>
                  <a:spcPts val="200"/>
                </a:spcBef>
              </a:pP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Compliance</a:t>
              </a:r>
              <a:endParaRPr lang="en-US" sz="9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6" name="Text 51"/>
            <p:cNvSpPr/>
            <p:nvPr/>
          </p:nvSpPr>
          <p:spPr>
            <a:xfrm>
              <a:off x="9383242" y="5321376"/>
              <a:ext cx="904280" cy="637381"/>
            </a:xfrm>
            <a:prstGeom prst="roundRect">
              <a:avLst>
                <a:gd name="adj" fmla="val 7970"/>
              </a:avLst>
            </a:prstGeom>
            <a:solidFill>
              <a:srgbClr val="9CA3AF"/>
            </a:solidFill>
            <a:ln/>
          </p:spPr>
          <p:txBody>
            <a:bodyPr wrap="square" rtlCol="0" anchor="ctr"/>
            <a:lstStyle/>
            <a:p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7" name="Text 52"/>
            <p:cNvSpPr/>
            <p:nvPr/>
          </p:nvSpPr>
          <p:spPr>
            <a:xfrm>
              <a:off x="9470292" y="5427312"/>
              <a:ext cx="737578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20%</a:t>
              </a:r>
              <a:endParaRPr lang="en-US" sz="1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8" name="Text 53"/>
            <p:cNvSpPr/>
            <p:nvPr/>
          </p:nvSpPr>
          <p:spPr>
            <a:xfrm>
              <a:off x="9470292" y="5701552"/>
              <a:ext cx="737578" cy="159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60"/>
                </a:lnSpc>
                <a:spcBef>
                  <a:spcPts val="200"/>
                </a:spcBef>
              </a:pP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Remediation</a:t>
              </a:r>
              <a:endParaRPr lang="en-US" sz="9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59" name="Text 54"/>
            <p:cNvSpPr/>
            <p:nvPr/>
          </p:nvSpPr>
          <p:spPr>
            <a:xfrm>
              <a:off x="10348356" y="5329879"/>
              <a:ext cx="502840" cy="637381"/>
            </a:xfrm>
            <a:prstGeom prst="roundRect">
              <a:avLst>
                <a:gd name="adj" fmla="val 10103"/>
              </a:avLst>
            </a:prstGeom>
            <a:solidFill>
              <a:srgbClr val="6B7280"/>
            </a:solidFill>
            <a:ln/>
          </p:spPr>
          <p:txBody>
            <a:bodyPr wrap="square" rtlCol="0" anchor="ctr"/>
            <a:lstStyle/>
            <a:p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0" name="Text 55"/>
            <p:cNvSpPr/>
            <p:nvPr/>
          </p:nvSpPr>
          <p:spPr>
            <a:xfrm>
              <a:off x="10395145" y="5431479"/>
              <a:ext cx="409265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10%</a:t>
              </a:r>
              <a:endParaRPr lang="en-US" sz="1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1" name="Text 56"/>
            <p:cNvSpPr/>
            <p:nvPr/>
          </p:nvSpPr>
          <p:spPr>
            <a:xfrm>
              <a:off x="10332013" y="5741600"/>
              <a:ext cx="539250" cy="138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660"/>
                </a:lnSpc>
              </a:pP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SG</a:t>
              </a:r>
              <a:b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</a:b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Context</a:t>
              </a:r>
              <a:endParaRPr lang="en-US" sz="9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2" name="Text 57"/>
            <p:cNvSpPr/>
            <p:nvPr/>
          </p:nvSpPr>
          <p:spPr>
            <a:xfrm>
              <a:off x="10912030" y="5335268"/>
              <a:ext cx="882068" cy="637381"/>
            </a:xfrm>
            <a:prstGeom prst="roundRect">
              <a:avLst>
                <a:gd name="adj" fmla="val 10103"/>
              </a:avLst>
            </a:prstGeom>
            <a:solidFill>
              <a:srgbClr val="F5A3A3"/>
            </a:solidFill>
            <a:ln/>
          </p:spPr>
          <p:txBody>
            <a:bodyPr wrap="square" rtlCol="0" anchor="ctr"/>
            <a:lstStyle/>
            <a:p>
              <a:endParaRPr lang="en-US" sz="2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3" name="Text 58"/>
            <p:cNvSpPr/>
            <p:nvPr/>
          </p:nvSpPr>
          <p:spPr>
            <a:xfrm>
              <a:off x="11145383" y="5425359"/>
              <a:ext cx="409265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sz="1400" b="1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20%</a:t>
              </a:r>
              <a:endParaRPr lang="en-US" sz="14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4" name="Text 59"/>
            <p:cNvSpPr/>
            <p:nvPr/>
          </p:nvSpPr>
          <p:spPr>
            <a:xfrm>
              <a:off x="11145383" y="5699599"/>
              <a:ext cx="409265" cy="159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260"/>
                </a:lnSpc>
                <a:spcBef>
                  <a:spcPts val="200"/>
                </a:spcBef>
              </a:pPr>
              <a:r>
                <a:rPr lang="en-US" sz="900" dirty="0">
                  <a:solidFill>
                    <a:srgbClr val="FFFFFF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Arial" pitchFamily="34" charset="-120"/>
                </a:rPr>
                <a:t>Safety</a:t>
              </a:r>
              <a:endParaRPr lang="en-US" sz="9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sp>
        <p:nvSpPr>
          <p:cNvPr id="65" name="Shape 60"/>
          <p:cNvSpPr/>
          <p:nvPr/>
        </p:nvSpPr>
        <p:spPr>
          <a:xfrm>
            <a:off x="573453" y="6469946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6" name="Text 61"/>
          <p:cNvSpPr/>
          <p:nvPr/>
        </p:nvSpPr>
        <p:spPr>
          <a:xfrm>
            <a:off x="573453" y="6527098"/>
            <a:ext cx="116067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100" i="1" dirty="0" err="1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LalaEval</a:t>
            </a:r>
            <a:r>
              <a:rPr lang="en-US" sz="1100" i="1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: A Holistic Human Evaluation Framework for Domain-Specific Large Language Models  </a:t>
            </a:r>
            <a:r>
              <a:rPr lang="en-US" sz="1100" i="1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  <a:hlinkClick r:id="rId6"/>
              </a:rPr>
              <a:t>https://arxiv.org/abs/2408.13338</a:t>
            </a:r>
            <a:endParaRPr lang="en-US" sz="1100" i="1" dirty="0">
              <a:solidFill>
                <a:srgbClr val="64748B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 pitchFamily="34" charset="-120"/>
            </a:endParaRPr>
          </a:p>
          <a:p>
            <a:pPr>
              <a:lnSpc>
                <a:spcPts val="1260"/>
              </a:lnSpc>
            </a:pPr>
            <a:r>
              <a:rPr lang="en-US" sz="1100" i="1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</a:t>
            </a:r>
          </a:p>
          <a:p>
            <a:pPr>
              <a:lnSpc>
                <a:spcPts val="1260"/>
              </a:lnSpc>
            </a:pPr>
            <a:r>
              <a:rPr lang="en-US" sz="1100" i="1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 </a:t>
            </a:r>
            <a:endParaRPr lang="en-US" sz="1100" i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3A16F-81B3-5EB0-001F-5A57F0D99E66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9">
            <a:extLst>
              <a:ext uri="{FF2B5EF4-FFF2-40B4-BE49-F238E27FC236}">
                <a16:creationId xmlns:a16="http://schemas.microsoft.com/office/drawing/2014/main" id="{D9E0D4E1-DF3E-B498-713B-0260A74C26B9}"/>
              </a:ext>
            </a:extLst>
          </p:cNvPr>
          <p:cNvSpPr/>
          <p:nvPr/>
        </p:nvSpPr>
        <p:spPr>
          <a:xfrm>
            <a:off x="526279" y="2074957"/>
            <a:ext cx="11161787" cy="1340464"/>
          </a:xfrm>
          <a:prstGeom prst="roundRect">
            <a:avLst>
              <a:gd name="adj" fmla="val 763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10827345" y="161531"/>
            <a:ext cx="992808" cy="261540"/>
          </a:xfrm>
          <a:prstGeom prst="roundRect">
            <a:avLst>
              <a:gd name="adj" fmla="val 19423"/>
            </a:avLst>
          </a:prstGeom>
          <a:solidFill>
            <a:srgbClr val="A5C8F4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54345" y="209754"/>
            <a:ext cx="768548" cy="162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9107" y="346325"/>
            <a:ext cx="818771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Source Sans Pro" pitchFamily="34" charset="-122"/>
                <a:cs typeface="Source Sans Pro" pitchFamily="34" charset="-120"/>
              </a:rPr>
              <a:t>Establishing the Ground Truth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Tenorit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7723" y="925315"/>
            <a:ext cx="11176000" cy="921045"/>
          </a:xfrm>
          <a:prstGeom prst="roundRect">
            <a:avLst>
              <a:gd name="adj" fmla="val 1465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3062" y="925316"/>
            <a:ext cx="0" cy="900000"/>
          </a:xfrm>
          <a:prstGeom prst="line">
            <a:avLst/>
          </a:prstGeom>
          <a:noFill/>
          <a:ln w="38100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749024" y="1077716"/>
            <a:ext cx="109590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400"/>
              </a:spcAft>
            </a:pPr>
            <a:r>
              <a:rPr lang="en-US" sz="1600" b="1" dirty="0">
                <a:solidFill>
                  <a:srgbClr val="F5A3A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024" y="1288455"/>
            <a:ext cx="1095908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publicly available benchmark datasets exist for Singapore's CCoP 2.0. A custom ground-truth dataset must be constructed through multi-stage validation.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6707" y="5758646"/>
            <a:ext cx="11176000" cy="432962"/>
          </a:xfrm>
          <a:prstGeom prst="roundRect">
            <a:avLst>
              <a:gd name="adj" fmla="val 1840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97208" y="5885646"/>
            <a:ext cx="110109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9240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Current Status:</a:t>
            </a:r>
            <a:r>
              <a:rPr lang="en-US" sz="1200" dirty="0">
                <a:solidFill>
                  <a:srgbClr val="92400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Ground truth dataset sent to CCoP 2.0 compliance practitioner for expert validation. Awaiting approval before finalizing baseline evaluation.</a:t>
            </a:r>
            <a:endParaRPr lang="en-US" sz="7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E0E92F50-EB00-7429-6E3D-BA9230A87F92}"/>
              </a:ext>
            </a:extLst>
          </p:cNvPr>
          <p:cNvSpPr/>
          <p:nvPr/>
        </p:nvSpPr>
        <p:spPr>
          <a:xfrm>
            <a:off x="736326" y="2189914"/>
            <a:ext cx="8509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ource Sans Pro" pitchFamily="34" charset="-120"/>
              </a:rPr>
              <a:t>Ground Truth Creation Process</a:t>
            </a:r>
            <a:endParaRPr lang="en-US" sz="7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FA51FF5-506E-BB8F-ADC4-521DAAFCF23F}"/>
              </a:ext>
            </a:extLst>
          </p:cNvPr>
          <p:cNvGrpSpPr/>
          <p:nvPr/>
        </p:nvGrpSpPr>
        <p:grpSpPr>
          <a:xfrm>
            <a:off x="767580" y="2445725"/>
            <a:ext cx="1937836" cy="830235"/>
            <a:chOff x="944878" y="3574198"/>
            <a:chExt cx="1530130" cy="830235"/>
          </a:xfrm>
        </p:grpSpPr>
        <p:sp>
          <p:nvSpPr>
            <p:cNvPr id="65" name="Text 11">
              <a:extLst>
                <a:ext uri="{FF2B5EF4-FFF2-40B4-BE49-F238E27FC236}">
                  <a16:creationId xmlns:a16="http://schemas.microsoft.com/office/drawing/2014/main" id="{9B670817-250D-C6C2-7A98-262F52870CD6}"/>
                </a:ext>
              </a:extLst>
            </p:cNvPr>
            <p:cNvSpPr/>
            <p:nvPr/>
          </p:nvSpPr>
          <p:spPr>
            <a:xfrm>
              <a:off x="944878" y="3574198"/>
              <a:ext cx="1530129" cy="830235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6" name="Text 12">
              <a:extLst>
                <a:ext uri="{FF2B5EF4-FFF2-40B4-BE49-F238E27FC236}">
                  <a16:creationId xmlns:a16="http://schemas.microsoft.com/office/drawing/2014/main" id="{54F5938D-57A5-117D-A596-8B5F1DC2CFF1}"/>
                </a:ext>
              </a:extLst>
            </p:cNvPr>
            <p:cNvSpPr/>
            <p:nvPr/>
          </p:nvSpPr>
          <p:spPr>
            <a:xfrm>
              <a:off x="1038224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A5C8F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1. AI GENERATION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67" name="Text 13">
              <a:extLst>
                <a:ext uri="{FF2B5EF4-FFF2-40B4-BE49-F238E27FC236}">
                  <a16:creationId xmlns:a16="http://schemas.microsoft.com/office/drawing/2014/main" id="{33B60E3D-044F-08EF-5B19-D5731390E0B1}"/>
                </a:ext>
              </a:extLst>
            </p:cNvPr>
            <p:cNvSpPr/>
            <p:nvPr/>
          </p:nvSpPr>
          <p:spPr>
            <a:xfrm>
              <a:off x="944878" y="3827504"/>
              <a:ext cx="1530130" cy="29163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Claude AI generates 118 test cases across 21 benchmarks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8E9B9A4-7A00-E5B6-F9D7-B3B6E270E38E}"/>
              </a:ext>
            </a:extLst>
          </p:cNvPr>
          <p:cNvGrpSpPr/>
          <p:nvPr/>
        </p:nvGrpSpPr>
        <p:grpSpPr>
          <a:xfrm>
            <a:off x="3886839" y="2443718"/>
            <a:ext cx="1937835" cy="830236"/>
            <a:chOff x="2587053" y="3633932"/>
            <a:chExt cx="1867259" cy="830236"/>
          </a:xfrm>
        </p:grpSpPr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A81C1B71-8890-2CF4-4B4A-A6F01DFA2AAE}"/>
                </a:ext>
              </a:extLst>
            </p:cNvPr>
            <p:cNvSpPr/>
            <p:nvPr/>
          </p:nvSpPr>
          <p:spPr>
            <a:xfrm>
              <a:off x="2587053" y="3633932"/>
              <a:ext cx="1867259" cy="830236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70" name="Text 16">
              <a:extLst>
                <a:ext uri="{FF2B5EF4-FFF2-40B4-BE49-F238E27FC236}">
                  <a16:creationId xmlns:a16="http://schemas.microsoft.com/office/drawing/2014/main" id="{EC672CED-B92F-E739-EF08-E6B6D39132E4}"/>
                </a:ext>
              </a:extLst>
            </p:cNvPr>
            <p:cNvSpPr/>
            <p:nvPr/>
          </p:nvSpPr>
          <p:spPr>
            <a:xfrm>
              <a:off x="2770162" y="3739778"/>
              <a:ext cx="1411495" cy="977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C4B5FD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2. HUMAN REVIEW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71" name="Text 17">
              <a:extLst>
                <a:ext uri="{FF2B5EF4-FFF2-40B4-BE49-F238E27FC236}">
                  <a16:creationId xmlns:a16="http://schemas.microsoft.com/office/drawing/2014/main" id="{9461DE89-E874-3E1F-6D1C-112E3F89E359}"/>
                </a:ext>
              </a:extLst>
            </p:cNvPr>
            <p:cNvSpPr/>
            <p:nvPr/>
          </p:nvSpPr>
          <p:spPr>
            <a:xfrm>
              <a:off x="2777768" y="3898696"/>
              <a:ext cx="1411494" cy="3866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Bef>
                  <a:spcPts val="225"/>
                </a:spcBef>
              </a:pPr>
              <a:r>
                <a:rPr lang="en-US" sz="1200" dirty="0">
                  <a:solidFill>
                    <a:srgbClr val="64748B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Verify clauses against official CCoP 2.0 PDF</a:t>
              </a:r>
              <a:endParaRPr lang="en-US" sz="6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925D060-A577-B822-26B5-3DA10CBBDA2F}"/>
              </a:ext>
            </a:extLst>
          </p:cNvPr>
          <p:cNvGrpSpPr/>
          <p:nvPr/>
        </p:nvGrpSpPr>
        <p:grpSpPr>
          <a:xfrm>
            <a:off x="6864408" y="2450264"/>
            <a:ext cx="1937835" cy="823690"/>
            <a:chOff x="4288152" y="3610602"/>
            <a:chExt cx="1867259" cy="823690"/>
          </a:xfrm>
        </p:grpSpPr>
        <p:sp>
          <p:nvSpPr>
            <p:cNvPr id="73" name="Text 19">
              <a:extLst>
                <a:ext uri="{FF2B5EF4-FFF2-40B4-BE49-F238E27FC236}">
                  <a16:creationId xmlns:a16="http://schemas.microsoft.com/office/drawing/2014/main" id="{AC1F8F3F-BCFC-EEDE-EC90-E7A3FF566A57}"/>
                </a:ext>
              </a:extLst>
            </p:cNvPr>
            <p:cNvSpPr/>
            <p:nvPr/>
          </p:nvSpPr>
          <p:spPr>
            <a:xfrm>
              <a:off x="4288152" y="3610602"/>
              <a:ext cx="1867259" cy="823690"/>
            </a:xfrm>
            <a:prstGeom prst="roundRect">
              <a:avLst>
                <a:gd name="adj" fmla="val 123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74" name="Text 20">
              <a:extLst>
                <a:ext uri="{FF2B5EF4-FFF2-40B4-BE49-F238E27FC236}">
                  <a16:creationId xmlns:a16="http://schemas.microsoft.com/office/drawing/2014/main" id="{B20028AB-DE86-CDB9-A820-83CF049924F3}"/>
                </a:ext>
              </a:extLst>
            </p:cNvPr>
            <p:cNvSpPr/>
            <p:nvPr/>
          </p:nvSpPr>
          <p:spPr>
            <a:xfrm>
              <a:off x="4646984" y="3676930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F5A3A3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3. VALIDATION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75" name="Text 21">
              <a:extLst>
                <a:ext uri="{FF2B5EF4-FFF2-40B4-BE49-F238E27FC236}">
                  <a16:creationId xmlns:a16="http://schemas.microsoft.com/office/drawing/2014/main" id="{DE641F71-223C-BD6C-E2EF-6067E4F5372F}"/>
                </a:ext>
              </a:extLst>
            </p:cNvPr>
            <p:cNvSpPr/>
            <p:nvPr/>
          </p:nvSpPr>
          <p:spPr>
            <a:xfrm>
              <a:off x="4381498" y="3827504"/>
              <a:ext cx="1651398" cy="475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Bef>
                  <a:spcPts val="225"/>
                </a:spcBef>
              </a:pPr>
              <a:r>
                <a:rPr lang="en-US" sz="1200" dirty="0">
                  <a:solidFill>
                    <a:srgbClr val="64748B"/>
                  </a:solidFill>
                  <a:latin typeface="Source Sans Pro" pitchFamily="34" charset="0"/>
                  <a:ea typeface="Source Sans Pro" pitchFamily="34" charset="-122"/>
                  <a:cs typeface="Source Sans Pro" pitchFamily="34" charset="-120"/>
                </a:rPr>
                <a:t>Schema alignment, automated checks, JSONL format</a:t>
              </a:r>
              <a:endParaRPr lang="en-US" sz="600" dirty="0"/>
            </a:p>
          </p:txBody>
        </p:sp>
      </p:grpSp>
      <p:pic>
        <p:nvPicPr>
          <p:cNvPr id="84" name="Graphic 83" descr="Caret Right outline">
            <a:extLst>
              <a:ext uri="{FF2B5EF4-FFF2-40B4-BE49-F238E27FC236}">
                <a16:creationId xmlns:a16="http://schemas.microsoft.com/office/drawing/2014/main" id="{2F0D6D24-9428-298D-84DA-EC9AEB646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28558" y="2599293"/>
            <a:ext cx="415169" cy="400048"/>
          </a:xfrm>
          <a:prstGeom prst="rect">
            <a:avLst/>
          </a:prstGeom>
        </p:spPr>
      </p:pic>
      <p:sp>
        <p:nvSpPr>
          <p:cNvPr id="88" name="Text 21">
            <a:extLst>
              <a:ext uri="{FF2B5EF4-FFF2-40B4-BE49-F238E27FC236}">
                <a16:creationId xmlns:a16="http://schemas.microsoft.com/office/drawing/2014/main" id="{D943BA44-20DB-A73B-74EF-FE9DF8BFF802}"/>
              </a:ext>
            </a:extLst>
          </p:cNvPr>
          <p:cNvSpPr/>
          <p:nvPr/>
        </p:nvSpPr>
        <p:spPr>
          <a:xfrm>
            <a:off x="9533636" y="2450970"/>
            <a:ext cx="1927342" cy="822983"/>
          </a:xfrm>
          <a:prstGeom prst="roundRect">
            <a:avLst>
              <a:gd name="adj" fmla="val 11815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6" name="Graphic 85" descr="Caret Right outline">
            <a:extLst>
              <a:ext uri="{FF2B5EF4-FFF2-40B4-BE49-F238E27FC236}">
                <a16:creationId xmlns:a16="http://schemas.microsoft.com/office/drawing/2014/main" id="{F79D8FA6-81A0-18B7-BECD-41592545B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7023" y="2640865"/>
            <a:ext cx="415169" cy="400048"/>
          </a:xfrm>
          <a:prstGeom prst="rect">
            <a:avLst/>
          </a:prstGeom>
        </p:spPr>
      </p:pic>
      <p:pic>
        <p:nvPicPr>
          <p:cNvPr id="85" name="Graphic 84" descr="Caret Right outline">
            <a:extLst>
              <a:ext uri="{FF2B5EF4-FFF2-40B4-BE49-F238E27FC236}">
                <a16:creationId xmlns:a16="http://schemas.microsoft.com/office/drawing/2014/main" id="{9AC66554-029D-C079-EC8B-08C408219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230" y="2591945"/>
            <a:ext cx="415169" cy="400048"/>
          </a:xfrm>
          <a:prstGeom prst="rect">
            <a:avLst/>
          </a:prstGeom>
        </p:spPr>
      </p:pic>
      <p:grpSp>
        <p:nvGrpSpPr>
          <p:cNvPr id="76" name="Group 75">
            <a:extLst>
              <a:ext uri="{FF2B5EF4-FFF2-40B4-BE49-F238E27FC236}">
                <a16:creationId xmlns:a16="http://schemas.microsoft.com/office/drawing/2014/main" id="{248BABC7-F192-29A4-0569-431D383554D8}"/>
              </a:ext>
            </a:extLst>
          </p:cNvPr>
          <p:cNvGrpSpPr/>
          <p:nvPr/>
        </p:nvGrpSpPr>
        <p:grpSpPr>
          <a:xfrm>
            <a:off x="9788613" y="2508129"/>
            <a:ext cx="1404209" cy="255091"/>
            <a:chOff x="6053137" y="3678974"/>
            <a:chExt cx="1165860" cy="255091"/>
          </a:xfrm>
        </p:grpSpPr>
        <p:sp>
          <p:nvSpPr>
            <p:cNvPr id="78" name="Text 24">
              <a:extLst>
                <a:ext uri="{FF2B5EF4-FFF2-40B4-BE49-F238E27FC236}">
                  <a16:creationId xmlns:a16="http://schemas.microsoft.com/office/drawing/2014/main" id="{05CA8636-E6EB-69F8-2269-129209C69B53}"/>
                </a:ext>
              </a:extLst>
            </p:cNvPr>
            <p:cNvSpPr/>
            <p:nvPr/>
          </p:nvSpPr>
          <p:spPr>
            <a:xfrm>
              <a:off x="6053137" y="3678974"/>
              <a:ext cx="1165860" cy="1199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945"/>
                </a:lnSpc>
                <a:buNone/>
              </a:pPr>
              <a:r>
                <a:rPr lang="en-US" sz="1200" b="1" dirty="0">
                  <a:solidFill>
                    <a:srgbClr val="A5C8F4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4. EXPERT REVIEW</a:t>
              </a:r>
              <a:endParaRPr lang="en-US" sz="675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79" name="Text 25">
              <a:extLst>
                <a:ext uri="{FF2B5EF4-FFF2-40B4-BE49-F238E27FC236}">
                  <a16:creationId xmlns:a16="http://schemas.microsoft.com/office/drawing/2014/main" id="{766056F8-A299-EF23-EAB3-9366BB9A8D92}"/>
                </a:ext>
              </a:extLst>
            </p:cNvPr>
            <p:cNvSpPr/>
            <p:nvPr/>
          </p:nvSpPr>
          <p:spPr>
            <a:xfrm>
              <a:off x="6053137" y="3827504"/>
              <a:ext cx="1165860" cy="1065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CCOP Practitioner Validation </a:t>
              </a:r>
            </a:p>
            <a:p>
              <a:pPr marL="0" indent="0" algn="ctr">
                <a:spcBef>
                  <a:spcPts val="225"/>
                </a:spcBef>
                <a:buNone/>
              </a:pPr>
              <a:r>
                <a:rPr lang="en-US" sz="1200" dirty="0">
                  <a:solidFill>
                    <a:srgbClr val="64748B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Source Sans Pro" pitchFamily="34" charset="-120"/>
                </a:rPr>
                <a:t>(PENDING)</a:t>
              </a:r>
              <a:endParaRPr lang="en-US" sz="60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pic>
        <p:nvPicPr>
          <p:cNvPr id="120" name="Image 0" descr="/tmp/rasterized-gradient-6a4d86fc.png">
            <a:extLst>
              <a:ext uri="{FF2B5EF4-FFF2-40B4-BE49-F238E27FC236}">
                <a16:creationId xmlns:a16="http://schemas.microsoft.com/office/drawing/2014/main" id="{086FB6B1-BFB6-0D89-426B-4D8A59AE8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283" y="3707015"/>
            <a:ext cx="2588419" cy="1863030"/>
          </a:xfrm>
          <a:prstGeom prst="rect">
            <a:avLst/>
          </a:prstGeom>
        </p:spPr>
      </p:pic>
      <p:sp>
        <p:nvSpPr>
          <p:cNvPr id="121" name="Text 18">
            <a:extLst>
              <a:ext uri="{FF2B5EF4-FFF2-40B4-BE49-F238E27FC236}">
                <a16:creationId xmlns:a16="http://schemas.microsoft.com/office/drawing/2014/main" id="{C44FCA9B-D3D7-6B47-7532-8510DB6DF7AB}"/>
              </a:ext>
            </a:extLst>
          </p:cNvPr>
          <p:cNvSpPr/>
          <p:nvPr/>
        </p:nvSpPr>
        <p:spPr>
          <a:xfrm>
            <a:off x="3197633" y="3868940"/>
            <a:ext cx="236815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A5C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CLASSIFICATION</a:t>
            </a:r>
            <a:endParaRPr lang="en-US" sz="975" dirty="0"/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6AE2981A-AA1A-B56E-B39B-2E3594800EDF}"/>
              </a:ext>
            </a:extLst>
          </p:cNvPr>
          <p:cNvSpPr/>
          <p:nvPr/>
        </p:nvSpPr>
        <p:spPr>
          <a:xfrm>
            <a:off x="3197633" y="4093670"/>
            <a:ext cx="23681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Cases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(25%)</a:t>
            </a:r>
            <a:endParaRPr lang="en-US" sz="1500" dirty="0"/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39B87976-9085-90F2-A96E-C7FE99C03B2E}"/>
              </a:ext>
            </a:extLst>
          </p:cNvPr>
          <p:cNvSpPr/>
          <p:nvPr/>
        </p:nvSpPr>
        <p:spPr>
          <a:xfrm>
            <a:off x="3197633" y="4417520"/>
            <a:ext cx="23681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Applicability (8)</a:t>
            </a:r>
            <a:endParaRPr lang="en-US" sz="825" dirty="0"/>
          </a:p>
        </p:txBody>
      </p:sp>
      <p:sp>
        <p:nvSpPr>
          <p:cNvPr id="124" name="Text 21">
            <a:extLst>
              <a:ext uri="{FF2B5EF4-FFF2-40B4-BE49-F238E27FC236}">
                <a16:creationId xmlns:a16="http://schemas.microsoft.com/office/drawing/2014/main" id="{26E08BE9-E619-B7C6-037A-5001ADD0497B}"/>
              </a:ext>
            </a:extLst>
          </p:cNvPr>
          <p:cNvSpPr/>
          <p:nvPr/>
        </p:nvSpPr>
        <p:spPr>
          <a:xfrm>
            <a:off x="3197633" y="4612783"/>
            <a:ext cx="23681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Compliance (7)</a:t>
            </a:r>
            <a:endParaRPr lang="en-US" sz="825" dirty="0"/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65116A41-4E41-8F70-CABC-3730A7A7A9A0}"/>
              </a:ext>
            </a:extLst>
          </p:cNvPr>
          <p:cNvSpPr/>
          <p:nvPr/>
        </p:nvSpPr>
        <p:spPr>
          <a:xfrm>
            <a:off x="3197633" y="4808045"/>
            <a:ext cx="23681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IT/OT Systems (7)</a:t>
            </a:r>
            <a:endParaRPr lang="en-US" sz="825" dirty="0"/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207B2DE5-DDAB-0D71-22AE-5170F317BE92}"/>
              </a:ext>
            </a:extLst>
          </p:cNvPr>
          <p:cNvSpPr/>
          <p:nvPr/>
        </p:nvSpPr>
        <p:spPr>
          <a:xfrm>
            <a:off x="3197633" y="5003308"/>
            <a:ext cx="23681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Requirements (7)</a:t>
            </a:r>
            <a:endParaRPr lang="en-US" sz="825" dirty="0"/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CC23D54B-6D06-0A2D-1F37-73520A5E5F8F}"/>
              </a:ext>
            </a:extLst>
          </p:cNvPr>
          <p:cNvSpPr/>
          <p:nvPr/>
        </p:nvSpPr>
        <p:spPr>
          <a:xfrm>
            <a:off x="3197633" y="5241433"/>
            <a:ext cx="232171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83A5522-4856-0D22-4153-DF482FD85034}"/>
              </a:ext>
            </a:extLst>
          </p:cNvPr>
          <p:cNvSpPr/>
          <p:nvPr/>
        </p:nvSpPr>
        <p:spPr>
          <a:xfrm>
            <a:off x="3197633" y="5303345"/>
            <a:ext cx="23681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label-based accuracy scoring</a:t>
            </a:r>
            <a:endParaRPr lang="en-US" sz="750" dirty="0"/>
          </a:p>
        </p:txBody>
      </p:sp>
      <p:pic>
        <p:nvPicPr>
          <p:cNvPr id="129" name="Image 1" descr="/tmp/rasterized-gradient-2a876a78.png">
            <a:extLst>
              <a:ext uri="{FF2B5EF4-FFF2-40B4-BE49-F238E27FC236}">
                <a16:creationId xmlns:a16="http://schemas.microsoft.com/office/drawing/2014/main" id="{ABCA1158-06FF-0F98-A344-B0534B565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5102" y="3721302"/>
            <a:ext cx="3517106" cy="1834455"/>
          </a:xfrm>
          <a:prstGeom prst="rect">
            <a:avLst/>
          </a:prstGeom>
        </p:spPr>
      </p:pic>
      <p:sp>
        <p:nvSpPr>
          <p:cNvPr id="130" name="Text 26">
            <a:extLst>
              <a:ext uri="{FF2B5EF4-FFF2-40B4-BE49-F238E27FC236}">
                <a16:creationId xmlns:a16="http://schemas.microsoft.com/office/drawing/2014/main" id="{81FFB5C8-EFAE-5D20-4945-51D03D61EBBE}"/>
              </a:ext>
            </a:extLst>
          </p:cNvPr>
          <p:cNvSpPr/>
          <p:nvPr/>
        </p:nvSpPr>
        <p:spPr>
          <a:xfrm>
            <a:off x="5938452" y="3883227"/>
            <a:ext cx="3315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REASONING</a:t>
            </a:r>
            <a:endParaRPr lang="en-US" sz="975" dirty="0"/>
          </a:p>
        </p:txBody>
      </p:sp>
      <p:sp>
        <p:nvSpPr>
          <p:cNvPr id="131" name="Text 27">
            <a:extLst>
              <a:ext uri="{FF2B5EF4-FFF2-40B4-BE49-F238E27FC236}">
                <a16:creationId xmlns:a16="http://schemas.microsoft.com/office/drawing/2014/main" id="{F9B7476C-54B3-5FA8-0645-797037129AE8}"/>
              </a:ext>
            </a:extLst>
          </p:cNvPr>
          <p:cNvSpPr/>
          <p:nvPr/>
        </p:nvSpPr>
        <p:spPr>
          <a:xfrm>
            <a:off x="5938452" y="4107958"/>
            <a:ext cx="3315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Cases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(67%)</a:t>
            </a:r>
            <a:endParaRPr lang="en-US" sz="1500" dirty="0"/>
          </a:p>
        </p:txBody>
      </p:sp>
      <p:sp>
        <p:nvSpPr>
          <p:cNvPr id="132" name="Text 28">
            <a:extLst>
              <a:ext uri="{FF2B5EF4-FFF2-40B4-BE49-F238E27FC236}">
                <a16:creationId xmlns:a16="http://schemas.microsoft.com/office/drawing/2014/main" id="{5FD5B7F5-1F3D-B71E-C838-E4C355E7E166}"/>
              </a:ext>
            </a:extLst>
          </p:cNvPr>
          <p:cNvSpPr/>
          <p:nvPr/>
        </p:nvSpPr>
        <p:spPr>
          <a:xfrm>
            <a:off x="5938452" y="4431808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Conditional Compliance</a:t>
            </a:r>
            <a:endParaRPr lang="en-US" sz="825" dirty="0"/>
          </a:p>
        </p:txBody>
      </p:sp>
      <p:sp>
        <p:nvSpPr>
          <p:cNvPr id="133" name="Text 29">
            <a:extLst>
              <a:ext uri="{FF2B5EF4-FFF2-40B4-BE49-F238E27FC236}">
                <a16:creationId xmlns:a16="http://schemas.microsoft.com/office/drawing/2014/main" id="{7F338517-6D9F-3634-9E12-08D20962C40F}"/>
              </a:ext>
            </a:extLst>
          </p:cNvPr>
          <p:cNvSpPr/>
          <p:nvPr/>
        </p:nvSpPr>
        <p:spPr>
          <a:xfrm>
            <a:off x="5938452" y="4617545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Intent</a:t>
            </a:r>
            <a:endParaRPr lang="en-US" sz="825" dirty="0"/>
          </a:p>
        </p:txBody>
      </p:sp>
      <p:sp>
        <p:nvSpPr>
          <p:cNvPr id="134" name="Text 30">
            <a:extLst>
              <a:ext uri="{FF2B5EF4-FFF2-40B4-BE49-F238E27FC236}">
                <a16:creationId xmlns:a16="http://schemas.microsoft.com/office/drawing/2014/main" id="{14E31312-8ED2-5255-12A8-292FA7EA6034}"/>
              </a:ext>
            </a:extLst>
          </p:cNvPr>
          <p:cNvSpPr/>
          <p:nvPr/>
        </p:nvSpPr>
        <p:spPr>
          <a:xfrm>
            <a:off x="5938452" y="4803283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B7-B8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Gap Analysis</a:t>
            </a:r>
            <a:endParaRPr lang="en-US" sz="825" dirty="0"/>
          </a:p>
        </p:txBody>
      </p:sp>
      <p:sp>
        <p:nvSpPr>
          <p:cNvPr id="135" name="Text 31">
            <a:extLst>
              <a:ext uri="{FF2B5EF4-FFF2-40B4-BE49-F238E27FC236}">
                <a16:creationId xmlns:a16="http://schemas.microsoft.com/office/drawing/2014/main" id="{5485DEC5-07A2-7EA6-3026-09CC63F17A2F}"/>
              </a:ext>
            </a:extLst>
          </p:cNvPr>
          <p:cNvSpPr/>
          <p:nvPr/>
        </p:nvSpPr>
        <p:spPr>
          <a:xfrm>
            <a:off x="5938452" y="4989020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B9-B11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 Assessment</a:t>
            </a:r>
            <a:endParaRPr lang="en-US" sz="825" dirty="0"/>
          </a:p>
        </p:txBody>
      </p:sp>
      <p:sp>
        <p:nvSpPr>
          <p:cNvPr id="136" name="Text 32">
            <a:extLst>
              <a:ext uri="{FF2B5EF4-FFF2-40B4-BE49-F238E27FC236}">
                <a16:creationId xmlns:a16="http://schemas.microsoft.com/office/drawing/2014/main" id="{93013910-393C-DA3C-89B2-D2E4A7F78E7D}"/>
              </a:ext>
            </a:extLst>
          </p:cNvPr>
          <p:cNvSpPr/>
          <p:nvPr/>
        </p:nvSpPr>
        <p:spPr>
          <a:xfrm>
            <a:off x="7611280" y="4431808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B12-B13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Audit Awareness</a:t>
            </a:r>
            <a:endParaRPr lang="en-US" sz="825" dirty="0"/>
          </a:p>
        </p:txBody>
      </p:sp>
      <p:sp>
        <p:nvSpPr>
          <p:cNvPr id="137" name="Text 33">
            <a:extLst>
              <a:ext uri="{FF2B5EF4-FFF2-40B4-BE49-F238E27FC236}">
                <a16:creationId xmlns:a16="http://schemas.microsoft.com/office/drawing/2014/main" id="{02642167-DFFC-CEA3-7B86-A37FDEF44591}"/>
              </a:ext>
            </a:extLst>
          </p:cNvPr>
          <p:cNvSpPr/>
          <p:nvPr/>
        </p:nvSpPr>
        <p:spPr>
          <a:xfrm>
            <a:off x="7611280" y="4617545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B14-B16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Remediation</a:t>
            </a:r>
            <a:endParaRPr lang="en-US" sz="825" dirty="0"/>
          </a:p>
        </p:txBody>
      </p:sp>
      <p:sp>
        <p:nvSpPr>
          <p:cNvPr id="138" name="Text 34">
            <a:extLst>
              <a:ext uri="{FF2B5EF4-FFF2-40B4-BE49-F238E27FC236}">
                <a16:creationId xmlns:a16="http://schemas.microsoft.com/office/drawing/2014/main" id="{C0F74B2F-4CAB-6D84-DBC5-61892AF45567}"/>
              </a:ext>
            </a:extLst>
          </p:cNvPr>
          <p:cNvSpPr/>
          <p:nvPr/>
        </p:nvSpPr>
        <p:spPr>
          <a:xfrm>
            <a:off x="7611280" y="4803283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B17-B18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Governance</a:t>
            </a:r>
            <a:endParaRPr lang="en-US" sz="825" dirty="0"/>
          </a:p>
        </p:txBody>
      </p:sp>
      <p:sp>
        <p:nvSpPr>
          <p:cNvPr id="139" name="Text 35">
            <a:extLst>
              <a:ext uri="{FF2B5EF4-FFF2-40B4-BE49-F238E27FC236}">
                <a16:creationId xmlns:a16="http://schemas.microsoft.com/office/drawing/2014/main" id="{E402E646-C345-8413-7655-CD265F667908}"/>
              </a:ext>
            </a:extLst>
          </p:cNvPr>
          <p:cNvSpPr/>
          <p:nvPr/>
        </p:nvSpPr>
        <p:spPr>
          <a:xfrm>
            <a:off x="7611280" y="4989020"/>
            <a:ext cx="160913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B19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Consistency</a:t>
            </a:r>
            <a:endParaRPr lang="en-US" sz="825" dirty="0"/>
          </a:p>
        </p:txBody>
      </p:sp>
      <p:sp>
        <p:nvSpPr>
          <p:cNvPr id="140" name="Shape 36">
            <a:extLst>
              <a:ext uri="{FF2B5EF4-FFF2-40B4-BE49-F238E27FC236}">
                <a16:creationId xmlns:a16="http://schemas.microsoft.com/office/drawing/2014/main" id="{E3BF67AE-3092-005B-AC77-99C36D20472D}"/>
              </a:ext>
            </a:extLst>
          </p:cNvPr>
          <p:cNvSpPr/>
          <p:nvPr/>
        </p:nvSpPr>
        <p:spPr>
          <a:xfrm>
            <a:off x="5938452" y="5227145"/>
            <a:ext cx="325040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37">
            <a:extLst>
              <a:ext uri="{FF2B5EF4-FFF2-40B4-BE49-F238E27FC236}">
                <a16:creationId xmlns:a16="http://schemas.microsoft.com/office/drawing/2014/main" id="{5DC90B67-DF09-EDE3-F9EB-B3E8B563FE63}"/>
              </a:ext>
            </a:extLst>
          </p:cNvPr>
          <p:cNvSpPr/>
          <p:nvPr/>
        </p:nvSpPr>
        <p:spPr>
          <a:xfrm>
            <a:off x="5938452" y="5289058"/>
            <a:ext cx="33154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 + key fact recall + expert validation (20%)</a:t>
            </a:r>
            <a:endParaRPr lang="en-US" sz="750" dirty="0"/>
          </a:p>
        </p:txBody>
      </p:sp>
      <p:pic>
        <p:nvPicPr>
          <p:cNvPr id="142" name="Image 2" descr="/tmp/rasterized-gradient-0b7a1443.png">
            <a:extLst>
              <a:ext uri="{FF2B5EF4-FFF2-40B4-BE49-F238E27FC236}">
                <a16:creationId xmlns:a16="http://schemas.microsoft.com/office/drawing/2014/main" id="{BED08A31-7BE3-6901-97E1-E155F53401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4608" y="3764165"/>
            <a:ext cx="2124075" cy="1748730"/>
          </a:xfrm>
          <a:prstGeom prst="rect">
            <a:avLst/>
          </a:prstGeom>
        </p:spPr>
      </p:pic>
      <p:sp>
        <p:nvSpPr>
          <p:cNvPr id="143" name="Text 38">
            <a:extLst>
              <a:ext uri="{FF2B5EF4-FFF2-40B4-BE49-F238E27FC236}">
                <a16:creationId xmlns:a16="http://schemas.microsoft.com/office/drawing/2014/main" id="{8088A43B-C2C2-E346-AD14-11E3A91EDB8A}"/>
              </a:ext>
            </a:extLst>
          </p:cNvPr>
          <p:cNvSpPr/>
          <p:nvPr/>
        </p:nvSpPr>
        <p:spPr>
          <a:xfrm>
            <a:off x="9607958" y="3926090"/>
            <a:ext cx="189452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5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SAFETY</a:t>
            </a:r>
            <a:endParaRPr lang="en-US" sz="975" dirty="0"/>
          </a:p>
        </p:txBody>
      </p:sp>
      <p:sp>
        <p:nvSpPr>
          <p:cNvPr id="144" name="Text 39">
            <a:extLst>
              <a:ext uri="{FF2B5EF4-FFF2-40B4-BE49-F238E27FC236}">
                <a16:creationId xmlns:a16="http://schemas.microsoft.com/office/drawing/2014/main" id="{47BB23A8-3BDE-9A2B-1CA8-C1673F84043A}"/>
              </a:ext>
            </a:extLst>
          </p:cNvPr>
          <p:cNvSpPr/>
          <p:nvPr/>
        </p:nvSpPr>
        <p:spPr>
          <a:xfrm>
            <a:off x="9607958" y="4150820"/>
            <a:ext cx="18945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Cases 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(8%)</a:t>
            </a:r>
            <a:endParaRPr lang="en-US" sz="1500" dirty="0"/>
          </a:p>
        </p:txBody>
      </p:sp>
      <p:sp>
        <p:nvSpPr>
          <p:cNvPr id="145" name="Text 40">
            <a:extLst>
              <a:ext uri="{FF2B5EF4-FFF2-40B4-BE49-F238E27FC236}">
                <a16:creationId xmlns:a16="http://schemas.microsoft.com/office/drawing/2014/main" id="{A5B80479-C294-FB07-1F7F-DC992398A887}"/>
              </a:ext>
            </a:extLst>
          </p:cNvPr>
          <p:cNvSpPr/>
          <p:nvPr/>
        </p:nvSpPr>
        <p:spPr>
          <a:xfrm>
            <a:off x="9607958" y="4474670"/>
            <a:ext cx="189452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Over-Specification (3)</a:t>
            </a:r>
            <a:endParaRPr lang="en-US" sz="825" dirty="0"/>
          </a:p>
        </p:txBody>
      </p:sp>
      <p:sp>
        <p:nvSpPr>
          <p:cNvPr id="146" name="Text 41">
            <a:extLst>
              <a:ext uri="{FF2B5EF4-FFF2-40B4-BE49-F238E27FC236}">
                <a16:creationId xmlns:a16="http://schemas.microsoft.com/office/drawing/2014/main" id="{BFB1FE8D-45C6-A155-EC2D-EB9E821D57EB}"/>
              </a:ext>
            </a:extLst>
          </p:cNvPr>
          <p:cNvSpPr/>
          <p:nvPr/>
        </p:nvSpPr>
        <p:spPr>
          <a:xfrm>
            <a:off x="9607958" y="4669933"/>
            <a:ext cx="189452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Aft>
                <a:spcPts val="900"/>
              </a:spcAft>
              <a:buNone/>
            </a:pPr>
            <a:r>
              <a:rPr lang="en-US" sz="8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B21</a:t>
            </a:r>
            <a:r>
              <a:rPr lang="en-US" sz="8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Hallucination (7)</a:t>
            </a:r>
            <a:endParaRPr lang="en-US" sz="825" dirty="0"/>
          </a:p>
        </p:txBody>
      </p:sp>
      <p:sp>
        <p:nvSpPr>
          <p:cNvPr id="147" name="Text 42">
            <a:extLst>
              <a:ext uri="{FF2B5EF4-FFF2-40B4-BE49-F238E27FC236}">
                <a16:creationId xmlns:a16="http://schemas.microsoft.com/office/drawing/2014/main" id="{507AAD40-6CE7-9B22-C56E-85E1787B8C40}"/>
              </a:ext>
            </a:extLst>
          </p:cNvPr>
          <p:cNvSpPr/>
          <p:nvPr/>
        </p:nvSpPr>
        <p:spPr>
          <a:xfrm>
            <a:off x="9607958" y="4941395"/>
            <a:ext cx="1857375" cy="247650"/>
          </a:xfrm>
          <a:prstGeom prst="roundRect">
            <a:avLst>
              <a:gd name="adj" fmla="val 15385"/>
            </a:avLst>
          </a:prstGeom>
          <a:solidFill>
            <a:srgbClr val="F5A3A3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8" name="Text 43">
            <a:extLst>
              <a:ext uri="{FF2B5EF4-FFF2-40B4-BE49-F238E27FC236}">
                <a16:creationId xmlns:a16="http://schemas.microsoft.com/office/drawing/2014/main" id="{5230DA04-616C-5CCF-6E2E-7C40D4FAF7AF}"/>
              </a:ext>
            </a:extLst>
          </p:cNvPr>
          <p:cNvSpPr/>
          <p:nvPr/>
        </p:nvSpPr>
        <p:spPr>
          <a:xfrm>
            <a:off x="9665108" y="4998545"/>
            <a:ext cx="177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Single fabrication = failure</a:t>
            </a:r>
            <a:endParaRPr lang="en-US" sz="750" dirty="0"/>
          </a:p>
        </p:txBody>
      </p:sp>
      <p:sp>
        <p:nvSpPr>
          <p:cNvPr id="149" name="Text 44">
            <a:extLst>
              <a:ext uri="{FF2B5EF4-FFF2-40B4-BE49-F238E27FC236}">
                <a16:creationId xmlns:a16="http://schemas.microsoft.com/office/drawing/2014/main" id="{80745289-B323-8086-1179-D6BB687C749E}"/>
              </a:ext>
            </a:extLst>
          </p:cNvPr>
          <p:cNvSpPr/>
          <p:nvPr/>
        </p:nvSpPr>
        <p:spPr>
          <a:xfrm>
            <a:off x="9607958" y="5246195"/>
            <a:ext cx="18945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+ human validation</a:t>
            </a:r>
            <a:endParaRPr lang="en-US" sz="750" dirty="0"/>
          </a:p>
        </p:txBody>
      </p:sp>
      <p:sp>
        <p:nvSpPr>
          <p:cNvPr id="150" name="Text 2">
            <a:extLst>
              <a:ext uri="{FF2B5EF4-FFF2-40B4-BE49-F238E27FC236}">
                <a16:creationId xmlns:a16="http://schemas.microsoft.com/office/drawing/2014/main" id="{33819026-7543-995A-750A-506A368E5BBB}"/>
              </a:ext>
            </a:extLst>
          </p:cNvPr>
          <p:cNvSpPr/>
          <p:nvPr/>
        </p:nvSpPr>
        <p:spPr>
          <a:xfrm>
            <a:off x="600005" y="3696944"/>
            <a:ext cx="2019300" cy="386357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2" name="Text 4">
            <a:extLst>
              <a:ext uri="{FF2B5EF4-FFF2-40B4-BE49-F238E27FC236}">
                <a16:creationId xmlns:a16="http://schemas.microsoft.com/office/drawing/2014/main" id="{10565DB3-5A03-1462-423D-284D1C776E38}"/>
              </a:ext>
            </a:extLst>
          </p:cNvPr>
          <p:cNvSpPr/>
          <p:nvPr/>
        </p:nvSpPr>
        <p:spPr>
          <a:xfrm>
            <a:off x="744519" y="3754640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5C8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800" dirty="0"/>
          </a:p>
        </p:txBody>
      </p:sp>
      <p:sp>
        <p:nvSpPr>
          <p:cNvPr id="153" name="Text 5">
            <a:extLst>
              <a:ext uri="{FF2B5EF4-FFF2-40B4-BE49-F238E27FC236}">
                <a16:creationId xmlns:a16="http://schemas.microsoft.com/office/drawing/2014/main" id="{37066C9F-274D-9D72-ECA9-D5D2273011AC}"/>
              </a:ext>
            </a:extLst>
          </p:cNvPr>
          <p:cNvSpPr/>
          <p:nvPr/>
        </p:nvSpPr>
        <p:spPr>
          <a:xfrm>
            <a:off x="1196032" y="3844046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825" dirty="0"/>
          </a:p>
        </p:txBody>
      </p:sp>
      <p:sp>
        <p:nvSpPr>
          <p:cNvPr id="154" name="Text 6">
            <a:extLst>
              <a:ext uri="{FF2B5EF4-FFF2-40B4-BE49-F238E27FC236}">
                <a16:creationId xmlns:a16="http://schemas.microsoft.com/office/drawing/2014/main" id="{339AB258-3889-2767-7C5E-8BBD289979E3}"/>
              </a:ext>
            </a:extLst>
          </p:cNvPr>
          <p:cNvSpPr/>
          <p:nvPr/>
        </p:nvSpPr>
        <p:spPr>
          <a:xfrm>
            <a:off x="605302" y="4202430"/>
            <a:ext cx="2019300" cy="386357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6" name="Text 8">
            <a:extLst>
              <a:ext uri="{FF2B5EF4-FFF2-40B4-BE49-F238E27FC236}">
                <a16:creationId xmlns:a16="http://schemas.microsoft.com/office/drawing/2014/main" id="{2602CDEE-B201-01FC-D034-63C5BAA06116}"/>
              </a:ext>
            </a:extLst>
          </p:cNvPr>
          <p:cNvSpPr/>
          <p:nvPr/>
        </p:nvSpPr>
        <p:spPr>
          <a:xfrm>
            <a:off x="779229" y="4258044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157" name="Text 9">
            <a:extLst>
              <a:ext uri="{FF2B5EF4-FFF2-40B4-BE49-F238E27FC236}">
                <a16:creationId xmlns:a16="http://schemas.microsoft.com/office/drawing/2014/main" id="{F4D7ABA9-14AD-8486-24D1-01B16CE2C2C4}"/>
              </a:ext>
            </a:extLst>
          </p:cNvPr>
          <p:cNvSpPr/>
          <p:nvPr/>
        </p:nvSpPr>
        <p:spPr>
          <a:xfrm>
            <a:off x="1086485" y="435108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25" dirty="0"/>
          </a:p>
        </p:txBody>
      </p:sp>
      <p:sp>
        <p:nvSpPr>
          <p:cNvPr id="158" name="Text 10">
            <a:extLst>
              <a:ext uri="{FF2B5EF4-FFF2-40B4-BE49-F238E27FC236}">
                <a16:creationId xmlns:a16="http://schemas.microsoft.com/office/drawing/2014/main" id="{80AB3949-24DB-1E48-A662-F8292FCA3D27}"/>
              </a:ext>
            </a:extLst>
          </p:cNvPr>
          <p:cNvSpPr/>
          <p:nvPr/>
        </p:nvSpPr>
        <p:spPr>
          <a:xfrm>
            <a:off x="605302" y="4698067"/>
            <a:ext cx="2019300" cy="386357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0" name="Text 12">
            <a:extLst>
              <a:ext uri="{FF2B5EF4-FFF2-40B4-BE49-F238E27FC236}">
                <a16:creationId xmlns:a16="http://schemas.microsoft.com/office/drawing/2014/main" id="{8CF552A2-E348-428D-61CC-5E8474CCEC98}"/>
              </a:ext>
            </a:extLst>
          </p:cNvPr>
          <p:cNvSpPr/>
          <p:nvPr/>
        </p:nvSpPr>
        <p:spPr>
          <a:xfrm>
            <a:off x="757591" y="4731255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61" name="Text 13">
            <a:extLst>
              <a:ext uri="{FF2B5EF4-FFF2-40B4-BE49-F238E27FC236}">
                <a16:creationId xmlns:a16="http://schemas.microsoft.com/office/drawing/2014/main" id="{FC5D18F0-1FAD-D212-AC83-99A8FFFC2898}"/>
              </a:ext>
            </a:extLst>
          </p:cNvPr>
          <p:cNvSpPr/>
          <p:nvPr/>
        </p:nvSpPr>
        <p:spPr>
          <a:xfrm>
            <a:off x="1402900" y="4814198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CCoP Coverage</a:t>
            </a:r>
            <a:endParaRPr lang="en-US" sz="825" dirty="0"/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82154D45-CC15-504F-9018-6F73C7EC90EB}"/>
              </a:ext>
            </a:extLst>
          </p:cNvPr>
          <p:cNvSpPr/>
          <p:nvPr/>
        </p:nvSpPr>
        <p:spPr>
          <a:xfrm>
            <a:off x="597079" y="5148267"/>
            <a:ext cx="2019300" cy="386357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EAFEFC79-5066-E2BA-0763-B26908E0CC38}"/>
              </a:ext>
            </a:extLst>
          </p:cNvPr>
          <p:cNvSpPr/>
          <p:nvPr/>
        </p:nvSpPr>
        <p:spPr>
          <a:xfrm>
            <a:off x="768529" y="5201473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</a:t>
            </a:r>
            <a:endParaRPr lang="en-US" sz="1800" dirty="0"/>
          </a:p>
        </p:txBody>
      </p:sp>
      <p:sp>
        <p:nvSpPr>
          <p:cNvPr id="165" name="Text 17">
            <a:extLst>
              <a:ext uri="{FF2B5EF4-FFF2-40B4-BE49-F238E27FC236}">
                <a16:creationId xmlns:a16="http://schemas.microsoft.com/office/drawing/2014/main" id="{157C68B3-C7C4-4751-64B0-28379A60F778}"/>
              </a:ext>
            </a:extLst>
          </p:cNvPr>
          <p:cNvSpPr/>
          <p:nvPr/>
        </p:nvSpPr>
        <p:spPr>
          <a:xfrm>
            <a:off x="1264257" y="5282435"/>
            <a:ext cx="1748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Facts</a:t>
            </a:r>
            <a:endParaRPr lang="en-US" sz="825" dirty="0"/>
          </a:p>
        </p:txBody>
      </p:sp>
      <p:sp>
        <p:nvSpPr>
          <p:cNvPr id="167" name="Shape 3">
            <a:extLst>
              <a:ext uri="{FF2B5EF4-FFF2-40B4-BE49-F238E27FC236}">
                <a16:creationId xmlns:a16="http://schemas.microsoft.com/office/drawing/2014/main" id="{2A4C0910-863D-0170-96E8-3C1BE02351F7}"/>
              </a:ext>
            </a:extLst>
          </p:cNvPr>
          <p:cNvSpPr/>
          <p:nvPr/>
        </p:nvSpPr>
        <p:spPr>
          <a:xfrm>
            <a:off x="612816" y="3696944"/>
            <a:ext cx="0" cy="396000"/>
          </a:xfrm>
          <a:prstGeom prst="line">
            <a:avLst/>
          </a:prstGeom>
          <a:noFill/>
          <a:ln w="38100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7">
            <a:extLst>
              <a:ext uri="{FF2B5EF4-FFF2-40B4-BE49-F238E27FC236}">
                <a16:creationId xmlns:a16="http://schemas.microsoft.com/office/drawing/2014/main" id="{733D0052-3A93-A7B0-2109-69E851AF82BE}"/>
              </a:ext>
            </a:extLst>
          </p:cNvPr>
          <p:cNvSpPr/>
          <p:nvPr/>
        </p:nvSpPr>
        <p:spPr>
          <a:xfrm>
            <a:off x="616069" y="4192787"/>
            <a:ext cx="0" cy="396000"/>
          </a:xfrm>
          <a:prstGeom prst="line">
            <a:avLst/>
          </a:prstGeom>
          <a:noFill/>
          <a:ln w="381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1">
            <a:extLst>
              <a:ext uri="{FF2B5EF4-FFF2-40B4-BE49-F238E27FC236}">
                <a16:creationId xmlns:a16="http://schemas.microsoft.com/office/drawing/2014/main" id="{2760D884-5C36-17D4-E201-3DF27A9BCE65}"/>
              </a:ext>
            </a:extLst>
          </p:cNvPr>
          <p:cNvSpPr/>
          <p:nvPr/>
        </p:nvSpPr>
        <p:spPr>
          <a:xfrm>
            <a:off x="612816" y="4688424"/>
            <a:ext cx="0" cy="396000"/>
          </a:xfrm>
          <a:prstGeom prst="line">
            <a:avLst/>
          </a:prstGeom>
          <a:noFill/>
          <a:ln w="38100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5">
            <a:extLst>
              <a:ext uri="{FF2B5EF4-FFF2-40B4-BE49-F238E27FC236}">
                <a16:creationId xmlns:a16="http://schemas.microsoft.com/office/drawing/2014/main" id="{A428A469-BAB3-BA8E-88CE-FBBBE9E7C74C}"/>
              </a:ext>
            </a:extLst>
          </p:cNvPr>
          <p:cNvSpPr/>
          <p:nvPr/>
        </p:nvSpPr>
        <p:spPr>
          <a:xfrm>
            <a:off x="613644" y="5146183"/>
            <a:ext cx="0" cy="396000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18A797-F06F-A2A8-996C-F11629FCE7C7}"/>
              </a:ext>
            </a:extLst>
          </p:cNvPr>
          <p:cNvSpPr txBox="1"/>
          <p:nvPr/>
        </p:nvSpPr>
        <p:spPr>
          <a:xfrm>
            <a:off x="11776719" y="640080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700" y="313431"/>
            <a:ext cx="58163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4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</a:rPr>
              <a:t>Project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 Plan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33655" y="744538"/>
            <a:ext cx="1160678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September 2025 – August 2026 | 12-month development timeline</a:t>
            </a:r>
            <a:endParaRPr lang="en-US" sz="1200" dirty="0">
              <a:latin typeface="Tenorite" pitchFamily="2" charset="0"/>
            </a:endParaRPr>
          </a:p>
        </p:txBody>
      </p:sp>
      <p:pic>
        <p:nvPicPr>
          <p:cNvPr id="4" name="Image 0" descr="/tmp/rasterized-gradient-f8dd96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508720"/>
            <a:ext cx="10363200" cy="50800"/>
          </a:xfrm>
          <a:prstGeom prst="rect">
            <a:avLst/>
          </a:prstGeom>
        </p:spPr>
      </p:pic>
      <p:pic>
        <p:nvPicPr>
          <p:cNvPr id="5" name="Image 1" descr="/tmp/rasterized-gradient-73ab8e7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900" y="1203920"/>
            <a:ext cx="609600" cy="6096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1979730" y="1348781"/>
            <a:ext cx="12974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74700" y="1940520"/>
            <a:ext cx="2540000" cy="1526976"/>
          </a:xfrm>
          <a:prstGeom prst="roundRect">
            <a:avLst>
              <a:gd name="adj" fmla="val 6654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74700" y="1959571"/>
            <a:ext cx="2540000" cy="0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78840" y="2105621"/>
            <a:ext cx="23317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SEP – OCT 2025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78840" y="2290962"/>
            <a:ext cx="23317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1: Foundation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78840" y="2549922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Local infrastructure setup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78840" y="2723754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configuration (QLoRA)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78840" y="2897585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Evaluation framework design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652191" y="3122217"/>
            <a:ext cx="784820" cy="218281"/>
          </a:xfrm>
          <a:prstGeom prst="roundRect">
            <a:avLst>
              <a:gd name="adj" fmla="val 17455"/>
            </a:avLst>
          </a:prstGeom>
          <a:solidFill>
            <a:srgbClr val="A5C8F4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722067" y="3160317"/>
            <a:ext cx="64506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9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COMPLETED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6" name="Image 2" descr="/tmp/rasterized-gradient-85f368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835" y="1203920"/>
            <a:ext cx="609600" cy="6096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7" name="Text 12"/>
          <p:cNvSpPr/>
          <p:nvPr/>
        </p:nvSpPr>
        <p:spPr>
          <a:xfrm>
            <a:off x="4756665" y="1348781"/>
            <a:ext cx="12974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551635" y="1940520"/>
            <a:ext cx="2540000" cy="1526976"/>
          </a:xfrm>
          <a:prstGeom prst="roundRect">
            <a:avLst>
              <a:gd name="adj" fmla="val 665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551635" y="1959571"/>
            <a:ext cx="2540000" cy="0"/>
          </a:xfrm>
          <a:prstGeom prst="line">
            <a:avLst/>
          </a:prstGeom>
          <a:noFill/>
          <a:ln w="285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655775" y="2105621"/>
            <a:ext cx="23317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NOV 2025 – JAN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655775" y="2290962"/>
            <a:ext cx="23317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2: Baseline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3655775" y="2549922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Ground truth establishment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3655775" y="2723754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21 benchmark evaluation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3655775" y="2897585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comparison study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392415" y="3122217"/>
            <a:ext cx="858243" cy="218281"/>
          </a:xfrm>
          <a:prstGeom prst="roundRect">
            <a:avLst>
              <a:gd name="adj" fmla="val 17455"/>
            </a:avLst>
          </a:prstGeom>
          <a:solidFill>
            <a:srgbClr val="C4B5FD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4461557" y="3160317"/>
            <a:ext cx="71995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900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 PROGRESS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7" name="Image 3" descr="/tmp/rasterized-gradient-3a35909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3769" y="1203920"/>
            <a:ext cx="609600" cy="6096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28" name="Text 22"/>
          <p:cNvSpPr/>
          <p:nvPr/>
        </p:nvSpPr>
        <p:spPr>
          <a:xfrm>
            <a:off x="7533599" y="1348781"/>
            <a:ext cx="12974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3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328569" y="1940520"/>
            <a:ext cx="2540000" cy="1526976"/>
          </a:xfrm>
          <a:prstGeom prst="roundRect">
            <a:avLst>
              <a:gd name="adj" fmla="val 665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6328569" y="1959571"/>
            <a:ext cx="2540000" cy="0"/>
          </a:xfrm>
          <a:prstGeom prst="line">
            <a:avLst/>
          </a:prstGeom>
          <a:noFill/>
          <a:ln w="28575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6432709" y="2105621"/>
            <a:ext cx="23317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FEB – MAY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432709" y="2290962"/>
            <a:ext cx="23317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3: Fine-tuning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432709" y="2549922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QLoRA training on CCoP 2.0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432709" y="2723754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Iterative improvement cycles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432709" y="2897585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Target: 85% or higher accuracy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7282261" y="3122217"/>
            <a:ext cx="632420" cy="218281"/>
          </a:xfrm>
          <a:prstGeom prst="roundRect">
            <a:avLst>
              <a:gd name="adj" fmla="val 1745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7353659" y="3160317"/>
            <a:ext cx="48962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PLANNED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8" name="Image 4" descr="/tmp/rasterized-gradient-c3831b8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0703" y="1203920"/>
            <a:ext cx="609600" cy="6096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39" name="Text 32"/>
          <p:cNvSpPr/>
          <p:nvPr/>
        </p:nvSpPr>
        <p:spPr>
          <a:xfrm>
            <a:off x="10310534" y="1348781"/>
            <a:ext cx="129743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520"/>
              </a:lnSpc>
            </a:pPr>
            <a:r>
              <a:rPr lang="en-US" sz="20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9105503" y="1940520"/>
            <a:ext cx="2540000" cy="1526976"/>
          </a:xfrm>
          <a:prstGeom prst="roundRect">
            <a:avLst>
              <a:gd name="adj" fmla="val 665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Shape 34"/>
          <p:cNvSpPr/>
          <p:nvPr/>
        </p:nvSpPr>
        <p:spPr>
          <a:xfrm>
            <a:off x="9105503" y="1959571"/>
            <a:ext cx="2540000" cy="0"/>
          </a:xfrm>
          <a:prstGeom prst="line">
            <a:avLst/>
          </a:prstGeom>
          <a:noFill/>
          <a:ln w="28575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9209643" y="2105621"/>
            <a:ext cx="23317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Aft>
                <a:spcPts val="200"/>
              </a:spcAft>
            </a:pPr>
            <a:r>
              <a:rPr lang="en-US" sz="10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JUN – AUG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36"/>
          <p:cNvSpPr/>
          <p:nvPr/>
        </p:nvSpPr>
        <p:spPr>
          <a:xfrm>
            <a:off x="9209643" y="2290962"/>
            <a:ext cx="233172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4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4: Deployment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4" name="Text 37"/>
          <p:cNvSpPr/>
          <p:nvPr/>
        </p:nvSpPr>
        <p:spPr>
          <a:xfrm>
            <a:off x="9209643" y="2549922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Air-gapped environment setup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Text 38"/>
          <p:cNvSpPr/>
          <p:nvPr/>
        </p:nvSpPr>
        <p:spPr>
          <a:xfrm>
            <a:off x="9209643" y="2723754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CI/CD pipeline integration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Text 39"/>
          <p:cNvSpPr/>
          <p:nvPr/>
        </p:nvSpPr>
        <p:spPr>
          <a:xfrm>
            <a:off x="9209643" y="2897585"/>
            <a:ext cx="2331720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spcBef>
                <a:spcPts val="200"/>
              </a:spcBef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Production validation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Text 40"/>
          <p:cNvSpPr/>
          <p:nvPr/>
        </p:nvSpPr>
        <p:spPr>
          <a:xfrm>
            <a:off x="10059194" y="3122217"/>
            <a:ext cx="632420" cy="218281"/>
          </a:xfrm>
          <a:prstGeom prst="roundRect">
            <a:avLst>
              <a:gd name="adj" fmla="val 1745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 41"/>
          <p:cNvSpPr/>
          <p:nvPr/>
        </p:nvSpPr>
        <p:spPr>
          <a:xfrm>
            <a:off x="10130594" y="3160317"/>
            <a:ext cx="48962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PLANNED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 42"/>
          <p:cNvSpPr/>
          <p:nvPr/>
        </p:nvSpPr>
        <p:spPr>
          <a:xfrm>
            <a:off x="520700" y="3670698"/>
            <a:ext cx="11124803" cy="667940"/>
          </a:xfrm>
          <a:prstGeom prst="roundRect">
            <a:avLst>
              <a:gd name="adj" fmla="val 15211"/>
            </a:avLst>
          </a:prstGeom>
          <a:solidFill>
            <a:schemeClr val="tx1">
              <a:lumMod val="65000"/>
              <a:lumOff val="35000"/>
            </a:scheme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Text 43"/>
          <p:cNvSpPr/>
          <p:nvPr/>
        </p:nvSpPr>
        <p:spPr>
          <a:xfrm>
            <a:off x="774700" y="3823096"/>
            <a:ext cx="240907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5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Problem Identification, Research &amp; Plan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44"/>
          <p:cNvSpPr/>
          <p:nvPr/>
        </p:nvSpPr>
        <p:spPr>
          <a:xfrm>
            <a:off x="1575076" y="4026298"/>
            <a:ext cx="868728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Dec 2025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Text 45"/>
          <p:cNvSpPr/>
          <p:nvPr/>
        </p:nvSpPr>
        <p:spPr>
          <a:xfrm>
            <a:off x="3401403" y="3852267"/>
            <a:ext cx="45719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Text 46"/>
          <p:cNvSpPr/>
          <p:nvPr/>
        </p:nvSpPr>
        <p:spPr>
          <a:xfrm>
            <a:off x="4084966" y="3823097"/>
            <a:ext cx="1386158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5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Ground Truth Finalized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47"/>
          <p:cNvSpPr/>
          <p:nvPr/>
        </p:nvSpPr>
        <p:spPr>
          <a:xfrm>
            <a:off x="4084966" y="4026298"/>
            <a:ext cx="1386158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Jan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48"/>
          <p:cNvSpPr/>
          <p:nvPr/>
        </p:nvSpPr>
        <p:spPr>
          <a:xfrm>
            <a:off x="6191265" y="3852267"/>
            <a:ext cx="45719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Text 49"/>
          <p:cNvSpPr/>
          <p:nvPr/>
        </p:nvSpPr>
        <p:spPr>
          <a:xfrm>
            <a:off x="6821298" y="3823097"/>
            <a:ext cx="146352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5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Fine-tuned Model Ready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Text 50"/>
          <p:cNvSpPr/>
          <p:nvPr/>
        </p:nvSpPr>
        <p:spPr>
          <a:xfrm>
            <a:off x="6821298" y="4026298"/>
            <a:ext cx="1463529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May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51"/>
          <p:cNvSpPr/>
          <p:nvPr/>
        </p:nvSpPr>
        <p:spPr>
          <a:xfrm>
            <a:off x="8935626" y="3852267"/>
            <a:ext cx="45719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 wrap="square" rtlCol="0" anchor="ctr"/>
          <a:lstStyle/>
          <a:p>
            <a:endParaRPr lang="en-US"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9" name="Text 52"/>
          <p:cNvSpPr/>
          <p:nvPr/>
        </p:nvSpPr>
        <p:spPr>
          <a:xfrm>
            <a:off x="9882533" y="3823097"/>
            <a:ext cx="142850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5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Production Deployment</a:t>
            </a:r>
            <a:endParaRPr lang="en-US" sz="105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" name="Text 53"/>
          <p:cNvSpPr/>
          <p:nvPr/>
        </p:nvSpPr>
        <p:spPr>
          <a:xfrm>
            <a:off x="9882533" y="4026298"/>
            <a:ext cx="1428505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Aug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Shape 54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8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406400" y="6342461"/>
            <a:ext cx="116067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Current Status: Phase 2 in progress | 17/21 benchmarks evaluated | Awaiting domain expert validation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91EC8DB-8EE0-A3FB-1B65-171A8FEAE752}"/>
              </a:ext>
            </a:extLst>
          </p:cNvPr>
          <p:cNvSpPr txBox="1"/>
          <p:nvPr/>
        </p:nvSpPr>
        <p:spPr>
          <a:xfrm>
            <a:off x="11776719" y="64008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304800"/>
            <a:ext cx="1137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  <a:spcAft>
                <a:spcPts val="200"/>
              </a:spcAft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Phase 1: Infrastructure &amp; Model Configuration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6399" y="719516"/>
            <a:ext cx="1160678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Local inference setup for Phase 2 baseline evaluation using clean architecture pattern</a:t>
            </a:r>
            <a:endParaRPr lang="en-US" sz="1200" dirty="0">
              <a:latin typeface="Tenorite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399" y="1946076"/>
            <a:ext cx="6306740" cy="3610969"/>
          </a:xfrm>
          <a:prstGeom prst="roundRect">
            <a:avLst>
              <a:gd name="adj" fmla="val 2632"/>
            </a:avLst>
          </a:prstGeom>
          <a:solidFill>
            <a:srgbClr val="F8FAFC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6588" y="1280384"/>
            <a:ext cx="6070164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1000"/>
              </a:spcAft>
            </a:pPr>
            <a:r>
              <a:rPr lang="en-US" sz="11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INFERENCE APPLICATION ARCHITECTURE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199" y="2169319"/>
            <a:ext cx="5951140" cy="381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374151"/>
            </a:solidFill>
          </a:ln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8319" y="2270919"/>
            <a:ext cx="5862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CLI Interface (Presentation Layer)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4687" y="2626519"/>
            <a:ext cx="60701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↓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4199" y="2842419"/>
            <a:ext cx="5951140" cy="657621"/>
          </a:xfrm>
          <a:prstGeom prst="roundRect">
            <a:avLst>
              <a:gd name="adj" fmla="val 7725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799" y="2944019"/>
            <a:ext cx="58629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400"/>
              </a:spcAft>
            </a:pPr>
            <a:r>
              <a:rPr lang="en-US" sz="9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Application Layer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799" y="3154761"/>
            <a:ext cx="1882180" cy="243681"/>
          </a:xfrm>
          <a:prstGeom prst="roundRect">
            <a:avLst>
              <a:gd name="adj" fmla="val 156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8793" y="3205561"/>
            <a:ext cx="181619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EvaluateModel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18779" y="3154761"/>
            <a:ext cx="1882180" cy="243681"/>
          </a:xfrm>
          <a:prstGeom prst="roundRect">
            <a:avLst>
              <a:gd name="adj" fmla="val 156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651772" y="3205561"/>
            <a:ext cx="181619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GenerateReport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51759" y="3154761"/>
            <a:ext cx="1882180" cy="243681"/>
          </a:xfrm>
          <a:prstGeom prst="roundRect">
            <a:avLst>
              <a:gd name="adj" fmla="val 1563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84752" y="3205561"/>
            <a:ext cx="1816191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SetupModel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4199" y="3576240"/>
            <a:ext cx="2937471" cy="944563"/>
          </a:xfrm>
          <a:prstGeom prst="roundRect">
            <a:avLst>
              <a:gd name="adj" fmla="val 5378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799" y="3677841"/>
            <a:ext cx="2788956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400"/>
              </a:spcAft>
            </a:pPr>
            <a:r>
              <a:rPr lang="en-US" sz="9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Domain Layer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5799" y="3888582"/>
            <a:ext cx="2788956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300"/>
              </a:spcAft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ScoringService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799" y="4068763"/>
            <a:ext cx="2734271" cy="350440"/>
          </a:xfrm>
          <a:prstGeom prst="roundRect">
            <a:avLst>
              <a:gd name="adj" fmla="val 108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6599" y="4119563"/>
            <a:ext cx="2685324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Tier1Binary | Tier2Rubric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6599" y="4243983"/>
            <a:ext cx="2685324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Tier3LLMJudge | Reasoning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597869" y="3576240"/>
            <a:ext cx="2937471" cy="944563"/>
          </a:xfrm>
          <a:prstGeom prst="roundRect">
            <a:avLst>
              <a:gd name="adj" fmla="val 537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99469" y="3677841"/>
            <a:ext cx="2788956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400"/>
              </a:spcAft>
            </a:pPr>
            <a:r>
              <a:rPr lang="en-US" sz="9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Infrastructure Layer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99469" y="3888582"/>
            <a:ext cx="2788956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120"/>
              </a:lnSpc>
              <a:spcAft>
                <a:spcPts val="300"/>
              </a:spcAft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OllamaGateway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99469" y="4068763"/>
            <a:ext cx="2734271" cy="350440"/>
          </a:xfrm>
          <a:prstGeom prst="roundRect">
            <a:avLst>
              <a:gd name="adj" fmla="val 1087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750269" y="4119563"/>
            <a:ext cx="2685324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Inference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50269" y="4243983"/>
            <a:ext cx="2685324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80"/>
              </a:lnSpc>
            </a:pPr>
            <a:r>
              <a:rPr lang="en-US" sz="7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Repositories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24687" y="4597003"/>
            <a:ext cx="607016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↓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3" name="Image 1" descr="/tmp/rasterized-gradient-a15af3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341" y="1171575"/>
            <a:ext cx="4869260" cy="1195983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068741" y="1362076"/>
            <a:ext cx="4655748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10.1 HARDWARE (LOCAL)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7068741" y="1631157"/>
            <a:ext cx="1470620" cy="584001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7157668" y="1732756"/>
            <a:ext cx="12927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M3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7157668" y="1971477"/>
            <a:ext cx="129276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Apple Silicon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4"/>
          <p:cNvSpPr/>
          <p:nvPr/>
        </p:nvSpPr>
        <p:spPr>
          <a:xfrm>
            <a:off x="8615562" y="1631157"/>
            <a:ext cx="1470620" cy="584001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8704488" y="1732756"/>
            <a:ext cx="12927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16GB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704488" y="1971477"/>
            <a:ext cx="129276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Unified Memory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10162382" y="1631157"/>
            <a:ext cx="1470620" cy="584001"/>
          </a:xfrm>
          <a:prstGeom prst="roundRect">
            <a:avLst>
              <a:gd name="adj" fmla="val 86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10251308" y="1732756"/>
            <a:ext cx="129276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80"/>
              </a:lnSpc>
            </a:pPr>
            <a:r>
              <a:rPr lang="en-US" sz="12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Metal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0251308" y="1971477"/>
            <a:ext cx="129276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800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GPU Accel</a:t>
            </a:r>
            <a:endParaRPr lang="en-US" sz="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4" name="Image 2" descr="/tmp/rasterized-gradient-7e1206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341" y="2672358"/>
            <a:ext cx="4869260" cy="2072084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068741" y="2862858"/>
            <a:ext cx="4655748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800"/>
              </a:spcAft>
            </a:pPr>
            <a:r>
              <a:rPr lang="en-US" sz="11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SPECIFICATION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7068741" y="3131939"/>
            <a:ext cx="4564460" cy="1460103"/>
          </a:xfrm>
          <a:prstGeom prst="roundRect">
            <a:avLst>
              <a:gd name="adj" fmla="val 34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7" name="Shape 42"/>
          <p:cNvSpPr/>
          <p:nvPr/>
        </p:nvSpPr>
        <p:spPr>
          <a:xfrm>
            <a:off x="7170341" y="3450629"/>
            <a:ext cx="43612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7170341" y="3233539"/>
            <a:ext cx="184392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Base Model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9" name="Text 44"/>
          <p:cNvSpPr/>
          <p:nvPr/>
        </p:nvSpPr>
        <p:spPr>
          <a:xfrm>
            <a:off x="9181307" y="3233539"/>
            <a:ext cx="23973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Llama-Primus-Reasoning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0" name="Shape 45"/>
          <p:cNvSpPr/>
          <p:nvPr/>
        </p:nvSpPr>
        <p:spPr>
          <a:xfrm>
            <a:off x="7170341" y="3724871"/>
            <a:ext cx="43612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1" name="Text 46"/>
          <p:cNvSpPr/>
          <p:nvPr/>
        </p:nvSpPr>
        <p:spPr>
          <a:xfrm>
            <a:off x="7170341" y="3507781"/>
            <a:ext cx="184392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Parameters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2" name="Text 47"/>
          <p:cNvSpPr/>
          <p:nvPr/>
        </p:nvSpPr>
        <p:spPr>
          <a:xfrm>
            <a:off x="9181307" y="3507781"/>
            <a:ext cx="23973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8 Billion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3" name="Shape 48"/>
          <p:cNvSpPr/>
          <p:nvPr/>
        </p:nvSpPr>
        <p:spPr>
          <a:xfrm>
            <a:off x="7170341" y="3999111"/>
            <a:ext cx="43612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7170341" y="3782021"/>
            <a:ext cx="184392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Quantization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5" name="Text 50"/>
          <p:cNvSpPr/>
          <p:nvPr/>
        </p:nvSpPr>
        <p:spPr>
          <a:xfrm>
            <a:off x="9181307" y="3782021"/>
            <a:ext cx="23973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4-bit NF4 (QLoRA)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6" name="Shape 51"/>
          <p:cNvSpPr/>
          <p:nvPr/>
        </p:nvSpPr>
        <p:spPr>
          <a:xfrm>
            <a:off x="7170341" y="4273352"/>
            <a:ext cx="43612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7" name="Text 52"/>
          <p:cNvSpPr/>
          <p:nvPr/>
        </p:nvSpPr>
        <p:spPr>
          <a:xfrm>
            <a:off x="7170341" y="4056262"/>
            <a:ext cx="184392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Format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8" name="Text 53"/>
          <p:cNvSpPr/>
          <p:nvPr/>
        </p:nvSpPr>
        <p:spPr>
          <a:xfrm>
            <a:off x="9181307" y="4056262"/>
            <a:ext cx="23973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GGUF (Apple Silicon)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9" name="Text 54"/>
          <p:cNvSpPr/>
          <p:nvPr/>
        </p:nvSpPr>
        <p:spPr>
          <a:xfrm>
            <a:off x="7170341" y="4330502"/>
            <a:ext cx="184392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Framework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" name="Text 55"/>
          <p:cNvSpPr/>
          <p:nvPr/>
        </p:nvSpPr>
        <p:spPr>
          <a:xfrm>
            <a:off x="9181307" y="4330502"/>
            <a:ext cx="23973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llama.cpp + Ollama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1" name="Text 56"/>
          <p:cNvSpPr/>
          <p:nvPr/>
        </p:nvSpPr>
        <p:spPr>
          <a:xfrm>
            <a:off x="6916341" y="5049243"/>
            <a:ext cx="4869260" cy="1033661"/>
          </a:xfrm>
          <a:prstGeom prst="roundRect">
            <a:avLst>
              <a:gd name="adj" fmla="val 9829"/>
            </a:avLst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2" name="Text 57"/>
          <p:cNvSpPr/>
          <p:nvPr/>
        </p:nvSpPr>
        <p:spPr>
          <a:xfrm>
            <a:off x="7043341" y="5176243"/>
            <a:ext cx="47075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en-US" sz="10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BASELINE EVALUATION PERFORMANCE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3" name="Text 58"/>
          <p:cNvSpPr/>
          <p:nvPr/>
        </p:nvSpPr>
        <p:spPr>
          <a:xfrm>
            <a:off x="7043340" y="5404843"/>
            <a:ext cx="1487685" cy="551061"/>
          </a:xfrm>
          <a:prstGeom prst="roundRect">
            <a:avLst>
              <a:gd name="adj" fmla="val 9219"/>
            </a:avLst>
          </a:prstGeom>
          <a:solidFill>
            <a:srgbClr val="4B5563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4" name="Text 59"/>
          <p:cNvSpPr/>
          <p:nvPr/>
        </p:nvSpPr>
        <p:spPr>
          <a:xfrm>
            <a:off x="7106188" y="5481043"/>
            <a:ext cx="1361992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A5C8F4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118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Text 60"/>
          <p:cNvSpPr/>
          <p:nvPr/>
        </p:nvSpPr>
        <p:spPr>
          <a:xfrm>
            <a:off x="7106188" y="5755283"/>
            <a:ext cx="1361992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80"/>
              </a:lnSpc>
              <a:spcBef>
                <a:spcPts val="200"/>
              </a:spcBef>
            </a:pPr>
            <a:r>
              <a:rPr lang="en-US" sz="700" dirty="0">
                <a:solidFill>
                  <a:srgbClr val="D1D5D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Test Cases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6" name="Text 61"/>
          <p:cNvSpPr/>
          <p:nvPr/>
        </p:nvSpPr>
        <p:spPr>
          <a:xfrm>
            <a:off x="8607227" y="5404843"/>
            <a:ext cx="1487685" cy="551061"/>
          </a:xfrm>
          <a:prstGeom prst="roundRect">
            <a:avLst>
              <a:gd name="adj" fmla="val 9219"/>
            </a:avLst>
          </a:prstGeom>
          <a:solidFill>
            <a:srgbClr val="4B5563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8670073" y="5481043"/>
            <a:ext cx="1361992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C4B5FD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~83s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8" name="Text 63"/>
          <p:cNvSpPr/>
          <p:nvPr/>
        </p:nvSpPr>
        <p:spPr>
          <a:xfrm>
            <a:off x="8670073" y="5755283"/>
            <a:ext cx="1361992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80"/>
              </a:lnSpc>
              <a:spcBef>
                <a:spcPts val="200"/>
              </a:spcBef>
            </a:pPr>
            <a:r>
              <a:rPr lang="en-US" sz="700" dirty="0">
                <a:solidFill>
                  <a:srgbClr val="D1D5D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Per Test Case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9" name="Text 64"/>
          <p:cNvSpPr/>
          <p:nvPr/>
        </p:nvSpPr>
        <p:spPr>
          <a:xfrm>
            <a:off x="10171112" y="5404843"/>
            <a:ext cx="1487685" cy="551061"/>
          </a:xfrm>
          <a:prstGeom prst="roundRect">
            <a:avLst>
              <a:gd name="adj" fmla="val 9219"/>
            </a:avLst>
          </a:prstGeom>
          <a:solidFill>
            <a:srgbClr val="4B5563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0" name="Text 65"/>
          <p:cNvSpPr/>
          <p:nvPr/>
        </p:nvSpPr>
        <p:spPr>
          <a:xfrm>
            <a:off x="10233960" y="5481043"/>
            <a:ext cx="1361992" cy="2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960"/>
              </a:lnSpc>
            </a:pPr>
            <a:r>
              <a:rPr lang="en-US" sz="1400" b="1" dirty="0">
                <a:solidFill>
                  <a:srgbClr val="F5A3A3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~2-2.5 hrs</a:t>
            </a:r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 66"/>
          <p:cNvSpPr/>
          <p:nvPr/>
        </p:nvSpPr>
        <p:spPr>
          <a:xfrm>
            <a:off x="10233960" y="5755283"/>
            <a:ext cx="1361992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980"/>
              </a:lnSpc>
              <a:spcBef>
                <a:spcPts val="200"/>
              </a:spcBef>
            </a:pPr>
            <a:r>
              <a:rPr lang="en-US" sz="700" dirty="0">
                <a:solidFill>
                  <a:srgbClr val="D1D5D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Total Runtime</a:t>
            </a:r>
            <a:endParaRPr lang="en-US" sz="7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2" name="Shape 67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3" name="Text 68"/>
          <p:cNvSpPr/>
          <p:nvPr/>
        </p:nvSpPr>
        <p:spPr>
          <a:xfrm>
            <a:off x="486588" y="1517814"/>
            <a:ext cx="3616960" cy="19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1 local deployment validates methodology before cloud scaling</a:t>
            </a: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C0A0676-688B-4970-D6EC-B1F4C1542596}"/>
              </a:ext>
            </a:extLst>
          </p:cNvPr>
          <p:cNvSpPr/>
          <p:nvPr/>
        </p:nvSpPr>
        <p:spPr>
          <a:xfrm>
            <a:off x="569557" y="4867645"/>
            <a:ext cx="5904226" cy="461911"/>
          </a:xfrm>
          <a:prstGeom prst="roundRect">
            <a:avLst/>
          </a:prstGeom>
          <a:solidFill>
            <a:srgbClr val="FFFFE1"/>
          </a:solidFill>
          <a:ln>
            <a:solidFill>
              <a:srgbClr val="FCFF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9EF1D91F-752A-73E4-8A46-6FD416ED3BF0}"/>
              </a:ext>
            </a:extLst>
          </p:cNvPr>
          <p:cNvSpPr/>
          <p:nvPr/>
        </p:nvSpPr>
        <p:spPr>
          <a:xfrm>
            <a:off x="776821" y="4920628"/>
            <a:ext cx="5862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Ollama Server (Local)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F06DD459-F3ED-9747-E2A2-FBF8170FE391}"/>
              </a:ext>
            </a:extLst>
          </p:cNvPr>
          <p:cNvSpPr/>
          <p:nvPr/>
        </p:nvSpPr>
        <p:spPr>
          <a:xfrm>
            <a:off x="776821" y="5123828"/>
            <a:ext cx="586290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Llama-Primus-Reasoning 8B | GGUF Format</a:t>
            </a:r>
            <a:endParaRPr lang="en-US" sz="900" dirty="0">
              <a:solidFill>
                <a:schemeClr val="tx1">
                  <a:lumMod val="65000"/>
                  <a:lumOff val="3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1476A3-5015-94C3-F7CA-E011DA18CF42}"/>
              </a:ext>
            </a:extLst>
          </p:cNvPr>
          <p:cNvSpPr txBox="1"/>
          <p:nvPr/>
        </p:nvSpPr>
        <p:spPr>
          <a:xfrm>
            <a:off x="11776719" y="64008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35001" y="415330"/>
            <a:ext cx="498932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PHASE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8000" y="317500"/>
            <a:ext cx="1117580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Tenorite" pitchFamily="2" charset="0"/>
                <a:ea typeface="Source Sans Pro" pitchFamily="34" charset="-122"/>
                <a:cs typeface="Source Sans Pro" pitchFamily="34" charset="-120"/>
              </a:rPr>
              <a:t>Phase 2: Baseline Eval Preliminary Results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  <a:latin typeface="Tenorite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8001" y="1066800"/>
            <a:ext cx="6757988" cy="1135261"/>
          </a:xfrm>
          <a:prstGeom prst="roundRect">
            <a:avLst>
              <a:gd name="adj" fmla="val 89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33400" y="1066800"/>
            <a:ext cx="0" cy="1135261"/>
          </a:xfrm>
          <a:prstGeom prst="line">
            <a:avLst/>
          </a:prstGeom>
          <a:noFill/>
          <a:ln w="381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588011" y="1241841"/>
            <a:ext cx="1361116" cy="65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4480"/>
              </a:lnSpc>
            </a:pPr>
            <a:r>
              <a:rPr lang="en-US" sz="4400" b="1" dirty="0">
                <a:solidFill>
                  <a:srgbClr val="C4B5FD"/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49%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7105" y="1817209"/>
            <a:ext cx="991931" cy="16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60"/>
              </a:lnSpc>
              <a:spcBef>
                <a:spcPts val="200"/>
              </a:spcBef>
            </a:pPr>
            <a:r>
              <a:rPr lang="en-US" sz="1100" dirty="0">
                <a:solidFill>
                  <a:srgbClr val="64748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Weighted Score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08617" y="1337164"/>
            <a:ext cx="12700" cy="508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9894" y="1230650"/>
            <a:ext cx="5013951" cy="39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17/21 benchmarks evaluated*</a:t>
            </a:r>
          </a:p>
          <a:p>
            <a:r>
              <a:rPr lang="en-US" sz="14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</a:rPr>
              <a:t>97 test cases executed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03737" y="1744234"/>
            <a:ext cx="5119459" cy="355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en-US" sz="1100" i="1" dirty="0">
                <a:solidFill>
                  <a:srgbClr val="64748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*4 benchmarks pending  human expert evaluation as they require interpretive judgement to assess whether responses would pass regulatory scrutiny</a:t>
            </a:r>
            <a:endParaRPr lang="en-US" sz="600" i="1" dirty="0"/>
          </a:p>
        </p:txBody>
      </p:sp>
      <p:sp>
        <p:nvSpPr>
          <p:cNvPr id="13" name="Text 11"/>
          <p:cNvSpPr/>
          <p:nvPr/>
        </p:nvSpPr>
        <p:spPr>
          <a:xfrm>
            <a:off x="7456488" y="1062917"/>
            <a:ext cx="4227512" cy="1135260"/>
          </a:xfrm>
          <a:prstGeom prst="roundRect">
            <a:avLst>
              <a:gd name="adj" fmla="val 10051"/>
            </a:avLst>
          </a:prstGeom>
          <a:solidFill>
            <a:srgbClr val="E9FCF4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42914" y="1266403"/>
            <a:ext cx="3793903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1400" b="1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STRENGTHS: Reasoning &amp; Classification</a:t>
            </a:r>
            <a:endParaRPr lang="en-US" sz="800" b="1" dirty="0"/>
          </a:p>
        </p:txBody>
      </p:sp>
      <p:sp>
        <p:nvSpPr>
          <p:cNvPr id="15" name="Text 13"/>
          <p:cNvSpPr/>
          <p:nvPr/>
        </p:nvSpPr>
        <p:spPr>
          <a:xfrm>
            <a:off x="7637874" y="1731972"/>
            <a:ext cx="3966115" cy="22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Responsibility Attribution: </a:t>
            </a:r>
            <a:r>
              <a:rPr lang="en-US" sz="1100" b="1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69%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642914" y="1513694"/>
            <a:ext cx="3966115" cy="25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Compliance Classification Accuracy: </a:t>
            </a:r>
            <a:r>
              <a:rPr lang="en-US" sz="1100" b="1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69%</a:t>
            </a:r>
          </a:p>
        </p:txBody>
      </p:sp>
      <p:sp>
        <p:nvSpPr>
          <p:cNvPr id="17" name="Text 15"/>
          <p:cNvSpPr/>
          <p:nvPr/>
        </p:nvSpPr>
        <p:spPr>
          <a:xfrm>
            <a:off x="508000" y="2595762"/>
            <a:ext cx="1139952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100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itchFamily="34" charset="0"/>
                <a:ea typeface="Source Sans Pro" pitchFamily="34" charset="-122"/>
              </a:rPr>
              <a:t>THREE CRITICAL FAILURE MODES IDENTIFIED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8000" y="2963069"/>
            <a:ext cx="3623667" cy="2136370"/>
          </a:xfrm>
          <a:prstGeom prst="roundRect">
            <a:avLst>
              <a:gd name="adj" fmla="val 531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8000" y="2965999"/>
            <a:ext cx="3623667" cy="0"/>
          </a:xfrm>
          <a:prstGeom prst="line">
            <a:avLst/>
          </a:prstGeom>
          <a:noFill/>
          <a:ln w="38100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685800" y="3149068"/>
            <a:ext cx="1785331" cy="270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F5A3A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A. Hallucination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62905" y="3105655"/>
            <a:ext cx="1206000" cy="263110"/>
          </a:xfrm>
          <a:prstGeom prst="roundRect">
            <a:avLst>
              <a:gd name="adj" fmla="val 18079"/>
            </a:avLst>
          </a:prstGeom>
          <a:solidFill>
            <a:srgbClr val="F5A3A3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96463" y="3165703"/>
            <a:ext cx="1146191" cy="26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B21: 22%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1" y="3580210"/>
            <a:ext cx="3420466" cy="101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</a:t>
            </a:r>
            <a:r>
              <a:rPr lang="en-US" sz="1100" b="1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fabricates specific technical details</a:t>
            </a:r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- inventing password lengths, SIEM vendor requirements, downtime limits that do not exist in CCoP 2.0.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685800" y="4342211"/>
            <a:ext cx="3268067" cy="590566"/>
          </a:xfrm>
          <a:prstGeom prst="roundRect">
            <a:avLst>
              <a:gd name="adj" fmla="val 18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7401" y="4418410"/>
            <a:ext cx="3268066" cy="27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E8989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IMPACT: Unsafe for production without hallucination mitigation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284067" y="2937670"/>
            <a:ext cx="3623667" cy="2161768"/>
          </a:xfrm>
          <a:prstGeom prst="roundRect">
            <a:avLst>
              <a:gd name="adj" fmla="val 578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284067" y="2963069"/>
            <a:ext cx="3623667" cy="0"/>
          </a:xfrm>
          <a:prstGeom prst="line">
            <a:avLst/>
          </a:prstGeom>
          <a:noFill/>
          <a:ln w="38100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4461867" y="3157339"/>
            <a:ext cx="2181820" cy="346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F5A3A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B. IT/OT Classification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23890" y="3111813"/>
            <a:ext cx="1206044" cy="270067"/>
          </a:xfrm>
          <a:prstGeom prst="roundRect">
            <a:avLst>
              <a:gd name="adj" fmla="val 18079"/>
            </a:avLst>
          </a:prstGeom>
          <a:solidFill>
            <a:srgbClr val="F5A3A3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66038" y="3189792"/>
            <a:ext cx="1032240" cy="26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B4: 21%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1867" y="3656409"/>
            <a:ext cx="3445867" cy="67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Cannot distinguish IT vs OT infrastructure. Lacks Singapore's </a:t>
            </a:r>
            <a:r>
              <a:rPr lang="en-US" sz="1100" b="1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Critical Infrastructure taxonomy</a:t>
            </a:r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OT-specific terminology.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4461867" y="4383771"/>
            <a:ext cx="3268067" cy="549290"/>
          </a:xfrm>
          <a:prstGeom prst="roundRect">
            <a:avLst>
              <a:gd name="adj" fmla="val 18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63467" y="4459971"/>
            <a:ext cx="3268066" cy="27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E8989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IMPACT: Cannot map systems to correct CCoP control sets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060135" y="2937670"/>
            <a:ext cx="3623667" cy="2161769"/>
          </a:xfrm>
          <a:prstGeom prst="roundRect">
            <a:avLst>
              <a:gd name="adj" fmla="val 5781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060135" y="2963069"/>
            <a:ext cx="3623667" cy="0"/>
          </a:xfrm>
          <a:prstGeom prst="line">
            <a:avLst/>
          </a:prstGeom>
          <a:noFill/>
          <a:ln w="38100">
            <a:solidFill>
              <a:srgbClr val="F5A3A3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8237935" y="3157339"/>
            <a:ext cx="2334220" cy="346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400" b="1" dirty="0">
                <a:solidFill>
                  <a:srgbClr val="F5A3A3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C. Control Application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49490" y="3111403"/>
            <a:ext cx="1218058" cy="288510"/>
          </a:xfrm>
          <a:prstGeom prst="roundRect">
            <a:avLst>
              <a:gd name="adj" fmla="val 18079"/>
            </a:avLst>
          </a:prstGeom>
          <a:solidFill>
            <a:srgbClr val="F5A3A3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501891" y="3182093"/>
            <a:ext cx="1064047" cy="19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B6: 21%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37935" y="3656409"/>
            <a:ext cx="3416410" cy="67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Struggles to explain </a:t>
            </a:r>
            <a:r>
              <a:rPr lang="en-US" sz="1100" b="1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why controls exist</a:t>
            </a:r>
            <a:r>
              <a:rPr lang="en-US" sz="1100" dirty="0">
                <a:solidFill>
                  <a:srgbClr val="37415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and what security objectives they serve. Limits ability to provide meaningful guidance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8237935" y="4388449"/>
            <a:ext cx="3268264" cy="544328"/>
          </a:xfrm>
          <a:prstGeom prst="roundRect">
            <a:avLst>
              <a:gd name="adj" fmla="val 18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339535" y="4464649"/>
            <a:ext cx="3126164" cy="12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E8989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IMPACT: Learned auditor skill gap, not knowledge gap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512526" y="5355934"/>
            <a:ext cx="11176000" cy="929043"/>
          </a:xfrm>
          <a:prstGeom prst="roundRect">
            <a:avLst>
              <a:gd name="adj" fmla="val 1840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03027" y="5520090"/>
            <a:ext cx="10951318" cy="81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2D2D2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Key Insight:</a:t>
            </a:r>
            <a:r>
              <a:rPr lang="en-US" sz="14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 has strong meta-reasoning but </a:t>
            </a:r>
            <a:r>
              <a:rPr lang="en-US" sz="1200" dirty="0">
                <a:solidFill>
                  <a:srgbClr val="E9999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weak factual grounding</a:t>
            </a:r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—</a:t>
            </a:r>
            <a:r>
              <a:rPr lang="en-US" sz="1200" b="1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2.0x capability gap</a:t>
            </a:r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</a:t>
            </a:r>
          </a:p>
          <a:p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Fine-tuning must inject </a:t>
            </a:r>
            <a:r>
              <a:rPr lang="en-US" sz="1200" b="1" dirty="0">
                <a:solidFill>
                  <a:srgbClr val="90C8F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CCoP-specific knowledge</a:t>
            </a:r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: anchor reasoning to actual clauses to stop fabrication, </a:t>
            </a:r>
          </a:p>
          <a:p>
            <a:r>
              <a:rPr lang="en-US" sz="1200" dirty="0">
                <a:solidFill>
                  <a:srgbClr val="47556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then teach technical details (control mechanics, IT/OT classification) so the model's reasoning produces accurate compliance advice.</a:t>
            </a:r>
            <a:endParaRPr lang="en-US" sz="8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05841EEE-C587-8B95-33C1-6645FABC520D}"/>
              </a:ext>
            </a:extLst>
          </p:cNvPr>
          <p:cNvSpPr/>
          <p:nvPr/>
        </p:nvSpPr>
        <p:spPr>
          <a:xfrm>
            <a:off x="7642914" y="1943069"/>
            <a:ext cx="3966115" cy="25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300"/>
              </a:spcBef>
            </a:pPr>
            <a:r>
              <a:rPr lang="en-US" sz="1100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Gap Identification &amp; Prioritization: </a:t>
            </a:r>
            <a:r>
              <a:rPr lang="en-US" sz="1100" b="1" dirty="0">
                <a:solidFill>
                  <a:srgbClr val="16653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60%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1C32E1-A6B3-C8F0-025D-282D4E58DF6C}"/>
              </a:ext>
            </a:extLst>
          </p:cNvPr>
          <p:cNvSpPr txBox="1"/>
          <p:nvPr/>
        </p:nvSpPr>
        <p:spPr>
          <a:xfrm>
            <a:off x="11776719" y="64008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9152" y="304800"/>
            <a:ext cx="5816347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  <a:spcAft>
                <a:spcPts val="400"/>
              </a:spcAft>
            </a:pPr>
            <a:r>
              <a:rPr lang="en-US" sz="4400" dirty="0">
                <a:solidFill>
                  <a:srgbClr val="374151"/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Next Steps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9152" y="762000"/>
            <a:ext cx="11606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Immediate actions and Phase 3 preparation</a:t>
            </a:r>
            <a:endParaRPr lang="en-US" sz="1200" dirty="0">
              <a:latin typeface="Tenorite" pitchFamily="2" charset="0"/>
            </a:endParaRPr>
          </a:p>
        </p:txBody>
      </p:sp>
      <p:pic>
        <p:nvPicPr>
          <p:cNvPr id="4" name="Image 0" descr="/tmp/rasterized-gradient-dd775f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52" y="1196181"/>
            <a:ext cx="5562600" cy="416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6953" y="1297781"/>
            <a:ext cx="531114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IMMEDIATE ACTIONS (Dec 2025 - Jan 2026)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Image 1" descr="/tmp/rasterized-gradient-993019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52" y="1765101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1198" y="1851422"/>
            <a:ext cx="115372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1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68752" y="1765101"/>
            <a:ext cx="4953000" cy="1216224"/>
          </a:xfrm>
          <a:prstGeom prst="roundRect">
            <a:avLst>
              <a:gd name="adj" fmla="val 835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1087803" y="1765101"/>
            <a:ext cx="0" cy="1216224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259253" y="1917501"/>
            <a:ext cx="4702303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Complete Benchmark Evaluation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259253" y="2191743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Finish remaining 4 benchmarks (17/21 completed)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259253" y="2438004"/>
            <a:ext cx="4702303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Run full evaluation suite on all 3 models (Llama-Primus, GPT-5, DeepSeek-V3)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3" name="Image 2" descr="/tmp/rasterized-gradient-1ab29d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52" y="3159125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1198" y="3245446"/>
            <a:ext cx="115372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2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068752" y="3159125"/>
            <a:ext cx="4953000" cy="1020763"/>
          </a:xfrm>
          <a:prstGeom prst="roundRect">
            <a:avLst>
              <a:gd name="adj" fmla="val 995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1087803" y="3159125"/>
            <a:ext cx="0" cy="1020763"/>
          </a:xfrm>
          <a:prstGeom prst="line">
            <a:avLst/>
          </a:prstGeom>
          <a:noFill/>
          <a:ln w="28575">
            <a:solidFill>
              <a:srgbClr val="A5C8F4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259253" y="3311525"/>
            <a:ext cx="4702303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Domain Expert Validation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259253" y="3585766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Incorporate expert feedback into ground truth dataset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259253" y="3832027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Target: Ground truth finalized by </a:t>
            </a:r>
            <a:r>
              <a:rPr lang="en-US" sz="11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Jan 2026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" name="Image 3" descr="/tmp/rasterized-gradient-32958a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5752" y="1196181"/>
            <a:ext cx="5562600" cy="416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53553" y="1297781"/>
            <a:ext cx="531114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PHASE 3 PREPARATION (Feb 2026)</a:t>
            </a:r>
            <a:endParaRPr lang="en-US" sz="1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2" name="Image 4" descr="/tmp/rasterized-gradient-5f551c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752" y="1765101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47798" y="1851422"/>
            <a:ext cx="115372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1600" b="1" dirty="0">
                <a:solidFill>
                  <a:srgbClr val="FFFFF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3</a:t>
            </a:r>
            <a:endParaRPr lang="en-US" sz="1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885352" y="1765101"/>
            <a:ext cx="4953000" cy="1267024"/>
          </a:xfrm>
          <a:prstGeom prst="roundRect">
            <a:avLst>
              <a:gd name="adj" fmla="val 801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6904403" y="1765101"/>
            <a:ext cx="0" cy="1267024"/>
          </a:xfrm>
          <a:prstGeom prst="line">
            <a:avLst/>
          </a:prstGeom>
          <a:noFill/>
          <a:ln w="285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 sz="2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7075853" y="1917501"/>
            <a:ext cx="4702303" cy="1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60"/>
              </a:lnSpc>
              <a:spcAft>
                <a:spcPts val="600"/>
              </a:spcAft>
            </a:pPr>
            <a:r>
              <a:rPr lang="en-US" sz="1300" b="1" dirty="0">
                <a:solidFill>
                  <a:srgbClr val="37415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Fine-tuning Data Preparation</a:t>
            </a:r>
            <a:endParaRPr lang="en-US" sz="13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075853" y="2191743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Curate training dataset from validated ground truth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075853" y="2438003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Design QLoRA training configuration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7075853" y="2684264"/>
            <a:ext cx="4702303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 dirty="0">
                <a:solidFill>
                  <a:srgbClr val="64748B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Set up training infrastructure</a:t>
            </a:r>
            <a:endParaRPr lang="en-US" sz="11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459152" y="4652766"/>
            <a:ext cx="11379200" cy="834824"/>
          </a:xfrm>
          <a:prstGeom prst="roundRect">
            <a:avLst>
              <a:gd name="adj" fmla="val 9304"/>
            </a:avLst>
          </a:prstGeom>
          <a:solidFill>
            <a:schemeClr val="tx2">
              <a:lumMod val="65000"/>
              <a:lumOff val="35000"/>
            </a:schemeClr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631198" y="4715568"/>
            <a:ext cx="11088624" cy="167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20"/>
              </a:lnSpc>
              <a:spcAft>
                <a:spcPts val="1200"/>
              </a:spcAft>
            </a:pPr>
            <a:r>
              <a:rPr lang="en-US" sz="1100" b="1" dirty="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KEY MILESTONES</a:t>
            </a:r>
            <a:endParaRPr lang="en-US" sz="11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713152" y="5096468"/>
            <a:ext cx="152400" cy="152400"/>
          </a:xfrm>
          <a:prstGeom prst="roundRect">
            <a:avLst>
              <a:gd name="adj" fmla="val 800000"/>
            </a:avLst>
          </a:prstGeom>
          <a:solidFill>
            <a:srgbClr val="A5C8F4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992552" y="4964508"/>
            <a:ext cx="170122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Ground Truth Finalized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92552" y="5203228"/>
            <a:ext cx="17012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January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099885" y="4994868"/>
            <a:ext cx="2590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→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4557085" y="5096468"/>
            <a:ext cx="152400" cy="152400"/>
          </a:xfrm>
          <a:prstGeom prst="roundRect">
            <a:avLst>
              <a:gd name="adj" fmla="val 800000"/>
            </a:avLst>
          </a:prstGeom>
          <a:solidFill>
            <a:srgbClr val="C4B5FD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4836486" y="4964508"/>
            <a:ext cx="140753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Fine-tuning Begins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8" name="Text 31"/>
          <p:cNvSpPr/>
          <p:nvPr/>
        </p:nvSpPr>
        <p:spPr>
          <a:xfrm>
            <a:off x="4836486" y="5203228"/>
            <a:ext cx="1407533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February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7943817" y="4994868"/>
            <a:ext cx="2590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→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8401017" y="5096468"/>
            <a:ext cx="152400" cy="152400"/>
          </a:xfrm>
          <a:prstGeom prst="roundRect">
            <a:avLst>
              <a:gd name="adj" fmla="val 800000"/>
            </a:avLst>
          </a:prstGeom>
          <a:solidFill>
            <a:srgbClr val="F5A3A3"/>
          </a:solidFill>
          <a:ln/>
        </p:spPr>
        <p:txBody>
          <a:bodyPr wrap="square" rtlCol="0" anchor="ctr"/>
          <a:lstStyle/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1" name="Text 34"/>
          <p:cNvSpPr/>
          <p:nvPr/>
        </p:nvSpPr>
        <p:spPr>
          <a:xfrm>
            <a:off x="8680418" y="4964508"/>
            <a:ext cx="9587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Model Ready</a:t>
            </a:r>
            <a:endParaRPr lang="en-US" sz="1200" dirty="0">
              <a:solidFill>
                <a:schemeClr val="bg1">
                  <a:lumMod val="9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 35"/>
          <p:cNvSpPr/>
          <p:nvPr/>
        </p:nvSpPr>
        <p:spPr>
          <a:xfrm>
            <a:off x="8680418" y="5203228"/>
            <a:ext cx="95879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Bef>
                <a:spcPts val="200"/>
              </a:spcBef>
            </a:pPr>
            <a:r>
              <a:rPr lang="en-US" sz="1000" dirty="0">
                <a:solidFill>
                  <a:srgbClr val="9CA3AF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-120"/>
              </a:rPr>
              <a:t>May 2026</a:t>
            </a: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3" name="Shape 36"/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550116-6199-3069-6D0C-BBC20745F09C}"/>
              </a:ext>
            </a:extLst>
          </p:cNvPr>
          <p:cNvSpPr txBox="1"/>
          <p:nvPr/>
        </p:nvSpPr>
        <p:spPr>
          <a:xfrm>
            <a:off x="11776719" y="64008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D1625-EC79-B076-4245-F1CAAF9B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2">
            <a:extLst>
              <a:ext uri="{FF2B5EF4-FFF2-40B4-BE49-F238E27FC236}">
                <a16:creationId xmlns:a16="http://schemas.microsoft.com/office/drawing/2014/main" id="{CC9982BF-636A-81BE-513C-1265142DB60E}"/>
              </a:ext>
            </a:extLst>
          </p:cNvPr>
          <p:cNvSpPr/>
          <p:nvPr/>
        </p:nvSpPr>
        <p:spPr>
          <a:xfrm>
            <a:off x="644769" y="3297115"/>
            <a:ext cx="9161584" cy="65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Kailasa" panose="02000500000000020004" pitchFamily="2" charset="0"/>
                <a:ea typeface="Tsukushi A Round Gothic Regular" panose="02020400000000000000" pitchFamily="18" charset="-128"/>
                <a:cs typeface="Kailasa" panose="02000500000000020004" pitchFamily="2" charset="0"/>
              </a:rPr>
              <a:t>Thank you.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C7F0E3-30C6-DFF6-6E8A-826849455E64}"/>
              </a:ext>
            </a:extLst>
          </p:cNvPr>
          <p:cNvSpPr/>
          <p:nvPr/>
        </p:nvSpPr>
        <p:spPr>
          <a:xfrm>
            <a:off x="644768" y="3991705"/>
            <a:ext cx="11160000" cy="61546"/>
          </a:xfrm>
          <a:prstGeom prst="rect">
            <a:avLst/>
          </a:prstGeom>
          <a:gradFill flip="none" rotWithShape="1">
            <a:gsLst>
              <a:gs pos="52000">
                <a:srgbClr val="B8A5E8"/>
              </a:gs>
              <a:gs pos="0">
                <a:srgbClr val="E99998"/>
              </a:gs>
              <a:gs pos="100000">
                <a:srgbClr val="90C8F4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8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21CBE-4E23-C4FF-6E07-FEE0D2302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A81496-FB12-611C-711C-B4F1771ED688}"/>
              </a:ext>
            </a:extLst>
          </p:cNvPr>
          <p:cNvSpPr/>
          <p:nvPr/>
        </p:nvSpPr>
        <p:spPr>
          <a:xfrm>
            <a:off x="459152" y="304800"/>
            <a:ext cx="1132644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00"/>
              </a:lnSpc>
              <a:spcAft>
                <a:spcPts val="400"/>
              </a:spcAft>
            </a:pPr>
            <a:r>
              <a:rPr lang="en-US" sz="4400" dirty="0">
                <a:solidFill>
                  <a:srgbClr val="374151"/>
                </a:solidFill>
                <a:latin typeface="Tenorite" pitchFamily="34" charset="0"/>
                <a:ea typeface="Tenorite" pitchFamily="34" charset="-122"/>
                <a:cs typeface="Tenorite" pitchFamily="34" charset="-120"/>
              </a:rPr>
              <a:t>Example: Fine-tuning vs RAG vs Hybrid 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BA8949-E2FD-6A6F-8C76-CB10E503DE55}"/>
              </a:ext>
            </a:extLst>
          </p:cNvPr>
          <p:cNvSpPr/>
          <p:nvPr/>
        </p:nvSpPr>
        <p:spPr>
          <a:xfrm>
            <a:off x="459152" y="762000"/>
            <a:ext cx="11606784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200" dirty="0">
                <a:solidFill>
                  <a:srgbClr val="64748B"/>
                </a:solidFill>
                <a:latin typeface="Tenorite" pitchFamily="2" charset="0"/>
                <a:ea typeface="Arial" pitchFamily="34" charset="-122"/>
                <a:cs typeface="Arial" pitchFamily="34" charset="-120"/>
              </a:rPr>
              <a:t>CCoP Example</a:t>
            </a:r>
            <a:endParaRPr lang="en-US" sz="1200" dirty="0">
              <a:latin typeface="Tenorite" pitchFamily="2" charset="0"/>
            </a:endParaRPr>
          </a:p>
        </p:txBody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163ADCBB-812B-C095-9D43-54D54EE2E0DD}"/>
              </a:ext>
            </a:extLst>
          </p:cNvPr>
          <p:cNvSpPr/>
          <p:nvPr/>
        </p:nvSpPr>
        <p:spPr>
          <a:xfrm>
            <a:off x="406400" y="6285309"/>
            <a:ext cx="1137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7A2F961-F659-B923-5CCD-F117939C4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030910"/>
              </p:ext>
            </p:extLst>
          </p:nvPr>
        </p:nvGraphicFramePr>
        <p:xfrm>
          <a:off x="1245218" y="2363487"/>
          <a:ext cx="9701560" cy="323544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60775">
                  <a:extLst>
                    <a:ext uri="{9D8B030D-6E8A-4147-A177-3AD203B41FA5}">
                      <a16:colId xmlns:a16="http://schemas.microsoft.com/office/drawing/2014/main" val="3242004673"/>
                    </a:ext>
                  </a:extLst>
                </a:gridCol>
                <a:gridCol w="2371967">
                  <a:extLst>
                    <a:ext uri="{9D8B030D-6E8A-4147-A177-3AD203B41FA5}">
                      <a16:colId xmlns:a16="http://schemas.microsoft.com/office/drawing/2014/main" val="975146724"/>
                    </a:ext>
                  </a:extLst>
                </a:gridCol>
                <a:gridCol w="2425391">
                  <a:extLst>
                    <a:ext uri="{9D8B030D-6E8A-4147-A177-3AD203B41FA5}">
                      <a16:colId xmlns:a16="http://schemas.microsoft.com/office/drawing/2014/main" val="4217747071"/>
                    </a:ext>
                  </a:extLst>
                </a:gridCol>
                <a:gridCol w="3643427">
                  <a:extLst>
                    <a:ext uri="{9D8B030D-6E8A-4147-A177-3AD203B41FA5}">
                      <a16:colId xmlns:a16="http://schemas.microsoft.com/office/drawing/2014/main" val="3678044613"/>
                    </a:ext>
                  </a:extLst>
                </a:gridCol>
              </a:tblGrid>
              <a:tr h="4822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100" b="1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 </a:t>
                      </a:r>
                      <a:endParaRPr lang="en-SG" sz="11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Fine-Tuning Only</a:t>
                      </a:r>
                      <a:endParaRPr lang="en-SG" sz="1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100" b="1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RAG Only</a:t>
                      </a:r>
                      <a:endParaRPr lang="en-SG" sz="11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GB" sz="1100" b="1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Hybrid (Fine-Tuning + RAG)</a:t>
                      </a:r>
                      <a:endParaRPr lang="en-SG" sz="11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829168"/>
                  </a:ext>
                </a:extLst>
              </a:tr>
              <a:tr h="27531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Sample LLM Response</a:t>
                      </a:r>
                      <a:endParaRPr lang="en-SG" sz="11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“Using shared administrative accounts for vendor access introduces accountability and monitoring risks. Such a setup is generally considered non-compliant with good access control practices and may require stronger controls to meet </a:t>
                      </a:r>
                      <a:r>
                        <a:rPr lang="en-GB" sz="1200" dirty="0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CCoP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expectations.”</a:t>
                      </a:r>
                      <a:endParaRPr lang="en-SG" sz="1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</a:t>
                      </a:r>
                      <a:r>
                        <a:rPr lang="en-GB" sz="1200" dirty="0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CCoP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2.0 states that access to critical systems shall be restricted to authorised personnel and that third-party access must be authorised, monitored, and reviewed. Privileged activities shall also be logged and reviewed regularly.”</a:t>
                      </a:r>
                      <a:endParaRPr lang="en-SG" sz="1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“According to </a:t>
                      </a:r>
                      <a:r>
                        <a:rPr lang="en-GB" sz="1200" dirty="0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CCoP</a:t>
                      </a:r>
                      <a:r>
                        <a:rPr lang="en-GB" sz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2.0 clauses on access control and third-party access, vendor access to critical systems must be authorised, monitored, and individually accountable. The use of shared administrative accounts weakens accountability and is therefore likely non-compliant unless compensating controls are implemented, such as uniquely assigned vendor accounts, access logging, and periodic access reviews.”</a:t>
                      </a:r>
                      <a:endParaRPr lang="en-SG" sz="1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3825990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DEF6E14B-7F05-373A-E0C4-FE02CE7D2018}"/>
              </a:ext>
            </a:extLst>
          </p:cNvPr>
          <p:cNvSpPr txBox="1"/>
          <p:nvPr/>
        </p:nvSpPr>
        <p:spPr>
          <a:xfrm>
            <a:off x="11776719" y="6400800"/>
            <a:ext cx="425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enorite" pitchFamily="2" charset="0"/>
              </a:rPr>
              <a:t>14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975432-42FF-5080-4814-3C0F30C1F896}"/>
              </a:ext>
            </a:extLst>
          </p:cNvPr>
          <p:cNvSpPr txBox="1"/>
          <p:nvPr/>
        </p:nvSpPr>
        <p:spPr>
          <a:xfrm>
            <a:off x="1172276" y="1193936"/>
            <a:ext cx="98474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Sample Question</a:t>
            </a:r>
          </a:p>
          <a:p>
            <a:endParaRPr lang="en-GB" sz="1400" i="1" u="sng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“Our organisation allows third-party vendors to remotely access CII production systems for maintenance using shared administrative accounts. Is this compliant with </a:t>
            </a:r>
            <a:r>
              <a:rPr lang="en-GB" sz="1400" i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CCoP</a:t>
            </a:r>
            <a:r>
              <a:rPr lang="en-GB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2.0?”</a:t>
            </a:r>
            <a:endParaRPr lang="en-SG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 sz="1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1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</TotalTime>
  <Words>2661</Words>
  <Application>Microsoft Macintosh PowerPoint</Application>
  <PresentationFormat>Widescreen</PresentationFormat>
  <Paragraphs>530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Kailasa</vt:lpstr>
      <vt:lpstr>Source Sans Pro</vt:lpstr>
      <vt:lpstr>Tenorite</vt:lpstr>
      <vt:lpstr>Office Theme</vt:lpstr>
      <vt:lpstr>PowerPoint Presentation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Fine-Tuning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MSTR - Sagar Pratap Singh</dc:creator>
  <cp:lastModifiedBy>MSTR - Sagar Pratap Singh</cp:lastModifiedBy>
  <cp:revision>16</cp:revision>
  <dcterms:created xsi:type="dcterms:W3CDTF">2025-12-17T19:06:32Z</dcterms:created>
  <dcterms:modified xsi:type="dcterms:W3CDTF">2025-12-19T03:42:22Z</dcterms:modified>
</cp:coreProperties>
</file>