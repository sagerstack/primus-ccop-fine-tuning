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5F4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55591" y="355591"/>
            <a:ext cx="11480512" cy="6146646"/>
          </a:xfrm>
          <a:prstGeom prst="rect">
            <a:avLst/>
          </a:prstGeom>
          <a:noFill/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5591" y="355591"/>
            <a:ext cx="177795" cy="12699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55591" y="355591"/>
            <a:ext cx="12699" cy="177795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58308" y="355591"/>
            <a:ext cx="177795" cy="12699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23404" y="355591"/>
            <a:ext cx="12699" cy="177795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5591" y="6324441"/>
            <a:ext cx="177795" cy="12699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5591" y="6324441"/>
            <a:ext cx="12699" cy="177795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658308" y="6324441"/>
            <a:ext cx="177795" cy="12699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23404" y="6324441"/>
            <a:ext cx="12699" cy="177795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73803" y="1523961"/>
            <a:ext cx="2920926" cy="2920926"/>
          </a:xfrm>
          <a:prstGeom prst="ellipse">
            <a:avLst/>
          </a:prstGeom>
          <a:noFill/>
          <a:ln w="12700">
            <a:solidFill>
              <a:srgbClr val="CCCF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54793" y="1904952"/>
            <a:ext cx="2158946" cy="2158946"/>
          </a:xfrm>
          <a:prstGeom prst="ellipse">
            <a:avLst/>
          </a:prstGeom>
          <a:noFill/>
          <a:ln w="1270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35784" y="2285942"/>
            <a:ext cx="1396965" cy="1396965"/>
          </a:xfrm>
          <a:prstGeom prst="ellipse">
            <a:avLst/>
          </a:prstGeom>
          <a:noFill/>
          <a:ln w="12700">
            <a:solidFill>
              <a:srgbClr val="E9C9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78675" y="2628834"/>
            <a:ext cx="711182" cy="711182"/>
          </a:xfrm>
          <a:prstGeom prst="ellipse">
            <a:avLst/>
          </a:prstGeom>
          <a:solidFill>
            <a:srgbClr val="E9C9A8"/>
          </a:solidFill>
          <a:ln w="1905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96167" y="2946326"/>
            <a:ext cx="76198" cy="76198"/>
          </a:xfrm>
          <a:prstGeom prst="ellipse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2679" y="1523961"/>
            <a:ext cx="3174" cy="2920926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73803" y="2982837"/>
            <a:ext cx="2920926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394" y="2133546"/>
            <a:ext cx="50798" cy="50798"/>
          </a:xfrm>
          <a:prstGeom prst="ellipse">
            <a:avLst/>
          </a:prstGeom>
          <a:solidFill>
            <a:srgbClr val="6C76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388340" y="2133546"/>
            <a:ext cx="50798" cy="50798"/>
          </a:xfrm>
          <a:prstGeom prst="ellipse">
            <a:avLst/>
          </a:prstGeom>
          <a:solidFill>
            <a:srgbClr val="6C76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394" y="3784505"/>
            <a:ext cx="50798" cy="50798"/>
          </a:xfrm>
          <a:prstGeom prst="ellipse">
            <a:avLst/>
          </a:prstGeom>
          <a:solidFill>
            <a:srgbClr val="6C76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88340" y="3784505"/>
            <a:ext cx="50798" cy="50798"/>
          </a:xfrm>
          <a:prstGeom prst="ellipse">
            <a:avLst/>
          </a:prstGeom>
          <a:solidFill>
            <a:srgbClr val="6C76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02517" y="1555711"/>
            <a:ext cx="63498" cy="63498"/>
          </a:xfrm>
          <a:prstGeom prst="ellipse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2779" y="825479"/>
            <a:ext cx="76198" cy="76198"/>
          </a:xfrm>
          <a:prstGeom prst="ellipse">
            <a:avLst/>
          </a:prstGeom>
          <a:solidFill>
            <a:srgbClr val="D892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9776" y="787380"/>
            <a:ext cx="2539936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232A"/>
                </a:solidFill>
                <a:latin typeface="Aptos Display"/>
              </a:rPr>
              <a:t>Project deck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4761" y="800079"/>
            <a:ext cx="2108147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20">
                <a:solidFill>
                  <a:srgbClr val="6C7680"/>
                </a:solidFill>
                <a:latin typeface="JetBrains Mono"/>
              </a:rPr>
              <a:t>VOL. 01 · NO. 14 · 2026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779" y="1644608"/>
            <a:ext cx="228594" cy="12699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7572" y="1587460"/>
            <a:ext cx="5079873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20">
                <a:solidFill>
                  <a:srgbClr val="B8722E"/>
                </a:solidFill>
                <a:latin typeface="JetBrains Mono"/>
              </a:rPr>
              <a:t>PROJECT · FINAL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779" y="1955751"/>
            <a:ext cx="6984825" cy="17779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10000" b="1" i="0">
                <a:solidFill>
                  <a:srgbClr val="1F232A"/>
                </a:solidFill>
                <a:latin typeface="Aptos Display"/>
              </a:rPr>
              <a:t>Domain</a:t>
            </a:r>
            <a:r>
              <a:rPr sz="10000" b="1" i="0">
                <a:solidFill>
                  <a:srgbClr val="1F232A"/>
                </a:solidFill>
                <a:latin typeface="Aptos Display"/>
              </a:rPr>
              <a:t> adaptation
</a:t>
            </a:r>
            <a:r>
              <a:rPr sz="10000" b="1" i="0">
                <a:solidFill>
                  <a:srgbClr val="1F232A"/>
                </a:solidFill>
                <a:latin typeface="Aptos Display"/>
              </a:rPr>
              <a:t>for </a:t>
            </a:r>
            <a:r>
              <a:rPr sz="10000" b="0" i="1">
                <a:solidFill>
                  <a:srgbClr val="B8722E"/>
                </a:solidFill>
                <a:latin typeface="Aptos Display"/>
              </a:rPr>
              <a:t>CCoP 2.0.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2779" y="4254393"/>
            <a:ext cx="8254793" cy="571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F232A"/>
                </a:solidFill>
                <a:latin typeface="Inter"/>
              </a:rPr>
              <a:t>Retrieval-grounded evaluation of Llama-Primus-Reasoning on Singapore's Cybersecurity Code of Practice for Critical Information Infrastructure — corpus, retrieval, judge, findings.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779" y="5586272"/>
            <a:ext cx="10566135" cy="317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2779" y="5752956"/>
            <a:ext cx="2470088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AUTHOR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779" y="5892652"/>
            <a:ext cx="2470088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32A"/>
                </a:solidFill>
                <a:latin typeface="Aptos Display"/>
              </a:rPr>
              <a:t>Sagar Pratap Singh · 1010736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11462" y="5752956"/>
            <a:ext cx="2470088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PROGRAMME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11462" y="5892652"/>
            <a:ext cx="2470088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32A"/>
                </a:solidFill>
                <a:latin typeface="Aptos Display"/>
              </a:rPr>
              <a:t>MDAIE-Studio · Aether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0144" y="5752956"/>
            <a:ext cx="2470088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DATE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0144" y="5892652"/>
            <a:ext cx="2470088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32A"/>
                </a:solidFill>
                <a:latin typeface="Aptos Display"/>
              </a:rPr>
              <a:t>April 2026 · Term 2 Final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08827" y="5752956"/>
            <a:ext cx="2470088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REFERENCE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08827" y="5892652"/>
            <a:ext cx="2470088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32A"/>
                </a:solidFill>
                <a:latin typeface="Aptos Display"/>
              </a:rPr>
              <a:t>Vol. 01 · No. 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94730" y="6286342"/>
            <a:ext cx="838179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20">
                <a:solidFill>
                  <a:srgbClr val="B8722E"/>
                </a:solidFill>
                <a:latin typeface="JetBrains Mono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8786" y="228594"/>
            <a:ext cx="76198" cy="76198"/>
          </a:xfrm>
          <a:prstGeom prst="ellipse">
            <a:avLst/>
          </a:prstGeom>
          <a:solidFill>
            <a:srgbClr val="D892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782" y="177795"/>
            <a:ext cx="1523961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232A"/>
                </a:solidFill>
                <a:latin typeface="Aptos Display"/>
              </a:rPr>
              <a:t>Project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2939" y="203194"/>
            <a:ext cx="6857828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80">
                <a:solidFill>
                  <a:srgbClr val="B8722E"/>
                </a:solidFill>
                <a:latin typeface="JetBrains Mono"/>
              </a:rPr>
              <a:t>02</a:t>
            </a:r>
            <a:r>
              <a:rPr sz="1000" b="0" i="0" spc="180">
                <a:solidFill>
                  <a:srgbClr val="6C7680"/>
                </a:solidFill>
                <a:latin typeface="JetBrains Mono"/>
              </a:rPr>
              <a:t>  ·  AGENDA · READING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4761" y="203194"/>
            <a:ext cx="210814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20">
                <a:solidFill>
                  <a:srgbClr val="6C7680"/>
                </a:solidFill>
                <a:latin typeface="JetBrains Mono"/>
              </a:rPr>
              <a:t>VOL. 01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58786" y="506399"/>
            <a:ext cx="11074123" cy="317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8786" y="895327"/>
            <a:ext cx="228594" cy="12699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578" y="838179"/>
            <a:ext cx="5079873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20">
                <a:solidFill>
                  <a:srgbClr val="B8722E"/>
                </a:solidFill>
                <a:latin typeface="JetBrains Mono"/>
              </a:rPr>
              <a:t>CONTENTS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786" y="1168370"/>
            <a:ext cx="10794730" cy="5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1F232A"/>
                </a:solidFill>
                <a:latin typeface="Aptos Display"/>
              </a:rPr>
              <a:t>Twelve sections, </a:t>
            </a:r>
            <a:r>
              <a:rPr sz="5800" b="0" i="1">
                <a:solidFill>
                  <a:srgbClr val="B8722E"/>
                </a:solidFill>
                <a:latin typeface="Aptos Display"/>
              </a:rPr>
              <a:t>one thread</a:t>
            </a:r>
            <a:r>
              <a:rPr sz="5800" b="1" i="0">
                <a:solidFill>
                  <a:srgbClr val="1F232A"/>
                </a:solidFill>
                <a:latin typeface="Aptos Display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786" y="2158946"/>
            <a:ext cx="355591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220">
                <a:solidFill>
                  <a:srgbClr val="B8722E"/>
                </a:solidFill>
                <a:latin typeface="JetBrains Mono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175" y="2120846"/>
            <a:ext cx="4927476" cy="253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232A"/>
                </a:solidFill>
                <a:latin typeface="Aptos Display"/>
              </a:rPr>
              <a:t>Recap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1853" y="2158946"/>
            <a:ext cx="152396" cy="126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BA3AC"/>
                </a:solidFill>
                <a:latin typeface="JetBrains Mono"/>
              </a:rPr>
              <a:t>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8786" y="2512949"/>
            <a:ext cx="5435464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3643" y="2158946"/>
            <a:ext cx="355591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220">
                <a:solidFill>
                  <a:srgbClr val="B8722E"/>
                </a:solidFill>
                <a:latin typeface="JetBrains Mono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0032" y="2120846"/>
            <a:ext cx="4927476" cy="253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232A"/>
                </a:solidFill>
                <a:latin typeface="Aptos Display"/>
              </a:rPr>
              <a:t>Roadmap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56711" y="2158946"/>
            <a:ext cx="152396" cy="126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BA3AC"/>
                </a:solidFill>
                <a:latin typeface="JetBrains Mono"/>
              </a:rPr>
              <a:t>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3643" y="2512949"/>
            <a:ext cx="5435464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8786" y="2565335"/>
            <a:ext cx="355591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220">
                <a:solidFill>
                  <a:srgbClr val="B8722E"/>
                </a:solidFill>
                <a:latin typeface="JetBrains Mono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175" y="2527236"/>
            <a:ext cx="4927476" cy="253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232A"/>
                </a:solidFill>
                <a:latin typeface="Aptos Display"/>
              </a:rPr>
              <a:t>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1853" y="2565335"/>
            <a:ext cx="152396" cy="126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BA3AC"/>
                </a:solidFill>
                <a:latin typeface="JetBrains Mono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8786" y="2919339"/>
            <a:ext cx="5435464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3643" y="2565335"/>
            <a:ext cx="355591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220">
                <a:solidFill>
                  <a:srgbClr val="B8722E"/>
                </a:solidFill>
                <a:latin typeface="JetBrains Mono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0032" y="2527236"/>
            <a:ext cx="4927476" cy="253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232A"/>
                </a:solidFill>
                <a:latin typeface="Aptos Display"/>
              </a:rPr>
              <a:t>Ground truth improvements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6711" y="2565335"/>
            <a:ext cx="152396" cy="126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BA3AC"/>
                </a:solidFill>
                <a:latin typeface="JetBrains Mono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73643" y="2919339"/>
            <a:ext cx="5435464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786" y="2971725"/>
            <a:ext cx="355591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220">
                <a:solidFill>
                  <a:srgbClr val="B8722E"/>
                </a:solidFill>
                <a:latin typeface="JetBrains Mono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175" y="2933626"/>
            <a:ext cx="4927476" cy="253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232A"/>
                </a:solidFill>
                <a:latin typeface="Aptos Display"/>
              </a:rPr>
              <a:t>RAG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1853" y="2971725"/>
            <a:ext cx="152396" cy="126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BA3AC"/>
                </a:solidFill>
                <a:latin typeface="JetBrains Mono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8786" y="3325729"/>
            <a:ext cx="5435464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3643" y="2971725"/>
            <a:ext cx="355591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220">
                <a:solidFill>
                  <a:srgbClr val="B8722E"/>
                </a:solidFill>
                <a:latin typeface="JetBrains Mono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80032" y="2933626"/>
            <a:ext cx="4927476" cy="253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232A"/>
                </a:solidFill>
                <a:latin typeface="Aptos Display"/>
              </a:rPr>
              <a:t>RAG quality 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56711" y="2971725"/>
            <a:ext cx="152396" cy="126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BA3AC"/>
                </a:solidFill>
                <a:latin typeface="JetBrains Mono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73643" y="3325729"/>
            <a:ext cx="5435464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8786" y="3378115"/>
            <a:ext cx="355591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220">
                <a:solidFill>
                  <a:srgbClr val="B8722E"/>
                </a:solidFill>
                <a:latin typeface="JetBrains Mono"/>
              </a:rPr>
              <a:t>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5175" y="3340016"/>
            <a:ext cx="4927476" cy="253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232A"/>
                </a:solidFill>
                <a:latin typeface="Aptos Display"/>
              </a:rPr>
              <a:t>LLM as judge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1853" y="3378115"/>
            <a:ext cx="152396" cy="126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BA3AC"/>
                </a:solidFill>
                <a:latin typeface="JetBrains Mono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8786" y="3732119"/>
            <a:ext cx="5435464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73643" y="3378115"/>
            <a:ext cx="355591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220">
                <a:solidFill>
                  <a:srgbClr val="B8722E"/>
                </a:solidFill>
                <a:latin typeface="JetBrains Mono"/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80032" y="3340016"/>
            <a:ext cx="4927476" cy="253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232A"/>
                </a:solidFill>
                <a:latin typeface="Aptos Display"/>
              </a:rPr>
              <a:t>Model evaluation — native vs RAG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56711" y="3378115"/>
            <a:ext cx="152396" cy="126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BA3AC"/>
                </a:solidFill>
                <a:latin typeface="JetBrains Mono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73643" y="3732119"/>
            <a:ext cx="5435464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8786" y="3784505"/>
            <a:ext cx="355591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220">
                <a:solidFill>
                  <a:srgbClr val="B8722E"/>
                </a:solidFill>
                <a:latin typeface="JetBrains Mono"/>
              </a:rPr>
              <a:t>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5175" y="3746406"/>
            <a:ext cx="4927476" cy="253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232A"/>
                </a:solidFill>
                <a:latin typeface="Aptos Display"/>
              </a:rPr>
              <a:t>Sample results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1853" y="3784505"/>
            <a:ext cx="152396" cy="126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BA3AC"/>
                </a:solidFill>
                <a:latin typeface="JetBrains Mono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8786" y="4138509"/>
            <a:ext cx="5435464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73643" y="3784505"/>
            <a:ext cx="355591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220">
                <a:solidFill>
                  <a:srgbClr val="B8722E"/>
                </a:solidFill>
                <a:latin typeface="JetBrains Mono"/>
              </a:rPr>
              <a:t>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80032" y="3746406"/>
            <a:ext cx="4927476" cy="253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232A"/>
                </a:solidFill>
                <a:latin typeface="Aptos Display"/>
              </a:rPr>
              <a:t>Observations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556711" y="3784505"/>
            <a:ext cx="152396" cy="126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BA3AC"/>
                </a:solidFill>
                <a:latin typeface="JetBrains Mono"/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73643" y="4138509"/>
            <a:ext cx="5435464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8786" y="4190895"/>
            <a:ext cx="355591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220">
                <a:solidFill>
                  <a:srgbClr val="B8722E"/>
                </a:solidFill>
                <a:latin typeface="JetBrains Mono"/>
              </a:rPr>
              <a:t>13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5175" y="4152796"/>
            <a:ext cx="4927476" cy="253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232A"/>
                </a:solidFill>
                <a:latin typeface="Aptos Display"/>
              </a:rPr>
              <a:t>Next steps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1853" y="4190895"/>
            <a:ext cx="152396" cy="126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BA3AC"/>
                </a:solidFill>
                <a:latin typeface="JetBrains Mono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8786" y="4544898"/>
            <a:ext cx="5435464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73643" y="4190895"/>
            <a:ext cx="355591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220">
                <a:solidFill>
                  <a:srgbClr val="B8722E"/>
                </a:solidFill>
                <a:latin typeface="JetBrains Mono"/>
              </a:rPr>
              <a:t>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80032" y="4152796"/>
            <a:ext cx="4927476" cy="253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232A"/>
                </a:solidFill>
                <a:latin typeface="Aptos Display"/>
              </a:rPr>
              <a:t>Conclusion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556711" y="4190895"/>
            <a:ext cx="152396" cy="126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BA3AC"/>
                </a:solidFill>
                <a:latin typeface="JetBrains Mono"/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73643" y="4544898"/>
            <a:ext cx="5435464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8786" y="6411752"/>
            <a:ext cx="11074123" cy="317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8786" y="6502237"/>
            <a:ext cx="380990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80">
                <a:solidFill>
                  <a:srgbClr val="6C7680"/>
                </a:solidFill>
                <a:latin typeface="JetBrains Mono"/>
              </a:rPr>
              <a:t>PROJECT DECK · VOL. 01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23004" y="6502237"/>
            <a:ext cx="380990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80">
                <a:solidFill>
                  <a:srgbClr val="6C7680"/>
                </a:solidFill>
                <a:latin typeface="JetBrains Mono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8786" y="228594"/>
            <a:ext cx="76198" cy="76198"/>
          </a:xfrm>
          <a:prstGeom prst="ellipse">
            <a:avLst/>
          </a:prstGeom>
          <a:solidFill>
            <a:srgbClr val="D892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782" y="177795"/>
            <a:ext cx="1523961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232A"/>
                </a:solidFill>
                <a:latin typeface="Aptos Display"/>
              </a:rPr>
              <a:t>Project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2939" y="203194"/>
            <a:ext cx="6857828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80">
                <a:solidFill>
                  <a:srgbClr val="B8722E"/>
                </a:solidFill>
                <a:latin typeface="JetBrains Mono"/>
              </a:rPr>
              <a:t>03</a:t>
            </a:r>
            <a:r>
              <a:rPr sz="1000" b="0" i="0" spc="180">
                <a:solidFill>
                  <a:srgbClr val="6C7680"/>
                </a:solidFill>
                <a:latin typeface="JetBrains Mono"/>
              </a:rPr>
              <a:t>  ·  RECAP · WHERE WE LEFT 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4761" y="203194"/>
            <a:ext cx="210814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20">
                <a:solidFill>
                  <a:srgbClr val="6C7680"/>
                </a:solidFill>
                <a:latin typeface="JetBrains Mono"/>
              </a:rPr>
              <a:t>VOL. 01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58786" y="506399"/>
            <a:ext cx="11074123" cy="317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8786" y="895327"/>
            <a:ext cx="228594" cy="12699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578" y="838179"/>
            <a:ext cx="5079873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20">
                <a:solidFill>
                  <a:srgbClr val="B8722E"/>
                </a:solidFill>
                <a:latin typeface="JetBrains Mono"/>
              </a:rPr>
              <a:t>RECAP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786" y="1168370"/>
            <a:ext cx="10794730" cy="5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1F232A"/>
                </a:solidFill>
                <a:latin typeface="Aptos Display"/>
              </a:rPr>
              <a:t>Where we </a:t>
            </a:r>
            <a:r>
              <a:rPr sz="5800" b="0" i="1">
                <a:solidFill>
                  <a:srgbClr val="B8722E"/>
                </a:solidFill>
                <a:latin typeface="Aptos Display"/>
              </a:rPr>
              <a:t>left off</a:t>
            </a:r>
            <a:r>
              <a:rPr sz="5800" b="1" i="0">
                <a:solidFill>
                  <a:srgbClr val="1F232A"/>
                </a:solidFill>
                <a:latin typeface="Aptos Display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" y="2158946"/>
            <a:ext cx="4825879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PREVIOUS MILESTONE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" y="2324041"/>
            <a:ext cx="4825879" cy="317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232A"/>
                </a:solidFill>
                <a:latin typeface="Aptos Display"/>
              </a:rPr>
              <a:t>Term 1 — baseline evaluation, no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" y="2730431"/>
            <a:ext cx="4825879" cy="126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F232A"/>
                </a:solidFill>
                <a:latin typeface="Inter"/>
              </a:rPr>
              <a:t>Llama-Primus-Reasoning evaluated on 118 test cases across 19 mixed-purpose benchmarks (compliance, code quality, advanced reasoning, safety, training instrumentation). Identified core weakness: the model fabricated regulatory facts (B21 = 22.13%) because it had no access to authoritative CCoP clauses.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584" y="4190895"/>
            <a:ext cx="2349441" cy="698482"/>
          </a:xfrm>
          <a:prstGeom prst="rect">
            <a:avLst/>
          </a:prstGeom>
          <a:solidFill>
            <a:srgbClr val="FBFAF6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182" y="4292492"/>
            <a:ext cx="2209744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TEST CASES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182" y="4432189"/>
            <a:ext cx="2209744" cy="38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F232A"/>
                </a:solidFill>
                <a:latin typeface="Aptos Display"/>
              </a:rPr>
              <a:t>118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6022" y="4190895"/>
            <a:ext cx="2349441" cy="698482"/>
          </a:xfrm>
          <a:prstGeom prst="rect">
            <a:avLst/>
          </a:prstGeom>
          <a:solidFill>
            <a:srgbClr val="FBFAF6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87620" y="4292492"/>
            <a:ext cx="2209744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BENCHMARKS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87620" y="4432189"/>
            <a:ext cx="2209744" cy="38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F232A"/>
                </a:solidFill>
                <a:latin typeface="Aptos Display"/>
              </a:rPr>
              <a:t>19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41873" y="2793930"/>
            <a:ext cx="6349" cy="50798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41873" y="2933626"/>
            <a:ext cx="6349" cy="50798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41873" y="3073323"/>
            <a:ext cx="6349" cy="50798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41873" y="3213019"/>
            <a:ext cx="6349" cy="50798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41873" y="3352716"/>
            <a:ext cx="6349" cy="50798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41873" y="3492412"/>
            <a:ext cx="6349" cy="50798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41873" y="3632109"/>
            <a:ext cx="6349" cy="50798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41873" y="3771805"/>
            <a:ext cx="6349" cy="50798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41873" y="3911502"/>
            <a:ext cx="6349" cy="50798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41873" y="4051198"/>
            <a:ext cx="6349" cy="50798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41873" y="4190895"/>
            <a:ext cx="6349" cy="50798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41873" y="4330591"/>
            <a:ext cx="6349" cy="50798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41873" y="4470288"/>
            <a:ext cx="6349" cy="50798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41873" y="4609984"/>
            <a:ext cx="6349" cy="50798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41873" y="4749681"/>
            <a:ext cx="6349" cy="50798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41873" y="4889377"/>
            <a:ext cx="6349" cy="50798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41873" y="5029074"/>
            <a:ext cx="6349" cy="50798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41853" y="3352716"/>
            <a:ext cx="406389" cy="406389"/>
          </a:xfrm>
          <a:prstGeom prst="ellipse">
            <a:avLst/>
          </a:prstGeom>
          <a:solidFill>
            <a:srgbClr val="FBFAF6"/>
          </a:solidFill>
          <a:ln w="1905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41853" y="3454313"/>
            <a:ext cx="406389" cy="203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 spc="180">
                <a:solidFill>
                  <a:srgbClr val="B8722E"/>
                </a:solidFill>
                <a:latin typeface="JetBrains Mono"/>
              </a:rPr>
              <a:t>NOW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02237" y="2158946"/>
            <a:ext cx="4825879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CURRENT STATE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02237" y="2324041"/>
            <a:ext cx="4825879" cy="317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232A"/>
                </a:solidFill>
                <a:latin typeface="Aptos Display"/>
              </a:rPr>
              <a:t>Term 2 — RAG-grounded, evaluation infrastructure complete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02237" y="2730431"/>
            <a:ext cx="4825879" cy="126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F232A"/>
                </a:solidFill>
                <a:latin typeface="Inter"/>
              </a:rPr>
              <a:t>Benchmarks consolidated to 18 regulatory-reasoning benchmarks; GT corpus expanded to 435 cases (3.7× per-benchmark cardinality). Schema enriched with 6 new fields anchoring the LLM-Judge dimensions. RAG retrieval stack migrated to production after 41 lab experiments. LLM-Judge: 6-dim equal-weight rubric.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02237" y="4190895"/>
            <a:ext cx="2349441" cy="698482"/>
          </a:xfrm>
          <a:prstGeom prst="rect">
            <a:avLst/>
          </a:prstGeom>
          <a:solidFill>
            <a:srgbClr val="FBFAF6"/>
          </a:solidFill>
          <a:ln w="1905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03834" y="4292492"/>
            <a:ext cx="2209744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B8722E"/>
                </a:solidFill>
                <a:latin typeface="JetBrains Mono"/>
              </a:rPr>
              <a:t>TEST CASES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03834" y="4432189"/>
            <a:ext cx="2209744" cy="38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F232A"/>
                </a:solidFill>
                <a:latin typeface="Aptos Display"/>
              </a:rPr>
              <a:t>435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78675" y="4190895"/>
            <a:ext cx="2349441" cy="698482"/>
          </a:xfrm>
          <a:prstGeom prst="rect">
            <a:avLst/>
          </a:prstGeom>
          <a:solidFill>
            <a:srgbClr val="FBFAF6"/>
          </a:solidFill>
          <a:ln w="1905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80272" y="4292492"/>
            <a:ext cx="2209744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B8722E"/>
                </a:solidFill>
                <a:latin typeface="JetBrains Mono"/>
              </a:rPr>
              <a:t>BENCHMARKS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80272" y="4432189"/>
            <a:ext cx="2209744" cy="38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F232A"/>
                </a:solidFill>
                <a:latin typeface="Aptos Display"/>
              </a:rPr>
              <a:t>18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8786" y="6411752"/>
            <a:ext cx="11074123" cy="317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8786" y="6502237"/>
            <a:ext cx="380990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80">
                <a:solidFill>
                  <a:srgbClr val="6C7680"/>
                </a:solidFill>
                <a:latin typeface="JetBrains Mono"/>
              </a:rPr>
              <a:t>PROJECT DECK · VOL. 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23004" y="6502237"/>
            <a:ext cx="380990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80">
                <a:solidFill>
                  <a:srgbClr val="6C7680"/>
                </a:solidFill>
                <a:latin typeface="JetBrains Mono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8786" y="228594"/>
            <a:ext cx="76198" cy="76198"/>
          </a:xfrm>
          <a:prstGeom prst="ellipse">
            <a:avLst/>
          </a:prstGeom>
          <a:solidFill>
            <a:srgbClr val="D892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782" y="177795"/>
            <a:ext cx="1523961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232A"/>
                </a:solidFill>
                <a:latin typeface="Aptos Display"/>
              </a:rPr>
              <a:t>Project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2939" y="203194"/>
            <a:ext cx="6857828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80">
                <a:solidFill>
                  <a:srgbClr val="B8722E"/>
                </a:solidFill>
                <a:latin typeface="JetBrains Mono"/>
              </a:rPr>
              <a:t>04</a:t>
            </a:r>
            <a:r>
              <a:rPr sz="1000" b="0" i="0" spc="180">
                <a:solidFill>
                  <a:srgbClr val="6C7680"/>
                </a:solidFill>
                <a:latin typeface="JetBrains Mono"/>
              </a:rPr>
              <a:t>  ·  ROADMAP · PHASING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4761" y="203194"/>
            <a:ext cx="210814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20">
                <a:solidFill>
                  <a:srgbClr val="6C7680"/>
                </a:solidFill>
                <a:latin typeface="JetBrains Mono"/>
              </a:rPr>
              <a:t>VOL. 01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58786" y="506399"/>
            <a:ext cx="11074123" cy="317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8786" y="895327"/>
            <a:ext cx="228594" cy="12699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578" y="838179"/>
            <a:ext cx="5079873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20">
                <a:solidFill>
                  <a:srgbClr val="B8722E"/>
                </a:solidFill>
                <a:latin typeface="JetBrains Mono"/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786" y="1168370"/>
            <a:ext cx="10794730" cy="5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1F232A"/>
                </a:solidFill>
                <a:latin typeface="Aptos Display"/>
              </a:rPr>
              <a:t>From </a:t>
            </a:r>
            <a:r>
              <a:rPr sz="5800" b="0" i="1">
                <a:solidFill>
                  <a:srgbClr val="B8722E"/>
                </a:solidFill>
                <a:latin typeface="Aptos Display"/>
              </a:rPr>
              <a:t>here</a:t>
            </a:r>
            <a:r>
              <a:rPr sz="5800" b="1" i="0">
                <a:solidFill>
                  <a:srgbClr val="1F232A"/>
                </a:solidFill>
                <a:latin typeface="Aptos Display"/>
              </a:rPr>
              <a:t> to delivery.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" y="2158946"/>
            <a:ext cx="1777955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PHASE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9936" y="2158946"/>
            <a:ext cx="634984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Q1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479" y="2158946"/>
            <a:ext cx="634984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1023" y="2158946"/>
            <a:ext cx="634984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1566" y="2158946"/>
            <a:ext cx="634984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Q4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584" y="2347853"/>
            <a:ext cx="10972525" cy="317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584" y="2578035"/>
            <a:ext cx="1777955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32A"/>
                </a:solidFill>
                <a:latin typeface="Aptos Display"/>
              </a:rPr>
              <a:t>Phase 1 — Term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584" y="2743131"/>
            <a:ext cx="1777955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C7680"/>
                </a:solidFill>
                <a:latin typeface="Inter"/>
              </a:rPr>
              <a:t>Baseline &amp; framework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39936" y="2514537"/>
            <a:ext cx="9042173" cy="38099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99210" y="2514537"/>
            <a:ext cx="3174" cy="380990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59753" y="2514537"/>
            <a:ext cx="3174" cy="380990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20296" y="2514537"/>
            <a:ext cx="3174" cy="380990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39936" y="2565335"/>
            <a:ext cx="1989278" cy="279393"/>
          </a:xfrm>
          <a:prstGeom prst="rect">
            <a:avLst/>
          </a:prstGeom>
          <a:solidFill>
            <a:srgbClr val="DCDCD8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41533" y="2628834"/>
            <a:ext cx="1760683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20">
                <a:solidFill>
                  <a:srgbClr val="6C7680"/>
                </a:solidFill>
                <a:latin typeface="JetBrains Mono"/>
              </a:rPr>
              <a:t>PLANNED</a:t>
            </a:r>
          </a:p>
        </p:txBody>
      </p:sp>
      <p:sp>
        <p:nvSpPr>
          <p:cNvPr id="25" name="Oval 24"/>
          <p:cNvSpPr/>
          <p:nvPr/>
        </p:nvSpPr>
        <p:spPr>
          <a:xfrm>
            <a:off x="2501837" y="2666933"/>
            <a:ext cx="76198" cy="76198"/>
          </a:xfrm>
          <a:prstGeom prst="ellipse">
            <a:avLst/>
          </a:prstGeom>
          <a:solidFill>
            <a:srgbClr val="F5F4F1"/>
          </a:solidFill>
          <a:ln w="1905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91115" y="2666933"/>
            <a:ext cx="76198" cy="76198"/>
          </a:xfrm>
          <a:prstGeom prst="ellipse">
            <a:avLst/>
          </a:prstGeom>
          <a:solidFill>
            <a:srgbClr val="F5F4F1"/>
          </a:solidFill>
          <a:ln w="1905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584" y="3136821"/>
            <a:ext cx="1777955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32A"/>
                </a:solidFill>
                <a:latin typeface="Aptos Display"/>
              </a:rPr>
              <a:t>Phase 2 — Term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584" y="3301917"/>
            <a:ext cx="1777955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C7680"/>
                </a:solidFill>
                <a:latin typeface="Inter"/>
              </a:rPr>
              <a:t>RAG pivot · GT expansion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39936" y="3073323"/>
            <a:ext cx="9042173" cy="38099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99210" y="3073323"/>
            <a:ext cx="3174" cy="380990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59753" y="3073323"/>
            <a:ext cx="3174" cy="380990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20296" y="3073323"/>
            <a:ext cx="3174" cy="380990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67527" y="3124121"/>
            <a:ext cx="2531808" cy="279393"/>
          </a:xfrm>
          <a:prstGeom prst="rect">
            <a:avLst/>
          </a:prstGeom>
          <a:solidFill>
            <a:srgbClr val="DCDCD8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69125" y="3187620"/>
            <a:ext cx="230321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20">
                <a:solidFill>
                  <a:srgbClr val="6C7680"/>
                </a:solidFill>
                <a:latin typeface="JetBrains Mono"/>
              </a:rPr>
              <a:t>PLANNED</a:t>
            </a:r>
          </a:p>
        </p:txBody>
      </p:sp>
      <p:sp>
        <p:nvSpPr>
          <p:cNvPr id="35" name="Oval 34"/>
          <p:cNvSpPr/>
          <p:nvPr/>
        </p:nvSpPr>
        <p:spPr>
          <a:xfrm>
            <a:off x="4129428" y="3225719"/>
            <a:ext cx="76198" cy="76198"/>
          </a:xfrm>
          <a:prstGeom prst="ellipse">
            <a:avLst/>
          </a:prstGeom>
          <a:solidFill>
            <a:srgbClr val="F5F4F1"/>
          </a:solidFill>
          <a:ln w="1905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661237" y="3225719"/>
            <a:ext cx="76198" cy="76198"/>
          </a:xfrm>
          <a:prstGeom prst="ellipse">
            <a:avLst/>
          </a:prstGeom>
          <a:solidFill>
            <a:srgbClr val="F5F4F1"/>
          </a:solidFill>
          <a:ln w="1905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584" y="3695607"/>
            <a:ext cx="1777955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32A"/>
                </a:solidFill>
                <a:latin typeface="Aptos Display"/>
              </a:rPr>
              <a:t>Phase 3 — Now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584" y="3860703"/>
            <a:ext cx="1777955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C7680"/>
                </a:solidFill>
                <a:latin typeface="Inter"/>
              </a:rPr>
              <a:t>Evaluation · audit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39936" y="3632109"/>
            <a:ext cx="9042173" cy="38099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99210" y="3632109"/>
            <a:ext cx="3174" cy="380990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59753" y="3632109"/>
            <a:ext cx="3174" cy="380990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320296" y="3632109"/>
            <a:ext cx="3174" cy="380990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56806" y="3682907"/>
            <a:ext cx="2712652" cy="279393"/>
          </a:xfrm>
          <a:prstGeom prst="rect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844058" y="3682907"/>
            <a:ext cx="25399" cy="279393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58403" y="3746406"/>
            <a:ext cx="248405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20">
                <a:solidFill>
                  <a:srgbClr val="D89254"/>
                </a:solidFill>
                <a:latin typeface="JetBrains Mono"/>
              </a:rPr>
              <a:t>CURRENT FOCUS</a:t>
            </a:r>
          </a:p>
        </p:txBody>
      </p:sp>
      <p:sp>
        <p:nvSpPr>
          <p:cNvPr id="46" name="Oval 45"/>
          <p:cNvSpPr/>
          <p:nvPr/>
        </p:nvSpPr>
        <p:spPr>
          <a:xfrm>
            <a:off x="6118707" y="3784505"/>
            <a:ext cx="76198" cy="76198"/>
          </a:xfrm>
          <a:prstGeom prst="ellipse">
            <a:avLst/>
          </a:prstGeom>
          <a:solidFill>
            <a:srgbClr val="F5F4F1"/>
          </a:solidFill>
          <a:ln w="1905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31359" y="3784505"/>
            <a:ext cx="76198" cy="76198"/>
          </a:xfrm>
          <a:prstGeom prst="ellipse">
            <a:avLst/>
          </a:prstGeom>
          <a:solidFill>
            <a:srgbClr val="F5F4F1"/>
          </a:solidFill>
          <a:ln w="1905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9584" y="4254393"/>
            <a:ext cx="1777955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32A"/>
                </a:solidFill>
                <a:latin typeface="Aptos Display"/>
              </a:rPr>
              <a:t>Phase 4 — Onward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584" y="4419489"/>
            <a:ext cx="1777955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C7680"/>
                </a:solidFill>
                <a:latin typeface="Inter"/>
              </a:rPr>
              <a:t>Fine-tune · scale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39936" y="4190895"/>
            <a:ext cx="9042173" cy="38099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799210" y="4190895"/>
            <a:ext cx="3174" cy="380990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59753" y="4190895"/>
            <a:ext cx="3174" cy="380990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320296" y="4190895"/>
            <a:ext cx="3174" cy="380990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26927" y="4241693"/>
            <a:ext cx="3255182" cy="279393"/>
          </a:xfrm>
          <a:prstGeom prst="rect">
            <a:avLst/>
          </a:prstGeom>
          <a:solidFill>
            <a:srgbClr val="DCDCD8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28525" y="4305192"/>
            <a:ext cx="3026588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20">
                <a:solidFill>
                  <a:srgbClr val="6C7680"/>
                </a:solidFill>
                <a:latin typeface="JetBrains Mono"/>
              </a:rPr>
              <a:t>PLANNED</a:t>
            </a:r>
          </a:p>
        </p:txBody>
      </p:sp>
      <p:sp>
        <p:nvSpPr>
          <p:cNvPr id="56" name="Oval 55"/>
          <p:cNvSpPr/>
          <p:nvPr/>
        </p:nvSpPr>
        <p:spPr>
          <a:xfrm>
            <a:off x="8288828" y="4343291"/>
            <a:ext cx="76198" cy="76198"/>
          </a:xfrm>
          <a:prstGeom prst="ellipse">
            <a:avLst/>
          </a:prstGeom>
          <a:solidFill>
            <a:srgbClr val="F5F4F1"/>
          </a:solidFill>
          <a:ln w="1905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544011" y="4343291"/>
            <a:ext cx="76198" cy="76198"/>
          </a:xfrm>
          <a:prstGeom prst="ellipse">
            <a:avLst/>
          </a:prstGeom>
          <a:solidFill>
            <a:srgbClr val="F5F4F1"/>
          </a:solidFill>
          <a:ln w="1905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8786" y="4900489"/>
            <a:ext cx="11074123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8786" y="5079873"/>
            <a:ext cx="152396" cy="63498"/>
          </a:xfrm>
          <a:prstGeom prst="rect">
            <a:avLst/>
          </a:prstGeom>
          <a:solidFill>
            <a:srgbClr val="DCDCD8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7380" y="5060823"/>
            <a:ext cx="1523961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6C7680"/>
                </a:solidFill>
                <a:latin typeface="JetBrains Mono"/>
              </a:rPr>
              <a:t>PLANNED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336741" y="5079873"/>
            <a:ext cx="152396" cy="63498"/>
          </a:xfrm>
          <a:prstGeom prst="rect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565335" y="5060823"/>
            <a:ext cx="1523961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6C7680"/>
                </a:solidFill>
                <a:latin typeface="JetBrains Mono"/>
              </a:rPr>
              <a:t>CURRENT FOCUS</a:t>
            </a:r>
          </a:p>
        </p:txBody>
      </p:sp>
      <p:sp>
        <p:nvSpPr>
          <p:cNvPr id="63" name="Oval 62"/>
          <p:cNvSpPr/>
          <p:nvPr/>
        </p:nvSpPr>
        <p:spPr>
          <a:xfrm>
            <a:off x="4114697" y="5054473"/>
            <a:ext cx="88897" cy="88897"/>
          </a:xfrm>
          <a:prstGeom prst="ellipse">
            <a:avLst/>
          </a:prstGeom>
          <a:solidFill>
            <a:srgbClr val="F5F4F1"/>
          </a:solidFill>
          <a:ln w="1905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43291" y="5060823"/>
            <a:ext cx="1523961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6C7680"/>
                </a:solidFill>
                <a:latin typeface="JetBrains Mono"/>
              </a:rPr>
              <a:t>MILESTONE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58786" y="6411752"/>
            <a:ext cx="11074123" cy="317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58786" y="6502237"/>
            <a:ext cx="380990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80">
                <a:solidFill>
                  <a:srgbClr val="6C7680"/>
                </a:solidFill>
                <a:latin typeface="JetBrains Mono"/>
              </a:rPr>
              <a:t>PROJECT DECK · VOL. 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23004" y="6502237"/>
            <a:ext cx="380990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80">
                <a:solidFill>
                  <a:srgbClr val="6C7680"/>
                </a:solidFill>
                <a:latin typeface="JetBrains Mono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8786" y="228594"/>
            <a:ext cx="76198" cy="76198"/>
          </a:xfrm>
          <a:prstGeom prst="ellipse">
            <a:avLst/>
          </a:prstGeom>
          <a:solidFill>
            <a:srgbClr val="D892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782" y="177795"/>
            <a:ext cx="1523961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232A"/>
                </a:solidFill>
                <a:latin typeface="Aptos Display"/>
              </a:rPr>
              <a:t>Project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2939" y="203194"/>
            <a:ext cx="6857828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80">
                <a:solidFill>
                  <a:srgbClr val="B8722E"/>
                </a:solidFill>
                <a:latin typeface="JetBrains Mono"/>
              </a:rPr>
              <a:t>05</a:t>
            </a:r>
            <a:r>
              <a:rPr sz="1000" b="0" i="0" spc="180">
                <a:solidFill>
                  <a:srgbClr val="6C7680"/>
                </a:solidFill>
                <a:latin typeface="JetBrains Mono"/>
              </a:rPr>
              <a:t>  ·  ARCHITECTURE · SYSTEM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4761" y="203194"/>
            <a:ext cx="210814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20">
                <a:solidFill>
                  <a:srgbClr val="6C7680"/>
                </a:solidFill>
                <a:latin typeface="JetBrains Mono"/>
              </a:rPr>
              <a:t>VOL. 01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58786" y="506399"/>
            <a:ext cx="11074123" cy="317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8786" y="895327"/>
            <a:ext cx="228594" cy="12699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578" y="838179"/>
            <a:ext cx="5079873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20">
                <a:solidFill>
                  <a:srgbClr val="B8722E"/>
                </a:solidFill>
                <a:latin typeface="JetBrains Mono"/>
              </a:rP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786" y="1168370"/>
            <a:ext cx="10794730" cy="5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1F232A"/>
                </a:solidFill>
                <a:latin typeface="Aptos Display"/>
              </a:rPr>
              <a:t>How the </a:t>
            </a:r>
            <a:r>
              <a:rPr sz="5800" b="0" i="1">
                <a:solidFill>
                  <a:srgbClr val="B8722E"/>
                </a:solidFill>
                <a:latin typeface="Aptos Display"/>
              </a:rPr>
              <a:t>pieces</a:t>
            </a:r>
            <a:r>
              <a:rPr sz="5800" b="1" i="0">
                <a:solidFill>
                  <a:srgbClr val="1F232A"/>
                </a:solidFill>
                <a:latin typeface="Aptos Display"/>
              </a:rPr>
              <a:t> connect.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786" y="2031949"/>
            <a:ext cx="3809904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TIER 1 · SOURCE DOCUMENTS (7-DOC CCOP CORPUS, 495 CHUNKS INDEXED)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8786" y="2209744"/>
            <a:ext cx="2673283" cy="507987"/>
          </a:xfrm>
          <a:prstGeom prst="rect">
            <a:avLst/>
          </a:prstGeom>
          <a:solidFill>
            <a:srgbClr val="FBFAF6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8786" y="2311342"/>
            <a:ext cx="2673283" cy="3809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F232A"/>
                </a:solidFill>
                <a:latin typeface="Aptos Display"/>
              </a:rPr>
              <a:t>CCoP 2.0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9066" y="2209744"/>
            <a:ext cx="2673283" cy="507987"/>
          </a:xfrm>
          <a:prstGeom prst="rect">
            <a:avLst/>
          </a:prstGeom>
          <a:solidFill>
            <a:srgbClr val="FBFAF6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9066" y="2311342"/>
            <a:ext cx="2673283" cy="3809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F232A"/>
                </a:solidFill>
                <a:latin typeface="Aptos Display"/>
              </a:rPr>
              <a:t>Cybersecurity
Act 2018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9346" y="2209744"/>
            <a:ext cx="2673283" cy="507987"/>
          </a:xfrm>
          <a:prstGeom prst="rect">
            <a:avLst/>
          </a:prstGeom>
          <a:solidFill>
            <a:srgbClr val="FBFAF6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9346" y="2311342"/>
            <a:ext cx="2673283" cy="3809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F232A"/>
                </a:solidFill>
                <a:latin typeface="Aptos Display"/>
              </a:rPr>
              <a:t>+ 5 supporting
guides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59626" y="2209744"/>
            <a:ext cx="2673283" cy="507987"/>
          </a:xfrm>
          <a:prstGeom prst="rect">
            <a:avLst/>
          </a:prstGeom>
          <a:solidFill>
            <a:srgbClr val="FBFAF6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9626" y="2311342"/>
            <a:ext cx="2673283" cy="3809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F232A"/>
                </a:solidFill>
                <a:latin typeface="Aptos Display"/>
              </a:rPr>
              <a:t>78 diagrams
(GLM-4V captioned)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895427" y="2717732"/>
            <a:ext cx="4200420" cy="228594"/>
          </a:xfrm>
          <a:prstGeom prst="line">
            <a:avLst/>
          </a:prstGeom>
          <a:ln w="6350">
            <a:solidFill>
              <a:srgbClr val="B8BCC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95707" y="2717732"/>
            <a:ext cx="1400140" cy="228594"/>
          </a:xfrm>
          <a:prstGeom prst="line">
            <a:avLst/>
          </a:prstGeom>
          <a:ln w="6350">
            <a:solidFill>
              <a:srgbClr val="B8BCC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095847" y="2717732"/>
            <a:ext cx="1400140" cy="228594"/>
          </a:xfrm>
          <a:prstGeom prst="line">
            <a:avLst/>
          </a:prstGeom>
          <a:ln w="6350">
            <a:solidFill>
              <a:srgbClr val="B8BCC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095847" y="2717732"/>
            <a:ext cx="4200420" cy="228594"/>
          </a:xfrm>
          <a:prstGeom prst="line">
            <a:avLst/>
          </a:prstGeom>
          <a:ln w="6350">
            <a:solidFill>
              <a:srgbClr val="B8BCC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58786" y="3047923"/>
            <a:ext cx="3809904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TIER 2 · PROCESSING 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8786" y="3263818"/>
            <a:ext cx="3246038" cy="1015974"/>
          </a:xfrm>
          <a:prstGeom prst="rect">
            <a:avLst/>
          </a:prstGeom>
          <a:solidFill>
            <a:srgbClr val="FBFAF6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3083" y="3365415"/>
            <a:ext cx="3017444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INGEST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083" y="3543211"/>
            <a:ext cx="3017444" cy="63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1F232A"/>
                </a:solidFill>
                <a:latin typeface="Inter"/>
              </a:rPr>
              <a:t>Docling Classic parsing
Clause-aware chunker
Contextual RAG augmentation
Dual encode: BGE-large + BM25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821" y="3263818"/>
            <a:ext cx="4328051" cy="1015974"/>
          </a:xfrm>
          <a:prstGeom prst="rect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34474" y="3263818"/>
            <a:ext cx="25399" cy="1015974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71518" y="3365415"/>
            <a:ext cx="4048658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D89254"/>
                </a:solidFill>
                <a:latin typeface="JetBrains Mono"/>
              </a:rPr>
              <a:t>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71518" y="3543211"/>
            <a:ext cx="4048658" cy="241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BFAF6"/>
                </a:solidFill>
                <a:latin typeface="Aptos Display"/>
              </a:rPr>
              <a:t>RAG retrieval graph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71518" y="3833716"/>
            <a:ext cx="4048658" cy="3174"/>
          </a:xfrm>
          <a:prstGeom prst="rect">
            <a:avLst/>
          </a:prstGeom>
          <a:solidFill>
            <a:srgbClr val="E9C9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71518" y="3911502"/>
            <a:ext cx="1986230" cy="253993"/>
          </a:xfrm>
          <a:prstGeom prst="rect">
            <a:avLst/>
          </a:prstGeom>
          <a:noFill/>
          <a:ln w="6350">
            <a:solidFill>
              <a:srgbClr val="E9C9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71518" y="3962300"/>
            <a:ext cx="1986230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150">
                <a:solidFill>
                  <a:srgbClr val="D89254"/>
                </a:solidFill>
                <a:latin typeface="JetBrains Mono"/>
              </a:rPr>
              <a:t>HyDE → dense → 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33946" y="3911502"/>
            <a:ext cx="1986230" cy="253993"/>
          </a:xfrm>
          <a:prstGeom prst="rect">
            <a:avLst/>
          </a:prstGeom>
          <a:noFill/>
          <a:ln w="6350">
            <a:solidFill>
              <a:srgbClr val="E9C9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33946" y="3962300"/>
            <a:ext cx="1986230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150">
                <a:solidFill>
                  <a:srgbClr val="D89254"/>
                </a:solidFill>
                <a:latin typeface="JetBrains Mono"/>
              </a:rPr>
              <a:t>RRF + parent-merge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86870" y="3263818"/>
            <a:ext cx="3246038" cy="1015974"/>
          </a:xfrm>
          <a:prstGeom prst="rect">
            <a:avLst/>
          </a:prstGeom>
          <a:solidFill>
            <a:srgbClr val="FBFAF6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1167" y="3365415"/>
            <a:ext cx="3017444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SERVE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1167" y="3543211"/>
            <a:ext cx="3017444" cy="63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1F232A"/>
                </a:solidFill>
                <a:latin typeface="Inter"/>
              </a:rPr>
              <a:t>LangGraph orchestrator
HyDE rewrite + RRF + CE rerank
Llama-Primus inference (Ollama, local)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2773610" y="4279793"/>
            <a:ext cx="3322237" cy="228594"/>
          </a:xfrm>
          <a:prstGeom prst="line">
            <a:avLst/>
          </a:prstGeom>
          <a:ln w="6350">
            <a:solidFill>
              <a:srgbClr val="B8BCC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094260" y="4279793"/>
            <a:ext cx="3174" cy="22859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6095847" y="4279793"/>
            <a:ext cx="3322237" cy="228594"/>
          </a:xfrm>
          <a:prstGeom prst="line">
            <a:avLst/>
          </a:prstGeom>
          <a:ln w="6350">
            <a:solidFill>
              <a:srgbClr val="B8BCC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58786" y="4609984"/>
            <a:ext cx="3809904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TIER 3 · CONSUMERS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8786" y="4825879"/>
            <a:ext cx="3606709" cy="571485"/>
          </a:xfrm>
          <a:prstGeom prst="rect">
            <a:avLst/>
          </a:prstGeom>
          <a:solidFill>
            <a:srgbClr val="FBFAF6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0383" y="4889377"/>
            <a:ext cx="3403514" cy="177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32A"/>
                </a:solidFill>
                <a:latin typeface="Aptos Display"/>
              </a:rPr>
              <a:t>ccop-eval CLI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383" y="5079873"/>
            <a:ext cx="3403514" cy="317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7680"/>
                </a:solidFill>
                <a:latin typeface="Inter"/>
              </a:rPr>
              <a:t>18 benchmarks · 435 cases · hybrid + llm-only modes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92492" y="4825879"/>
            <a:ext cx="3606709" cy="571485"/>
          </a:xfrm>
          <a:prstGeom prst="rect">
            <a:avLst/>
          </a:prstGeom>
          <a:solidFill>
            <a:srgbClr val="FBFAF6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94090" y="4889377"/>
            <a:ext cx="3403514" cy="177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32A"/>
                </a:solidFill>
                <a:latin typeface="Aptos Display"/>
              </a:rPr>
              <a:t>LLM Judge — Qwen3-235B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94090" y="5079873"/>
            <a:ext cx="3403514" cy="317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7680"/>
                </a:solidFill>
                <a:latin typeface="Inter"/>
              </a:rPr>
              <a:t>Independent, cross-family · 6-dim rubric · OpenRouter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26199" y="4825879"/>
            <a:ext cx="3606709" cy="571485"/>
          </a:xfrm>
          <a:prstGeom prst="rect">
            <a:avLst/>
          </a:prstGeom>
          <a:solidFill>
            <a:srgbClr val="FBFAF6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27796" y="4889377"/>
            <a:ext cx="3403514" cy="177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32A"/>
                </a:solidFill>
                <a:latin typeface="Aptos Display"/>
              </a:rPr>
              <a:t>RAGAs — Mistral Small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27796" y="5079873"/>
            <a:ext cx="3403514" cy="317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7680"/>
                </a:solidFill>
                <a:latin typeface="Inter"/>
              </a:rPr>
              <a:t>Independent · 6 retrieval + response metrics · Mistral API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8786" y="6411752"/>
            <a:ext cx="11074123" cy="317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8786" y="6502237"/>
            <a:ext cx="380990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80">
                <a:solidFill>
                  <a:srgbClr val="6C7680"/>
                </a:solidFill>
                <a:latin typeface="JetBrains Mono"/>
              </a:rPr>
              <a:t>PROJECT DECK · VOL. 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23004" y="6502237"/>
            <a:ext cx="380990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80">
                <a:solidFill>
                  <a:srgbClr val="6C7680"/>
                </a:solidFill>
                <a:latin typeface="JetBrains Mono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8786" y="228594"/>
            <a:ext cx="76198" cy="76198"/>
          </a:xfrm>
          <a:prstGeom prst="ellipse">
            <a:avLst/>
          </a:prstGeom>
          <a:solidFill>
            <a:srgbClr val="D892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782" y="177795"/>
            <a:ext cx="1523961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232A"/>
                </a:solidFill>
                <a:latin typeface="Aptos Display"/>
              </a:rPr>
              <a:t>Project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2939" y="203194"/>
            <a:ext cx="6857828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80">
                <a:solidFill>
                  <a:srgbClr val="B8722E"/>
                </a:solidFill>
                <a:latin typeface="JetBrains Mono"/>
              </a:rPr>
              <a:t>06</a:t>
            </a:r>
            <a:r>
              <a:rPr sz="1000" b="0" i="0" spc="180">
                <a:solidFill>
                  <a:srgbClr val="6C7680"/>
                </a:solidFill>
                <a:latin typeface="JetBrains Mono"/>
              </a:rPr>
              <a:t>  ·  GROUND TRUTH ·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4761" y="203194"/>
            <a:ext cx="210814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20">
                <a:solidFill>
                  <a:srgbClr val="6C7680"/>
                </a:solidFill>
                <a:latin typeface="JetBrains Mono"/>
              </a:rPr>
              <a:t>VOL. 01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58786" y="506399"/>
            <a:ext cx="11074123" cy="317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8786" y="895327"/>
            <a:ext cx="228594" cy="12699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578" y="838179"/>
            <a:ext cx="5079873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20">
                <a:solidFill>
                  <a:srgbClr val="B8722E"/>
                </a:solidFill>
                <a:latin typeface="JetBrains Mono"/>
              </a:rPr>
              <a:t>GROUND 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786" y="1168370"/>
            <a:ext cx="10794730" cy="5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1F232A"/>
                </a:solidFill>
                <a:latin typeface="Aptos Display"/>
              </a:rPr>
              <a:t>Tightening the </a:t>
            </a:r>
            <a:r>
              <a:rPr sz="5800" b="0" i="1">
                <a:solidFill>
                  <a:srgbClr val="B8722E"/>
                </a:solidFill>
                <a:latin typeface="Aptos Display"/>
              </a:rPr>
              <a:t>reference set</a:t>
            </a:r>
            <a:r>
              <a:rPr sz="5800" b="1" i="0">
                <a:solidFill>
                  <a:srgbClr val="1F232A"/>
                </a:solidFill>
                <a:latin typeface="Aptos Display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786" y="2031949"/>
            <a:ext cx="5841853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SCHEMA · BEFORE VS AFTER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8786" y="2209744"/>
            <a:ext cx="2870128" cy="2920926"/>
          </a:xfrm>
          <a:prstGeom prst="rect">
            <a:avLst/>
          </a:prstGeom>
          <a:solidFill>
            <a:srgbClr val="FBFAF6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3083" y="2324041"/>
            <a:ext cx="2641533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9BA3AC"/>
                </a:solidFill>
                <a:latin typeface="JetBrains Mono"/>
              </a:rPr>
              <a:t>BEFORE</a:t>
            </a:r>
          </a:p>
        </p:txBody>
      </p:sp>
      <p:sp>
        <p:nvSpPr>
          <p:cNvPr id="14" name="Oval 13"/>
          <p:cNvSpPr/>
          <p:nvPr/>
        </p:nvSpPr>
        <p:spPr>
          <a:xfrm>
            <a:off x="673083" y="2590735"/>
            <a:ext cx="50798" cy="50798"/>
          </a:xfrm>
          <a:prstGeom prst="ellipse">
            <a:avLst/>
          </a:prstGeom>
          <a:solidFill>
            <a:srgbClr val="9BA3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380" y="2552636"/>
            <a:ext cx="248913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80">
                <a:solidFill>
                  <a:srgbClr val="6C7680"/>
                </a:solidFill>
                <a:latin typeface="JetBrains Mono"/>
              </a:rPr>
              <a:t>test_id</a:t>
            </a:r>
          </a:p>
        </p:txBody>
      </p:sp>
      <p:sp>
        <p:nvSpPr>
          <p:cNvPr id="16" name="Oval 15"/>
          <p:cNvSpPr/>
          <p:nvPr/>
        </p:nvSpPr>
        <p:spPr>
          <a:xfrm>
            <a:off x="673083" y="2971725"/>
            <a:ext cx="50798" cy="50798"/>
          </a:xfrm>
          <a:prstGeom prst="ellipse">
            <a:avLst/>
          </a:prstGeom>
          <a:solidFill>
            <a:srgbClr val="9BA3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7380" y="2933626"/>
            <a:ext cx="248913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80">
                <a:solidFill>
                  <a:srgbClr val="6C7680"/>
                </a:solidFill>
                <a:latin typeface="JetBrains Mono"/>
              </a:rPr>
              <a:t>question</a:t>
            </a:r>
          </a:p>
        </p:txBody>
      </p:sp>
      <p:sp>
        <p:nvSpPr>
          <p:cNvPr id="18" name="Oval 17"/>
          <p:cNvSpPr/>
          <p:nvPr/>
        </p:nvSpPr>
        <p:spPr>
          <a:xfrm>
            <a:off x="673083" y="3352716"/>
            <a:ext cx="50798" cy="50798"/>
          </a:xfrm>
          <a:prstGeom prst="ellipse">
            <a:avLst/>
          </a:prstGeom>
          <a:solidFill>
            <a:srgbClr val="9BA3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7380" y="3314617"/>
            <a:ext cx="248913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80">
                <a:solidFill>
                  <a:srgbClr val="6C7680"/>
                </a:solidFill>
                <a:latin typeface="JetBrains Mono"/>
              </a:rPr>
              <a:t>expected_response</a:t>
            </a:r>
          </a:p>
        </p:txBody>
      </p:sp>
      <p:sp>
        <p:nvSpPr>
          <p:cNvPr id="20" name="Oval 19"/>
          <p:cNvSpPr/>
          <p:nvPr/>
        </p:nvSpPr>
        <p:spPr>
          <a:xfrm>
            <a:off x="673083" y="3733706"/>
            <a:ext cx="50798" cy="50798"/>
          </a:xfrm>
          <a:prstGeom prst="ellipse">
            <a:avLst/>
          </a:prstGeom>
          <a:solidFill>
            <a:srgbClr val="9BA3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7380" y="3695607"/>
            <a:ext cx="248913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80">
                <a:solidFill>
                  <a:srgbClr val="6C7680"/>
                </a:solidFill>
                <a:latin typeface="JetBrains Mono"/>
              </a:rPr>
              <a:t>clause_reference (single)</a:t>
            </a:r>
          </a:p>
        </p:txBody>
      </p:sp>
      <p:sp>
        <p:nvSpPr>
          <p:cNvPr id="22" name="Oval 21"/>
          <p:cNvSpPr/>
          <p:nvPr/>
        </p:nvSpPr>
        <p:spPr>
          <a:xfrm>
            <a:off x="673083" y="4114697"/>
            <a:ext cx="50798" cy="50798"/>
          </a:xfrm>
          <a:prstGeom prst="ellipse">
            <a:avLst/>
          </a:prstGeom>
          <a:solidFill>
            <a:srgbClr val="9BA3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7380" y="4076598"/>
            <a:ext cx="248913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80">
                <a:solidFill>
                  <a:srgbClr val="6C7680"/>
                </a:solidFill>
                <a:latin typeface="JetBrains Mono"/>
              </a:rPr>
              <a:t>metadata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30511" y="2209744"/>
            <a:ext cx="2870128" cy="2920926"/>
          </a:xfrm>
          <a:prstGeom prst="rect">
            <a:avLst/>
          </a:prstGeom>
          <a:solidFill>
            <a:srgbClr val="FBFAF6"/>
          </a:solidFill>
          <a:ln w="1905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44808" y="2324041"/>
            <a:ext cx="2641533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B8722E"/>
                </a:solidFill>
                <a:latin typeface="JetBrains Mono"/>
              </a:rPr>
              <a:t>AFTER</a:t>
            </a:r>
          </a:p>
        </p:txBody>
      </p:sp>
      <p:sp>
        <p:nvSpPr>
          <p:cNvPr id="26" name="Oval 25"/>
          <p:cNvSpPr/>
          <p:nvPr/>
        </p:nvSpPr>
        <p:spPr>
          <a:xfrm>
            <a:off x="3644808" y="2590735"/>
            <a:ext cx="50798" cy="50798"/>
          </a:xfrm>
          <a:prstGeom prst="ellipse">
            <a:avLst/>
          </a:prstGeom>
          <a:solidFill>
            <a:srgbClr val="1F23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59106" y="2552636"/>
            <a:ext cx="210814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80">
                <a:solidFill>
                  <a:srgbClr val="1F232A"/>
                </a:solidFill>
                <a:latin typeface="JetBrains Mono"/>
              </a:rPr>
              <a:t>test_id</a:t>
            </a:r>
          </a:p>
        </p:txBody>
      </p:sp>
      <p:sp>
        <p:nvSpPr>
          <p:cNvPr id="28" name="Oval 27"/>
          <p:cNvSpPr/>
          <p:nvPr/>
        </p:nvSpPr>
        <p:spPr>
          <a:xfrm>
            <a:off x="3644808" y="2946326"/>
            <a:ext cx="50798" cy="50798"/>
          </a:xfrm>
          <a:prstGeom prst="ellipse">
            <a:avLst/>
          </a:prstGeom>
          <a:solidFill>
            <a:srgbClr val="1F23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59106" y="2908227"/>
            <a:ext cx="210814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80">
                <a:solidFill>
                  <a:srgbClr val="1F232A"/>
                </a:solidFill>
                <a:latin typeface="JetBrains Mono"/>
              </a:rPr>
              <a:t>question</a:t>
            </a:r>
          </a:p>
        </p:txBody>
      </p:sp>
      <p:sp>
        <p:nvSpPr>
          <p:cNvPr id="30" name="Oval 29"/>
          <p:cNvSpPr/>
          <p:nvPr/>
        </p:nvSpPr>
        <p:spPr>
          <a:xfrm>
            <a:off x="3644808" y="3301917"/>
            <a:ext cx="50798" cy="50798"/>
          </a:xfrm>
          <a:prstGeom prst="ellipse">
            <a:avLst/>
          </a:prstGeom>
          <a:solidFill>
            <a:srgbClr val="1F23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59106" y="3263818"/>
            <a:ext cx="210814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80">
                <a:solidFill>
                  <a:srgbClr val="1F232A"/>
                </a:solidFill>
                <a:latin typeface="JetBrains Mono"/>
              </a:rPr>
              <a:t>expected_response</a:t>
            </a:r>
          </a:p>
        </p:txBody>
      </p:sp>
      <p:sp>
        <p:nvSpPr>
          <p:cNvPr id="32" name="Oval 31"/>
          <p:cNvSpPr/>
          <p:nvPr/>
        </p:nvSpPr>
        <p:spPr>
          <a:xfrm>
            <a:off x="3644808" y="3657508"/>
            <a:ext cx="50798" cy="50798"/>
          </a:xfrm>
          <a:prstGeom prst="ellipse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59106" y="3619409"/>
            <a:ext cx="210814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80">
                <a:solidFill>
                  <a:srgbClr val="1F232A"/>
                </a:solidFill>
                <a:latin typeface="JetBrains Mono"/>
              </a:rPr>
              <a:t>expected_label  (D1 anchor)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19649" y="3619409"/>
            <a:ext cx="380990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B8722E"/>
                </a:solidFill>
                <a:latin typeface="JetBrains Mono"/>
              </a:rPr>
              <a:t>NEW</a:t>
            </a:r>
          </a:p>
        </p:txBody>
      </p:sp>
      <p:sp>
        <p:nvSpPr>
          <p:cNvPr id="35" name="Oval 34"/>
          <p:cNvSpPr/>
          <p:nvPr/>
        </p:nvSpPr>
        <p:spPr>
          <a:xfrm>
            <a:off x="3644808" y="4013099"/>
            <a:ext cx="50798" cy="50798"/>
          </a:xfrm>
          <a:prstGeom prst="ellipse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59106" y="3975000"/>
            <a:ext cx="210814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80">
                <a:solidFill>
                  <a:srgbClr val="1F232A"/>
                </a:solidFill>
                <a:latin typeface="JetBrains Mono"/>
              </a:rPr>
              <a:t>key_facts  tiered: critical/important/supporting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19649" y="3975000"/>
            <a:ext cx="380990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B8722E"/>
                </a:solidFill>
                <a:latin typeface="JetBrains Mono"/>
              </a:rPr>
              <a:t>NEW</a:t>
            </a:r>
          </a:p>
        </p:txBody>
      </p:sp>
      <p:sp>
        <p:nvSpPr>
          <p:cNvPr id="38" name="Oval 37"/>
          <p:cNvSpPr/>
          <p:nvPr/>
        </p:nvSpPr>
        <p:spPr>
          <a:xfrm>
            <a:off x="3644808" y="4368690"/>
            <a:ext cx="50798" cy="50798"/>
          </a:xfrm>
          <a:prstGeom prst="ellipse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59106" y="4330591"/>
            <a:ext cx="210814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80">
                <a:solidFill>
                  <a:srgbClr val="1F232A"/>
                </a:solidFill>
                <a:latin typeface="JetBrains Mono"/>
              </a:rPr>
              <a:t>reasoning_chain  step-by-step  (D2 anchor)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19649" y="4330591"/>
            <a:ext cx="380990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B8722E"/>
                </a:solidFill>
                <a:latin typeface="JetBrains Mono"/>
              </a:rPr>
              <a:t>NEW</a:t>
            </a:r>
          </a:p>
        </p:txBody>
      </p:sp>
      <p:sp>
        <p:nvSpPr>
          <p:cNvPr id="41" name="Oval 40"/>
          <p:cNvSpPr/>
          <p:nvPr/>
        </p:nvSpPr>
        <p:spPr>
          <a:xfrm>
            <a:off x="3644808" y="4724281"/>
            <a:ext cx="50798" cy="50798"/>
          </a:xfrm>
          <a:prstGeom prst="ellipse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59106" y="4686182"/>
            <a:ext cx="210814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80">
                <a:solidFill>
                  <a:srgbClr val="1F232A"/>
                </a:solidFill>
                <a:latin typeface="JetBrains Mono"/>
              </a:rPr>
              <a:t>forbidden_claims  (D3 auto-fail)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19649" y="4686182"/>
            <a:ext cx="380990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B8722E"/>
                </a:solidFill>
                <a:latin typeface="JetBrains Mono"/>
              </a:rPr>
              <a:t>NEW</a:t>
            </a:r>
          </a:p>
        </p:txBody>
      </p:sp>
      <p:sp>
        <p:nvSpPr>
          <p:cNvPr id="44" name="Oval 43"/>
          <p:cNvSpPr/>
          <p:nvPr/>
        </p:nvSpPr>
        <p:spPr>
          <a:xfrm>
            <a:off x="3644808" y="5079873"/>
            <a:ext cx="50798" cy="50798"/>
          </a:xfrm>
          <a:prstGeom prst="ellipse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59106" y="5041773"/>
            <a:ext cx="210814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80">
                <a:solidFill>
                  <a:srgbClr val="1F232A"/>
                </a:solidFill>
                <a:latin typeface="JetBrains Mono"/>
              </a:rPr>
              <a:t>hallucination_patterns  regex  (D3 deterministic)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19649" y="5041773"/>
            <a:ext cx="380990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B8722E"/>
                </a:solidFill>
                <a:latin typeface="JetBrains Mono"/>
              </a:rPr>
              <a:t>NEW</a:t>
            </a:r>
          </a:p>
        </p:txBody>
      </p:sp>
      <p:sp>
        <p:nvSpPr>
          <p:cNvPr id="47" name="Oval 46"/>
          <p:cNvSpPr/>
          <p:nvPr/>
        </p:nvSpPr>
        <p:spPr>
          <a:xfrm>
            <a:off x="3644808" y="5435464"/>
            <a:ext cx="50798" cy="50798"/>
          </a:xfrm>
          <a:prstGeom prst="ellipse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59106" y="5397365"/>
            <a:ext cx="210814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80">
                <a:solidFill>
                  <a:srgbClr val="1F232A"/>
                </a:solidFill>
                <a:latin typeface="JetBrains Mono"/>
              </a:rPr>
              <a:t>clause_reference[]  inventory-validated  (D6)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19649" y="5397365"/>
            <a:ext cx="380990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 spc="200">
                <a:solidFill>
                  <a:srgbClr val="B8722E"/>
                </a:solidFill>
                <a:latin typeface="JetBrains Mono"/>
              </a:rPr>
              <a:t>NEW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05432" y="2031949"/>
            <a:ext cx="4927476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WHAT CHANGED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05432" y="2260543"/>
            <a:ext cx="380990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20">
                <a:solidFill>
                  <a:srgbClr val="B8722E"/>
                </a:solidFill>
                <a:latin typeface="JetBrains Mono"/>
              </a:rPr>
              <a:t>01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86422" y="2235144"/>
            <a:ext cx="4546486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32A"/>
                </a:solidFill>
                <a:latin typeface="Aptos Display"/>
              </a:rPr>
              <a:t>3.7× sample expansion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86422" y="2425639"/>
            <a:ext cx="4546486" cy="5079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C7680"/>
                </a:solidFill>
                <a:latin typeface="Inter"/>
              </a:rPr>
              <a:t>118 → 435 cases; per-benchmark cardinality 6 → 24. Benchmark-level deltas now statistically interpretable rather than anecdotal.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05432" y="2957438"/>
            <a:ext cx="4927476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05432" y="3047923"/>
            <a:ext cx="380990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20">
                <a:solidFill>
                  <a:srgbClr val="B8722E"/>
                </a:solidFill>
                <a:latin typeface="JetBrains Mono"/>
              </a:rPr>
              <a:t>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86422" y="3022524"/>
            <a:ext cx="4546486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32A"/>
                </a:solidFill>
                <a:latin typeface="Aptos Display"/>
              </a:rPr>
              <a:t>Benchmark consolidation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86422" y="3213019"/>
            <a:ext cx="4546486" cy="5079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C7680"/>
                </a:solidFill>
                <a:latin typeface="Inter"/>
              </a:rPr>
              <a:t>19 mixed-purpose → 18 regulatory-reasoning benchmarks. Code-quality, safety/jailbreak, training-loss, latency dropped; reasoning-depth benchmarks added.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05432" y="3744818"/>
            <a:ext cx="4927476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05432" y="3835304"/>
            <a:ext cx="380990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20">
                <a:solidFill>
                  <a:srgbClr val="B8722E"/>
                </a:solidFill>
                <a:latin typeface="JetBrains Mono"/>
              </a:rPr>
              <a:t>03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86422" y="3809904"/>
            <a:ext cx="4546486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32A"/>
                </a:solidFill>
                <a:latin typeface="Aptos Display"/>
              </a:rPr>
              <a:t>Schema → judge calibration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86422" y="4000399"/>
            <a:ext cx="4546486" cy="5079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C7680"/>
                </a:solidFill>
                <a:latin typeface="Inter"/>
              </a:rPr>
              <a:t>Six new fields each anchor a specific judge dimension (key_facts → D1/D2; reasoning_chain → D2; forbidden_claims/hallucination_patterns → D3; clause_reference → D6).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05432" y="4532199"/>
            <a:ext cx="4927476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05432" y="4622684"/>
            <a:ext cx="380990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20">
                <a:solidFill>
                  <a:srgbClr val="B8722E"/>
                </a:solidFill>
                <a:latin typeface="JetBrains Mono"/>
              </a:rPr>
              <a:t>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86422" y="4597285"/>
            <a:ext cx="4546486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32A"/>
                </a:solidFill>
                <a:latin typeface="Aptos Display"/>
              </a:rPr>
              <a:t>Auditor + verifier pair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86422" y="4787780"/>
            <a:ext cx="4546486" cy="5079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C7680"/>
                </a:solidFill>
                <a:latin typeface="Inter"/>
              </a:rPr>
              <a:t>Independent verification catches drift the single-pass missed (clause-fabrication in B05/B06). ~1.6× cost; load-bearing for trust.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05432" y="5319579"/>
            <a:ext cx="4927476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8786" y="6411752"/>
            <a:ext cx="11074123" cy="317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8786" y="6502237"/>
            <a:ext cx="380990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80">
                <a:solidFill>
                  <a:srgbClr val="6C7680"/>
                </a:solidFill>
                <a:latin typeface="JetBrains Mono"/>
              </a:rPr>
              <a:t>PROJECT DECK · VOL. 01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23004" y="6502237"/>
            <a:ext cx="380990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80">
                <a:solidFill>
                  <a:srgbClr val="6C7680"/>
                </a:solidFill>
                <a:latin typeface="JetBrains Mono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8786" y="228594"/>
            <a:ext cx="76198" cy="76198"/>
          </a:xfrm>
          <a:prstGeom prst="ellipse">
            <a:avLst/>
          </a:prstGeom>
          <a:solidFill>
            <a:srgbClr val="D892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782" y="177795"/>
            <a:ext cx="1523961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232A"/>
                </a:solidFill>
                <a:latin typeface="Aptos Display"/>
              </a:rPr>
              <a:t>Project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2939" y="203194"/>
            <a:ext cx="6857828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80">
                <a:solidFill>
                  <a:srgbClr val="B8722E"/>
                </a:solidFill>
                <a:latin typeface="JetBrains Mono"/>
              </a:rPr>
              <a:t>07</a:t>
            </a:r>
            <a:r>
              <a:rPr sz="1000" b="0" i="0" spc="180">
                <a:solidFill>
                  <a:srgbClr val="6C7680"/>
                </a:solidFill>
                <a:latin typeface="JetBrains Mono"/>
              </a:rPr>
              <a:t>  ·  RAG ·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4761" y="203194"/>
            <a:ext cx="210814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20">
                <a:solidFill>
                  <a:srgbClr val="6C7680"/>
                </a:solidFill>
                <a:latin typeface="JetBrains Mono"/>
              </a:rPr>
              <a:t>VOL. 01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58786" y="506399"/>
            <a:ext cx="11074123" cy="317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8786" y="895327"/>
            <a:ext cx="228594" cy="12699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578" y="838179"/>
            <a:ext cx="5079873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20">
                <a:solidFill>
                  <a:srgbClr val="B8722E"/>
                </a:solidFill>
                <a:latin typeface="JetBrains Mono"/>
              </a:rPr>
              <a:t>RAG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786" y="1168370"/>
            <a:ext cx="10794730" cy="5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1F232A"/>
                </a:solidFill>
                <a:latin typeface="Aptos Display"/>
              </a:rPr>
              <a:t>Five stages, </a:t>
            </a:r>
            <a:r>
              <a:rPr sz="5800" b="0" i="1">
                <a:solidFill>
                  <a:srgbClr val="B8722E"/>
                </a:solidFill>
                <a:latin typeface="Aptos Display"/>
              </a:rPr>
              <a:t>one query</a:t>
            </a:r>
            <a:r>
              <a:rPr sz="5800" b="1" i="0">
                <a:solidFill>
                  <a:srgbClr val="1F232A"/>
                </a:solidFill>
                <a:latin typeface="Aptos Display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8786" y="2031949"/>
            <a:ext cx="2123386" cy="3428914"/>
          </a:xfrm>
          <a:prstGeom prst="rect">
            <a:avLst/>
          </a:prstGeom>
          <a:solidFill>
            <a:srgbClr val="FBFAF6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3690" y="1955751"/>
            <a:ext cx="698482" cy="825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400" b="1" i="0">
                <a:solidFill>
                  <a:srgbClr val="E5E5E2"/>
                </a:solidFill>
                <a:latin typeface="Aptos Display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482" y="2235144"/>
            <a:ext cx="1843993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50">
                <a:solidFill>
                  <a:srgbClr val="2A2F38"/>
                </a:solidFill>
                <a:latin typeface="JetBrains Mono"/>
              </a:rPr>
              <a:t>STAGE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482" y="3428914"/>
            <a:ext cx="1843993" cy="317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32A"/>
                </a:solidFill>
                <a:latin typeface="Aptos Display"/>
              </a:rPr>
              <a:t>HyDE rewrite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482" y="3746406"/>
            <a:ext cx="1843993" cy="15239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6C7680"/>
                </a:solidFill>
                <a:latin typeface="Inter"/>
              </a:rPr>
              <a:t>Original query → hypothetical CCoP clause via gpt-4o-mini. Bridges acronym expansion (MFA → multi-factor authentication) and colloquial-to-formal phrasing gaps that bi-encoders cannot perform.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96470" y="2031949"/>
            <a:ext cx="2123386" cy="3428914"/>
          </a:xfrm>
          <a:prstGeom prst="rect">
            <a:avLst/>
          </a:prstGeom>
          <a:solidFill>
            <a:srgbClr val="FBFAF6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21374" y="1955751"/>
            <a:ext cx="698482" cy="825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400" b="1" i="0">
                <a:solidFill>
                  <a:srgbClr val="E5E5E2"/>
                </a:solidFill>
                <a:latin typeface="Aptos Display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6166" y="2235144"/>
            <a:ext cx="1843993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50">
                <a:solidFill>
                  <a:srgbClr val="2A2F38"/>
                </a:solidFill>
                <a:latin typeface="JetBrains Mono"/>
              </a:rPr>
              <a:t>STAGE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6166" y="3428914"/>
            <a:ext cx="1843993" cy="317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32A"/>
                </a:solidFill>
                <a:latin typeface="Aptos Display"/>
              </a:rPr>
              <a:t>Hybrid retrieve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6166" y="3746406"/>
            <a:ext cx="1843993" cy="15239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6C7680"/>
                </a:solidFill>
                <a:latin typeface="Inter"/>
              </a:rPr>
              <a:t>Dual encode: dense (BGE-large, 1024-dim) + sparse (BM25 via FastEmbed). Parallel prefetch (40+40), then Reciprocal Rank Fusion merges into a single candidate list. No score normalization needed.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34154" y="2031949"/>
            <a:ext cx="2123386" cy="3428914"/>
          </a:xfrm>
          <a:prstGeom prst="rect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34154" y="5435464"/>
            <a:ext cx="2123386" cy="25399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9058" y="1955751"/>
            <a:ext cx="698482" cy="825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400" b="1" i="0">
                <a:solidFill>
                  <a:srgbClr val="E9C9A8"/>
                </a:solidFill>
                <a:latin typeface="Aptos Display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3850" y="2235144"/>
            <a:ext cx="1843993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50">
                <a:solidFill>
                  <a:srgbClr val="D89254"/>
                </a:solidFill>
                <a:latin typeface="JetBrains Mono"/>
              </a:rPr>
              <a:t>STAGE 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3850" y="3428914"/>
            <a:ext cx="1843993" cy="317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BFAF6"/>
                </a:solidFill>
                <a:latin typeface="Aptos Display"/>
              </a:rPr>
              <a:t>Cross-encoder rerank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73850" y="3746406"/>
            <a:ext cx="1843993" cy="15239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E9C9A8"/>
                </a:solidFill>
                <a:latin typeface="Inter"/>
              </a:rPr>
              <a:t>bge-reranker-large jointly encodes each query–passage pair with full cross-attention. Differentiates fine-grained regulatory distinctions bi-encoders miss (5.1.1 vs 5.1.2).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71838" y="2031949"/>
            <a:ext cx="2123386" cy="3428914"/>
          </a:xfrm>
          <a:prstGeom prst="rect">
            <a:avLst/>
          </a:prstGeom>
          <a:solidFill>
            <a:srgbClr val="FBFAF6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96742" y="1955751"/>
            <a:ext cx="698482" cy="825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400" b="1" i="0">
                <a:solidFill>
                  <a:srgbClr val="E5E5E2"/>
                </a:solidFill>
                <a:latin typeface="Aptos Display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1534" y="2235144"/>
            <a:ext cx="1843993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50">
                <a:solidFill>
                  <a:srgbClr val="2A2F38"/>
                </a:solidFill>
                <a:latin typeface="JetBrains Mono"/>
              </a:rPr>
              <a:t>STAGE 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11534" y="3428914"/>
            <a:ext cx="1843993" cy="317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32A"/>
                </a:solidFill>
                <a:latin typeface="Aptos Display"/>
              </a:rPr>
              <a:t>Parent–child merge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11534" y="3746406"/>
            <a:ext cx="1843993" cy="15239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6C7680"/>
                </a:solidFill>
                <a:latin typeface="Inter"/>
              </a:rPr>
              <a:t>Sibling sub-clauses (5.3.1(a),(b),(c)) merged under shared parent path when they appear together in top-window. Multi-clause coverage without prompt bloat.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522" y="2031949"/>
            <a:ext cx="2123386" cy="3428914"/>
          </a:xfrm>
          <a:prstGeom prst="rect">
            <a:avLst/>
          </a:prstGeom>
          <a:solidFill>
            <a:srgbClr val="FBFAF6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34426" y="1955751"/>
            <a:ext cx="698482" cy="825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400" b="1" i="0">
                <a:solidFill>
                  <a:srgbClr val="E5E5E2"/>
                </a:solidFill>
                <a:latin typeface="Aptos Display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9218" y="2235144"/>
            <a:ext cx="1843993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50">
                <a:solidFill>
                  <a:srgbClr val="2A2F38"/>
                </a:solidFill>
                <a:latin typeface="JetBrains Mono"/>
              </a:rPr>
              <a:t>STAGE 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9218" y="3428914"/>
            <a:ext cx="1843993" cy="317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32A"/>
                </a:solidFill>
                <a:latin typeface="Aptos Display"/>
              </a:rPr>
              <a:t>Generate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9218" y="3746406"/>
            <a:ext cx="1843993" cy="15239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6C7680"/>
                </a:solidFill>
                <a:latin typeface="Inter"/>
              </a:rPr>
              <a:t>Llama-Primus (Ollama, Q5_K_M) over top-3 passages. CCoP-scoped system prompt with SG glossary; structured Sources footer for audit-grade citation extraction.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8786" y="6411752"/>
            <a:ext cx="11074123" cy="317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8786" y="6502237"/>
            <a:ext cx="380990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80">
                <a:solidFill>
                  <a:srgbClr val="6C7680"/>
                </a:solidFill>
                <a:latin typeface="JetBrains Mono"/>
              </a:rPr>
              <a:t>PROJECT DECK · VOL. 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23004" y="6502237"/>
            <a:ext cx="380990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80">
                <a:solidFill>
                  <a:srgbClr val="6C7680"/>
                </a:solidFill>
                <a:latin typeface="JetBrains Mono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8786" y="228594"/>
            <a:ext cx="76198" cy="76198"/>
          </a:xfrm>
          <a:prstGeom prst="ellipse">
            <a:avLst/>
          </a:prstGeom>
          <a:solidFill>
            <a:srgbClr val="D892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782" y="177795"/>
            <a:ext cx="1523961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232A"/>
                </a:solidFill>
                <a:latin typeface="Aptos Display"/>
              </a:rPr>
              <a:t>Project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2939" y="203194"/>
            <a:ext cx="6857828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80">
                <a:solidFill>
                  <a:srgbClr val="B8722E"/>
                </a:solidFill>
                <a:latin typeface="JetBrains Mono"/>
              </a:rPr>
              <a:t>08</a:t>
            </a:r>
            <a:r>
              <a:rPr sz="1000" b="0" i="0" spc="180">
                <a:solidFill>
                  <a:srgbClr val="6C7680"/>
                </a:solidFill>
                <a:latin typeface="JetBrains Mono"/>
              </a:rPr>
              <a:t>  ·  RAG · QUALITY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4761" y="203194"/>
            <a:ext cx="210814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20">
                <a:solidFill>
                  <a:srgbClr val="6C7680"/>
                </a:solidFill>
                <a:latin typeface="JetBrains Mono"/>
              </a:rPr>
              <a:t>VOL. 01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58786" y="506399"/>
            <a:ext cx="11074123" cy="317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8786" y="895327"/>
            <a:ext cx="228594" cy="12699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578" y="838179"/>
            <a:ext cx="5079873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20">
                <a:solidFill>
                  <a:srgbClr val="B8722E"/>
                </a:solidFill>
                <a:latin typeface="JetBrains Mono"/>
              </a:rPr>
              <a:t>RAG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786" y="1168370"/>
            <a:ext cx="10794730" cy="5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1F232A"/>
                </a:solidFill>
                <a:latin typeface="Aptos Display"/>
              </a:rPr>
              <a:t>What we </a:t>
            </a:r>
            <a:r>
              <a:rPr sz="5800" b="0" i="1">
                <a:solidFill>
                  <a:srgbClr val="B8722E"/>
                </a:solidFill>
                <a:latin typeface="Aptos Display"/>
              </a:rPr>
              <a:t>measure</a:t>
            </a:r>
            <a:r>
              <a:rPr sz="5800" b="1" i="0">
                <a:solidFill>
                  <a:srgbClr val="1F232A"/>
                </a:solidFill>
                <a:latin typeface="Aptos Display"/>
              </a:rPr>
              <a:t>, and how.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12939" y="3390815"/>
            <a:ext cx="362942" cy="209544"/>
          </a:xfrm>
          <a:prstGeom prst="line">
            <a:avLst/>
          </a:prstGeom>
          <a:ln w="6350">
            <a:solidFill>
              <a:srgbClr val="CCCF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774294" y="3600359"/>
            <a:ext cx="3174" cy="419089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H="1">
            <a:off x="2412939" y="4019449"/>
            <a:ext cx="362942" cy="209545"/>
          </a:xfrm>
          <a:prstGeom prst="line">
            <a:avLst/>
          </a:prstGeom>
          <a:ln w="6350">
            <a:solidFill>
              <a:srgbClr val="CCCF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2049997" y="4019449"/>
            <a:ext cx="362942" cy="209545"/>
          </a:xfrm>
          <a:prstGeom prst="line">
            <a:avLst/>
          </a:prstGeom>
          <a:ln w="6350">
            <a:solidFill>
              <a:srgbClr val="CCCF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048410" y="3600359"/>
            <a:ext cx="3174" cy="419089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2049997" y="3390815"/>
            <a:ext cx="362942" cy="209544"/>
          </a:xfrm>
          <a:prstGeom prst="line">
            <a:avLst/>
          </a:prstGeom>
          <a:ln w="6350">
            <a:solidFill>
              <a:srgbClr val="CCCF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412939" y="2971725"/>
            <a:ext cx="725885" cy="419090"/>
          </a:xfrm>
          <a:prstGeom prst="line">
            <a:avLst/>
          </a:prstGeom>
          <a:ln w="6350">
            <a:solidFill>
              <a:srgbClr val="CCCF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137236" y="3390815"/>
            <a:ext cx="3174" cy="838179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2412939" y="4228994"/>
            <a:ext cx="725885" cy="419089"/>
          </a:xfrm>
          <a:prstGeom prst="line">
            <a:avLst/>
          </a:prstGeom>
          <a:ln w="6350">
            <a:solidFill>
              <a:srgbClr val="CCCF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1687055" y="4228994"/>
            <a:ext cx="725884" cy="419089"/>
          </a:xfrm>
          <a:prstGeom prst="line">
            <a:avLst/>
          </a:prstGeom>
          <a:ln w="6350">
            <a:solidFill>
              <a:srgbClr val="CCCF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685467" y="3390815"/>
            <a:ext cx="3174" cy="838179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1687055" y="2971725"/>
            <a:ext cx="725884" cy="419090"/>
          </a:xfrm>
          <a:prstGeom prst="line">
            <a:avLst/>
          </a:prstGeom>
          <a:ln w="6350">
            <a:solidFill>
              <a:srgbClr val="CCCF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412939" y="2539936"/>
            <a:ext cx="1099825" cy="634984"/>
          </a:xfrm>
          <a:prstGeom prst="line">
            <a:avLst/>
          </a:prstGeom>
          <a:ln w="6350">
            <a:solidFill>
              <a:srgbClr val="B8B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2764" y="3174920"/>
            <a:ext cx="0" cy="1269968"/>
          </a:xfrm>
          <a:prstGeom prst="line">
            <a:avLst/>
          </a:prstGeom>
          <a:ln w="6350">
            <a:solidFill>
              <a:srgbClr val="B8B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412939" y="4444888"/>
            <a:ext cx="1099825" cy="634985"/>
          </a:xfrm>
          <a:prstGeom prst="line">
            <a:avLst/>
          </a:prstGeom>
          <a:ln w="6350">
            <a:solidFill>
              <a:srgbClr val="B8B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1313114" y="4444888"/>
            <a:ext cx="1099825" cy="634985"/>
          </a:xfrm>
          <a:prstGeom prst="line">
            <a:avLst/>
          </a:prstGeom>
          <a:ln w="6350">
            <a:solidFill>
              <a:srgbClr val="B8B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313114" y="3174920"/>
            <a:ext cx="0" cy="1269968"/>
          </a:xfrm>
          <a:prstGeom prst="line">
            <a:avLst/>
          </a:prstGeom>
          <a:ln w="6350">
            <a:solidFill>
              <a:srgbClr val="B8B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13114" y="2539936"/>
            <a:ext cx="1099825" cy="634984"/>
          </a:xfrm>
          <a:prstGeom prst="line">
            <a:avLst/>
          </a:prstGeom>
          <a:ln w="6350">
            <a:solidFill>
              <a:srgbClr val="B8B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411669" y="2539936"/>
            <a:ext cx="3174" cy="1269968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V="1">
            <a:off x="2412939" y="3174920"/>
            <a:ext cx="1099825" cy="634984"/>
          </a:xfrm>
          <a:prstGeom prst="line">
            <a:avLst/>
          </a:prstGeom>
          <a:ln w="5080">
            <a:solidFill>
              <a:srgbClr val="CCCF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412939" y="3809904"/>
            <a:ext cx="1099825" cy="634984"/>
          </a:xfrm>
          <a:prstGeom prst="line">
            <a:avLst/>
          </a:prstGeom>
          <a:ln w="5080">
            <a:solidFill>
              <a:srgbClr val="CCCF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2411669" y="3809904"/>
            <a:ext cx="3174" cy="1269968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H="1">
            <a:off x="1313114" y="3809904"/>
            <a:ext cx="1099825" cy="634984"/>
          </a:xfrm>
          <a:prstGeom prst="line">
            <a:avLst/>
          </a:prstGeom>
          <a:ln w="5080">
            <a:solidFill>
              <a:srgbClr val="CCCF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1313114" y="3174920"/>
            <a:ext cx="1099825" cy="634984"/>
          </a:xfrm>
          <a:prstGeom prst="line">
            <a:avLst/>
          </a:prstGeom>
          <a:ln w="5080">
            <a:solidFill>
              <a:srgbClr val="CCCF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412939" y="3276518"/>
            <a:ext cx="681892" cy="139696"/>
          </a:xfrm>
          <a:prstGeom prst="line">
            <a:avLst/>
          </a:prstGeom>
          <a:ln w="19050">
            <a:solidFill>
              <a:srgbClr val="B87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3039839" y="3416214"/>
            <a:ext cx="54992" cy="755631"/>
          </a:xfrm>
          <a:prstGeom prst="line">
            <a:avLst/>
          </a:prstGeom>
          <a:ln w="19050">
            <a:solidFill>
              <a:srgbClr val="B87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2412939" y="4171845"/>
            <a:ext cx="626900" cy="222245"/>
          </a:xfrm>
          <a:prstGeom prst="line">
            <a:avLst/>
          </a:prstGeom>
          <a:ln w="19050">
            <a:solidFill>
              <a:srgbClr val="B87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1500085" y="4336941"/>
            <a:ext cx="912854" cy="57149"/>
          </a:xfrm>
          <a:prstGeom prst="line">
            <a:avLst/>
          </a:prstGeom>
          <a:ln w="19050">
            <a:solidFill>
              <a:srgbClr val="B87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1489086" y="3276518"/>
            <a:ext cx="10999" cy="1060423"/>
          </a:xfrm>
          <a:prstGeom prst="line">
            <a:avLst/>
          </a:prstGeom>
          <a:ln w="19050">
            <a:solidFill>
              <a:srgbClr val="B87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489086" y="3271755"/>
            <a:ext cx="923852" cy="9524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381190" y="3244768"/>
            <a:ext cx="63498" cy="63498"/>
          </a:xfrm>
          <a:prstGeom prst="ellipse">
            <a:avLst/>
          </a:prstGeom>
          <a:solidFill>
            <a:srgbClr val="F5F4F1"/>
          </a:solidFill>
          <a:ln w="1524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063081" y="3384465"/>
            <a:ext cx="63498" cy="63498"/>
          </a:xfrm>
          <a:prstGeom prst="ellipse">
            <a:avLst/>
          </a:prstGeom>
          <a:solidFill>
            <a:srgbClr val="F5F4F1"/>
          </a:solidFill>
          <a:ln w="1524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008090" y="4140096"/>
            <a:ext cx="63498" cy="63498"/>
          </a:xfrm>
          <a:prstGeom prst="ellipse">
            <a:avLst/>
          </a:prstGeom>
          <a:solidFill>
            <a:srgbClr val="F5F4F1"/>
          </a:solidFill>
          <a:ln w="1524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381190" y="4362340"/>
            <a:ext cx="63498" cy="63498"/>
          </a:xfrm>
          <a:prstGeom prst="ellipse">
            <a:avLst/>
          </a:prstGeom>
          <a:solidFill>
            <a:srgbClr val="F5F4F1"/>
          </a:solidFill>
          <a:ln w="1524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468335" y="4305192"/>
            <a:ext cx="63498" cy="63498"/>
          </a:xfrm>
          <a:prstGeom prst="ellipse">
            <a:avLst/>
          </a:prstGeom>
          <a:solidFill>
            <a:srgbClr val="F5F4F1"/>
          </a:solidFill>
          <a:ln w="1524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457337" y="3244768"/>
            <a:ext cx="63498" cy="63498"/>
          </a:xfrm>
          <a:prstGeom prst="ellipse">
            <a:avLst/>
          </a:prstGeom>
          <a:solidFill>
            <a:srgbClr val="F5F4F1"/>
          </a:solidFill>
          <a:ln w="1524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41453" y="2235144"/>
            <a:ext cx="1142971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200">
                <a:solidFill>
                  <a:srgbClr val="6C7680"/>
                </a:solidFill>
                <a:latin typeface="JetBrains Mono"/>
              </a:rPr>
              <a:t>CTX RECALL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39247" y="2984425"/>
            <a:ext cx="1142971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200">
                <a:solidFill>
                  <a:srgbClr val="6C7680"/>
                </a:solidFill>
                <a:latin typeface="JetBrains Mono"/>
              </a:rPr>
              <a:t>CTX PRECISION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39247" y="4482987"/>
            <a:ext cx="1142971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200">
                <a:solidFill>
                  <a:srgbClr val="6C7680"/>
                </a:solidFill>
                <a:latin typeface="JetBrains Mono"/>
              </a:rPr>
              <a:t>FAITHFULNESS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41453" y="5232269"/>
            <a:ext cx="1142971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200">
                <a:solidFill>
                  <a:srgbClr val="6C7680"/>
                </a:solidFill>
                <a:latin typeface="JetBrains Mono"/>
              </a:rPr>
              <a:t>FACTUAL RECALL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3660" y="4482987"/>
            <a:ext cx="1142971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200">
                <a:solidFill>
                  <a:srgbClr val="6C7680"/>
                </a:solidFill>
                <a:latin typeface="JetBrains Mono"/>
              </a:rPr>
              <a:t>ANSWER RELEVANCY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3660" y="2984425"/>
            <a:ext cx="1142971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200">
                <a:solidFill>
                  <a:srgbClr val="6C7680"/>
                </a:solidFill>
                <a:latin typeface="JetBrains Mono"/>
              </a:rPr>
              <a:t>SEMANTIC SIM.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13339" y="2031949"/>
            <a:ext cx="5219569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RAGAS · EVALUATOR: MISTRAL SMALL · 18-CASE SAMPLE · HYBRID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13339" y="2285942"/>
            <a:ext cx="380990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20">
                <a:solidFill>
                  <a:srgbClr val="B8722E"/>
                </a:solidFill>
                <a:latin typeface="JetBrains Mono"/>
              </a:rPr>
              <a:t>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94330" y="2260543"/>
            <a:ext cx="4838579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32A"/>
                </a:solidFill>
                <a:latin typeface="Aptos Display"/>
              </a:rPr>
              <a:t>Retrieval Quality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94330" y="2463738"/>
            <a:ext cx="4838579" cy="38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 spc="60">
                <a:solidFill>
                  <a:srgbClr val="6C7680"/>
                </a:solidFill>
                <a:latin typeface="JetBrains Mono"/>
              </a:rPr>
              <a:t>ctx_precision 0.62 — chunks relevant to the question?
ctx_recall 0.42 — info needed to answer is present?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13339" y="2919339"/>
            <a:ext cx="5219569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13339" y="3047923"/>
            <a:ext cx="380990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20">
                <a:solidFill>
                  <a:srgbClr val="B8722E"/>
                </a:solidFill>
                <a:latin typeface="JetBrains Mono"/>
              </a:rPr>
              <a:t>02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94330" y="3022524"/>
            <a:ext cx="4838579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32A"/>
                </a:solidFill>
                <a:latin typeface="Aptos Display"/>
              </a:rPr>
              <a:t>Model–RAG Grounding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94330" y="3225719"/>
            <a:ext cx="4838579" cy="38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 spc="60">
                <a:solidFill>
                  <a:srgbClr val="6C7680"/>
                </a:solidFill>
                <a:latin typeface="JetBrains Mono"/>
              </a:rPr>
              <a:t>context_faithfulness 0.57 — response supported by retrieved context?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13339" y="3681320"/>
            <a:ext cx="5219569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13339" y="3809904"/>
            <a:ext cx="380990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20">
                <a:solidFill>
                  <a:srgbClr val="B8722E"/>
                </a:solidFill>
                <a:latin typeface="JetBrains Mono"/>
              </a:rPr>
              <a:t>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94330" y="3784505"/>
            <a:ext cx="4838579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32A"/>
                </a:solidFill>
                <a:latin typeface="Aptos Display"/>
              </a:rPr>
              <a:t>Response Quality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94330" y="3987700"/>
            <a:ext cx="4838579" cy="38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 spc="60">
                <a:solidFill>
                  <a:srgbClr val="6C7680"/>
                </a:solidFill>
                <a:latin typeface="JetBrains Mono"/>
              </a:rPr>
              <a:t>factual_recall 0.46 · answer_relevancy 0.83 · semantic_sim 0.84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13339" y="4443301"/>
            <a:ext cx="5219569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413339" y="4749681"/>
            <a:ext cx="5219569" cy="634984"/>
          </a:xfrm>
          <a:prstGeom prst="rect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1607509" y="4749681"/>
            <a:ext cx="25399" cy="634984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65735" y="4851278"/>
            <a:ext cx="4914777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D89254"/>
                </a:solidFill>
                <a:latin typeface="JetBrains Mono"/>
              </a:rPr>
              <a:t>DIVERGENCE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65735" y="4978275"/>
            <a:ext cx="4914777" cy="38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BFAF6"/>
                </a:solidFill>
                <a:latin typeface="Aptos Display"/>
              </a:rPr>
              <a:t>RAGAs overall 0.71  vs.  LLM Judge 0.45  →  Δ ≈ 0.27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58786" y="6411752"/>
            <a:ext cx="11074123" cy="317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8786" y="6502237"/>
            <a:ext cx="380990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80">
                <a:solidFill>
                  <a:srgbClr val="6C7680"/>
                </a:solidFill>
                <a:latin typeface="JetBrains Mono"/>
              </a:rPr>
              <a:t>PROJECT DECK · VOL. 01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23004" y="6502237"/>
            <a:ext cx="380990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80">
                <a:solidFill>
                  <a:srgbClr val="6C7680"/>
                </a:solidFill>
                <a:latin typeface="JetBrains Mono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8786" y="228594"/>
            <a:ext cx="76198" cy="76198"/>
          </a:xfrm>
          <a:prstGeom prst="ellipse">
            <a:avLst/>
          </a:prstGeom>
          <a:solidFill>
            <a:srgbClr val="D892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782" y="177795"/>
            <a:ext cx="1523961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232A"/>
                </a:solidFill>
                <a:latin typeface="Aptos Display"/>
              </a:rPr>
              <a:t>Project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2939" y="203194"/>
            <a:ext cx="6857828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80">
                <a:solidFill>
                  <a:srgbClr val="B8722E"/>
                </a:solidFill>
                <a:latin typeface="JetBrains Mono"/>
              </a:rPr>
              <a:t>09</a:t>
            </a:r>
            <a:r>
              <a:rPr sz="1000" b="0" i="0" spc="180">
                <a:solidFill>
                  <a:srgbClr val="6C7680"/>
                </a:solidFill>
                <a:latin typeface="JetBrains Mono"/>
              </a:rPr>
              <a:t>  ·  EVALUATION · LLM AS JUDGE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4761" y="203194"/>
            <a:ext cx="210814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20">
                <a:solidFill>
                  <a:srgbClr val="6C7680"/>
                </a:solidFill>
                <a:latin typeface="JetBrains Mono"/>
              </a:rPr>
              <a:t>VOL. 01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58786" y="506399"/>
            <a:ext cx="11074123" cy="317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8786" y="895327"/>
            <a:ext cx="228594" cy="12699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578" y="838179"/>
            <a:ext cx="5079873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20">
                <a:solidFill>
                  <a:srgbClr val="B8722E"/>
                </a:solidFill>
                <a:latin typeface="JetBrains Mono"/>
              </a:rPr>
              <a:t>LLM AS JUDGE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786" y="1168370"/>
            <a:ext cx="10794730" cy="5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1F232A"/>
                </a:solidFill>
                <a:latin typeface="Aptos Display"/>
              </a:rPr>
              <a:t>A model </a:t>
            </a:r>
            <a:r>
              <a:rPr sz="5800" b="0" i="1">
                <a:solidFill>
                  <a:srgbClr val="B8722E"/>
                </a:solidFill>
                <a:latin typeface="Aptos Display"/>
              </a:rPr>
              <a:t>scoring</a:t>
            </a:r>
            <a:r>
              <a:rPr sz="5800" b="1" i="0">
                <a:solidFill>
                  <a:srgbClr val="1F232A"/>
                </a:solidFill>
                <a:latin typeface="Aptos Display"/>
              </a:rPr>
              <a:t> a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786" y="2031949"/>
            <a:ext cx="4571885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JUDGING 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8786" y="2222444"/>
            <a:ext cx="2235144" cy="571485"/>
          </a:xfrm>
          <a:prstGeom prst="rect">
            <a:avLst/>
          </a:prstGeom>
          <a:solidFill>
            <a:srgbClr val="FBFAF6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3083" y="2324041"/>
            <a:ext cx="2006549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9BA3AC"/>
                </a:solidFill>
                <a:latin typeface="JetBrains Mono"/>
              </a:rPr>
              <a:t>QUESTION + GT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083" y="2463738"/>
            <a:ext cx="2006549" cy="38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C7680"/>
                </a:solidFill>
                <a:latin typeface="JetBrains Mono"/>
              </a:rPr>
              <a:t>expected_response · key_facts
clause_reference · citations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95527" y="2222444"/>
            <a:ext cx="2235144" cy="571485"/>
          </a:xfrm>
          <a:prstGeom prst="rect">
            <a:avLst/>
          </a:prstGeom>
          <a:solidFill>
            <a:srgbClr val="FBFAF6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09824" y="2324041"/>
            <a:ext cx="2006549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9BA3AC"/>
                </a:solidFill>
                <a:latin typeface="JetBrains Mono"/>
              </a:rPr>
              <a:t>MODEL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9824" y="2463738"/>
            <a:ext cx="2006549" cy="38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C7680"/>
                </a:solidFill>
                <a:latin typeface="JetBrains Mono"/>
              </a:rPr>
              <a:t>Llama-Primus output
including **Sources:** footer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73183" y="2920926"/>
            <a:ext cx="6349" cy="190495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09924" y="2920926"/>
            <a:ext cx="6349" cy="190495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8786" y="3149521"/>
            <a:ext cx="4571885" cy="825479"/>
          </a:xfrm>
          <a:prstGeom prst="rect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05272" y="3149521"/>
            <a:ext cx="25399" cy="825479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182" y="3263818"/>
            <a:ext cx="4267093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D89254"/>
                </a:solidFill>
                <a:latin typeface="JetBrains Mono"/>
              </a:rPr>
              <a:t>JUDGE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182" y="3403514"/>
            <a:ext cx="4267093" cy="2285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BFAF6"/>
                </a:solidFill>
                <a:latin typeface="Aptos Display"/>
              </a:rPr>
              <a:t>Qwen3-235B via OpenRouter · temp 0.2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1182" y="3708307"/>
            <a:ext cx="1371565" cy="190495"/>
          </a:xfrm>
          <a:prstGeom prst="rect">
            <a:avLst/>
          </a:prstGeom>
          <a:noFill/>
          <a:ln w="6350">
            <a:solidFill>
              <a:srgbClr val="E9C9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182" y="3740056"/>
            <a:ext cx="1371565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 spc="150">
                <a:solidFill>
                  <a:srgbClr val="D89254"/>
                </a:solidFill>
                <a:latin typeface="JetBrains Mono"/>
              </a:rPr>
              <a:t>CROSS-FAMILY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58946" y="3708307"/>
            <a:ext cx="1371565" cy="190495"/>
          </a:xfrm>
          <a:prstGeom prst="rect">
            <a:avLst/>
          </a:prstGeom>
          <a:noFill/>
          <a:ln w="6350">
            <a:solidFill>
              <a:srgbClr val="E9C9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58946" y="3740056"/>
            <a:ext cx="1371565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 spc="150">
                <a:solidFill>
                  <a:srgbClr val="D89254"/>
                </a:solidFill>
                <a:latin typeface="JetBrains Mono"/>
              </a:rPr>
              <a:t>JSON RETRY ×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06709" y="3708307"/>
            <a:ext cx="1371565" cy="190495"/>
          </a:xfrm>
          <a:prstGeom prst="rect">
            <a:avLst/>
          </a:prstGeom>
          <a:noFill/>
          <a:ln w="6350">
            <a:solidFill>
              <a:srgbClr val="E9C9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06709" y="3740056"/>
            <a:ext cx="1371565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 spc="150">
                <a:solidFill>
                  <a:srgbClr val="D89254"/>
                </a:solidFill>
                <a:latin typeface="JetBrains Mono"/>
              </a:rPr>
              <a:t>SKIP-AND-FLAG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41553" y="4051198"/>
            <a:ext cx="6349" cy="190495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8786" y="4279793"/>
            <a:ext cx="719648" cy="317492"/>
          </a:xfrm>
          <a:prstGeom prst="rect">
            <a:avLst/>
          </a:prstGeom>
          <a:solidFill>
            <a:srgbClr val="FBFAF6"/>
          </a:solidFill>
          <a:ln w="1524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8786" y="4355991"/>
            <a:ext cx="719648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 spc="220">
                <a:solidFill>
                  <a:srgbClr val="B8722E"/>
                </a:solidFill>
                <a:latin typeface="JetBrains Mono"/>
              </a:rPr>
              <a:t>D1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29233" y="4279793"/>
            <a:ext cx="719648" cy="317492"/>
          </a:xfrm>
          <a:prstGeom prst="rect">
            <a:avLst/>
          </a:prstGeom>
          <a:solidFill>
            <a:srgbClr val="FBFAF6"/>
          </a:solidFill>
          <a:ln w="1524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29233" y="4355991"/>
            <a:ext cx="719648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 spc="220">
                <a:solidFill>
                  <a:srgbClr val="B8722E"/>
                </a:solidFill>
                <a:latin typeface="JetBrains Mono"/>
              </a:rPr>
              <a:t>D2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99680" y="4279793"/>
            <a:ext cx="719648" cy="317492"/>
          </a:xfrm>
          <a:prstGeom prst="rect">
            <a:avLst/>
          </a:prstGeom>
          <a:solidFill>
            <a:srgbClr val="FBFAF6"/>
          </a:solidFill>
          <a:ln w="1524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99680" y="4355991"/>
            <a:ext cx="719648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 spc="220">
                <a:solidFill>
                  <a:srgbClr val="B8722E"/>
                </a:solidFill>
                <a:latin typeface="JetBrains Mono"/>
              </a:rPr>
              <a:t>D3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70128" y="4279793"/>
            <a:ext cx="719648" cy="317492"/>
          </a:xfrm>
          <a:prstGeom prst="rect">
            <a:avLst/>
          </a:prstGeom>
          <a:solidFill>
            <a:srgbClr val="FBFAF6"/>
          </a:solidFill>
          <a:ln w="1524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70128" y="4355991"/>
            <a:ext cx="719648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 spc="220">
                <a:solidFill>
                  <a:srgbClr val="B8722E"/>
                </a:solidFill>
                <a:latin typeface="JetBrains Mono"/>
              </a:rPr>
              <a:t>D4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40575" y="4279793"/>
            <a:ext cx="719648" cy="317492"/>
          </a:xfrm>
          <a:prstGeom prst="rect">
            <a:avLst/>
          </a:prstGeom>
          <a:solidFill>
            <a:srgbClr val="FBFAF6"/>
          </a:solidFill>
          <a:ln w="1524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40575" y="4355991"/>
            <a:ext cx="719648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 spc="220">
                <a:solidFill>
                  <a:srgbClr val="B8722E"/>
                </a:solidFill>
                <a:latin typeface="JetBrains Mono"/>
              </a:rPr>
              <a:t>D5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11023" y="4279793"/>
            <a:ext cx="719648" cy="317492"/>
          </a:xfrm>
          <a:prstGeom prst="rect">
            <a:avLst/>
          </a:prstGeom>
          <a:solidFill>
            <a:srgbClr val="FBFAF6"/>
          </a:solidFill>
          <a:ln w="1524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11023" y="4355991"/>
            <a:ext cx="719648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 spc="220">
                <a:solidFill>
                  <a:srgbClr val="B8722E"/>
                </a:solidFill>
                <a:latin typeface="JetBrains Mono"/>
              </a:rPr>
              <a:t>D6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87860" y="2031949"/>
            <a:ext cx="6045048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RUBRIC · 6 DIMENSIONS × EQUAL WEIGHT 0.5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87860" y="2285942"/>
            <a:ext cx="355591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20">
                <a:solidFill>
                  <a:srgbClr val="B8722E"/>
                </a:solidFill>
                <a:latin typeface="JetBrains Mono"/>
              </a:rPr>
              <a:t>D1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451" y="2260543"/>
            <a:ext cx="4863978" cy="177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32A"/>
                </a:solidFill>
                <a:latin typeface="JetBrains Mono"/>
              </a:rPr>
              <a:t>verdict_accuracy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451" y="2438339"/>
            <a:ext cx="4863978" cy="177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C7680"/>
                </a:solidFill>
                <a:latin typeface="Inter"/>
              </a:rPr>
              <a:t>verdict matches Expected Response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807429" y="2285942"/>
            <a:ext cx="101597" cy="101597"/>
          </a:xfrm>
          <a:prstGeom prst="rect">
            <a:avLst/>
          </a:prstGeom>
          <a:noFill/>
          <a:ln w="762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947126" y="2285942"/>
            <a:ext cx="101597" cy="101597"/>
          </a:xfrm>
          <a:prstGeom prst="rect">
            <a:avLst/>
          </a:prstGeom>
          <a:noFill/>
          <a:ln w="762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086822" y="2285942"/>
            <a:ext cx="101597" cy="101597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226519" y="2285942"/>
            <a:ext cx="101597" cy="101597"/>
          </a:xfrm>
          <a:prstGeom prst="rect">
            <a:avLst/>
          </a:prstGeom>
          <a:noFill/>
          <a:ln w="762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587860" y="2665345"/>
            <a:ext cx="6045048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87860" y="2743131"/>
            <a:ext cx="355591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20">
                <a:solidFill>
                  <a:srgbClr val="B8722E"/>
                </a:solidFill>
                <a:latin typeface="JetBrains Mono"/>
              </a:rPr>
              <a:t>D2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451" y="2717732"/>
            <a:ext cx="4863978" cy="177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32A"/>
                </a:solidFill>
                <a:latin typeface="JetBrains Mono"/>
              </a:rPr>
              <a:t>justification_quality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451" y="2895527"/>
            <a:ext cx="4863978" cy="177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C7680"/>
                </a:solidFill>
                <a:latin typeface="Inter"/>
              </a:rPr>
              <a:t>logically sound and internally consistent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807429" y="2743131"/>
            <a:ext cx="101597" cy="101597"/>
          </a:xfrm>
          <a:prstGeom prst="rect">
            <a:avLst/>
          </a:prstGeom>
          <a:noFill/>
          <a:ln w="762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947126" y="2743131"/>
            <a:ext cx="101597" cy="101597"/>
          </a:xfrm>
          <a:prstGeom prst="rect">
            <a:avLst/>
          </a:prstGeom>
          <a:noFill/>
          <a:ln w="762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086822" y="2743131"/>
            <a:ext cx="101597" cy="101597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226519" y="2743131"/>
            <a:ext cx="101597" cy="101597"/>
          </a:xfrm>
          <a:prstGeom prst="rect">
            <a:avLst/>
          </a:prstGeom>
          <a:noFill/>
          <a:ln w="762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87860" y="3122534"/>
            <a:ext cx="6045048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87860" y="3200319"/>
            <a:ext cx="355591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20">
                <a:solidFill>
                  <a:srgbClr val="B8722E"/>
                </a:solidFill>
                <a:latin typeface="JetBrains Mono"/>
              </a:rPr>
              <a:t>D3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451" y="3174920"/>
            <a:ext cx="4863978" cy="177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32A"/>
                </a:solidFill>
                <a:latin typeface="JetBrains Mono"/>
              </a:rPr>
              <a:t>factual_grounding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451" y="3352716"/>
            <a:ext cx="4863978" cy="177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C7680"/>
                </a:solidFill>
                <a:latin typeface="Inter"/>
              </a:rPr>
              <a:t>claim-level — supported by available material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807429" y="3200319"/>
            <a:ext cx="101597" cy="101597"/>
          </a:xfrm>
          <a:prstGeom prst="rect">
            <a:avLst/>
          </a:prstGeom>
          <a:noFill/>
          <a:ln w="762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947126" y="3200319"/>
            <a:ext cx="101597" cy="101597"/>
          </a:xfrm>
          <a:prstGeom prst="rect">
            <a:avLst/>
          </a:prstGeom>
          <a:noFill/>
          <a:ln w="762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086822" y="3200319"/>
            <a:ext cx="101597" cy="101597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226519" y="3200319"/>
            <a:ext cx="101597" cy="101597"/>
          </a:xfrm>
          <a:prstGeom prst="rect">
            <a:avLst/>
          </a:prstGeom>
          <a:noFill/>
          <a:ln w="762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87860" y="3579723"/>
            <a:ext cx="6045048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87860" y="3657508"/>
            <a:ext cx="355591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20">
                <a:solidFill>
                  <a:srgbClr val="B8722E"/>
                </a:solidFill>
                <a:latin typeface="JetBrains Mono"/>
              </a:rPr>
              <a:t>D4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43451" y="3632109"/>
            <a:ext cx="4863978" cy="177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32A"/>
                </a:solidFill>
                <a:latin typeface="JetBrains Mono"/>
              </a:rPr>
              <a:t>scope_appropriateness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43451" y="3809904"/>
            <a:ext cx="4863978" cy="177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C7680"/>
                </a:solidFill>
                <a:latin typeface="Inter"/>
              </a:rPr>
              <a:t>stays within question; respects scenario constraints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807429" y="3657508"/>
            <a:ext cx="101597" cy="101597"/>
          </a:xfrm>
          <a:prstGeom prst="rect">
            <a:avLst/>
          </a:prstGeom>
          <a:noFill/>
          <a:ln w="762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947126" y="3657508"/>
            <a:ext cx="101597" cy="101597"/>
          </a:xfrm>
          <a:prstGeom prst="rect">
            <a:avLst/>
          </a:prstGeom>
          <a:noFill/>
          <a:ln w="762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086822" y="3657508"/>
            <a:ext cx="101597" cy="101597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1226519" y="3657508"/>
            <a:ext cx="101597" cy="101597"/>
          </a:xfrm>
          <a:prstGeom prst="rect">
            <a:avLst/>
          </a:prstGeom>
          <a:noFill/>
          <a:ln w="762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587860" y="4036911"/>
            <a:ext cx="6045048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87860" y="4114697"/>
            <a:ext cx="355591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20">
                <a:solidFill>
                  <a:srgbClr val="B8722E"/>
                </a:solidFill>
                <a:latin typeface="JetBrains Mono"/>
              </a:rPr>
              <a:t>D5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451" y="4089297"/>
            <a:ext cx="4863978" cy="177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32A"/>
                </a:solidFill>
                <a:latin typeface="JetBrains Mono"/>
              </a:rPr>
              <a:t>actionable_way_forward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43451" y="4267093"/>
            <a:ext cx="4863978" cy="177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C7680"/>
                </a:solidFill>
                <a:latin typeface="Inter"/>
              </a:rPr>
              <a:t>concrete, feasible next steps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807429" y="4114697"/>
            <a:ext cx="101597" cy="101597"/>
          </a:xfrm>
          <a:prstGeom prst="rect">
            <a:avLst/>
          </a:prstGeom>
          <a:noFill/>
          <a:ln w="762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947126" y="4114697"/>
            <a:ext cx="101597" cy="101597"/>
          </a:xfrm>
          <a:prstGeom prst="rect">
            <a:avLst/>
          </a:prstGeom>
          <a:noFill/>
          <a:ln w="762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1086822" y="4114697"/>
            <a:ext cx="101597" cy="101597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1226519" y="4114697"/>
            <a:ext cx="101597" cy="101597"/>
          </a:xfrm>
          <a:prstGeom prst="rect">
            <a:avLst/>
          </a:prstGeom>
          <a:noFill/>
          <a:ln w="762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587860" y="4494100"/>
            <a:ext cx="6045048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587860" y="4571885"/>
            <a:ext cx="355591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20">
                <a:solidFill>
                  <a:srgbClr val="B8722E"/>
                </a:solidFill>
                <a:latin typeface="JetBrains Mono"/>
              </a:rPr>
              <a:t>D6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943451" y="4546486"/>
            <a:ext cx="4863978" cy="177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32A"/>
                </a:solidFill>
                <a:latin typeface="JetBrains Mono"/>
              </a:rPr>
              <a:t>citation_correctness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43451" y="4724281"/>
            <a:ext cx="4863978" cy="177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C7680"/>
                </a:solidFill>
                <a:latin typeface="Inter"/>
              </a:rPr>
              <a:t>citation-level — IDs real and accurately described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807429" y="4571885"/>
            <a:ext cx="101597" cy="101597"/>
          </a:xfrm>
          <a:prstGeom prst="rect">
            <a:avLst/>
          </a:prstGeom>
          <a:noFill/>
          <a:ln w="762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947126" y="4571885"/>
            <a:ext cx="101597" cy="101597"/>
          </a:xfrm>
          <a:prstGeom prst="rect">
            <a:avLst/>
          </a:prstGeom>
          <a:noFill/>
          <a:ln w="762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1086822" y="4571885"/>
            <a:ext cx="101597" cy="101597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226519" y="4571885"/>
            <a:ext cx="101597" cy="101597"/>
          </a:xfrm>
          <a:prstGeom prst="rect">
            <a:avLst/>
          </a:prstGeom>
          <a:noFill/>
          <a:ln w="762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587860" y="4951288"/>
            <a:ext cx="6045048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587860" y="5105272"/>
            <a:ext cx="6045048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9BA3AC"/>
                </a:solidFill>
                <a:latin typeface="JetBrains Mono"/>
              </a:rPr>
              <a:t>SCALE — 0 incorrect · 1 partial · 2 complete · 3 exceeds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58786" y="6411752"/>
            <a:ext cx="11074123" cy="317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58786" y="6502237"/>
            <a:ext cx="380990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80">
                <a:solidFill>
                  <a:srgbClr val="6C7680"/>
                </a:solidFill>
                <a:latin typeface="JetBrains Mono"/>
              </a:rPr>
              <a:t>PROJECT DECK · VOL. 01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23004" y="6502237"/>
            <a:ext cx="380990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80">
                <a:solidFill>
                  <a:srgbClr val="6C7680"/>
                </a:solidFill>
                <a:latin typeface="JetBrains Mono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8786" y="228594"/>
            <a:ext cx="76198" cy="76198"/>
          </a:xfrm>
          <a:prstGeom prst="ellipse">
            <a:avLst/>
          </a:prstGeom>
          <a:solidFill>
            <a:srgbClr val="D892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782" y="177795"/>
            <a:ext cx="1523961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232A"/>
                </a:solidFill>
                <a:latin typeface="Aptos Display"/>
              </a:rPr>
              <a:t>Project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2939" y="203194"/>
            <a:ext cx="6857828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80">
                <a:solidFill>
                  <a:srgbClr val="B8722E"/>
                </a:solidFill>
                <a:latin typeface="JetBrains Mono"/>
              </a:rPr>
              <a:t>10</a:t>
            </a:r>
            <a:r>
              <a:rPr sz="1000" b="0" i="0" spc="180">
                <a:solidFill>
                  <a:srgbClr val="6C7680"/>
                </a:solidFill>
                <a:latin typeface="JetBrains Mono"/>
              </a:rPr>
              <a:t>  ·  EVALUATION · NATIVE VS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4761" y="203194"/>
            <a:ext cx="210814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20">
                <a:solidFill>
                  <a:srgbClr val="6C7680"/>
                </a:solidFill>
                <a:latin typeface="JetBrains Mono"/>
              </a:rPr>
              <a:t>VOL. 01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58786" y="506399"/>
            <a:ext cx="11074123" cy="317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8786" y="895327"/>
            <a:ext cx="228594" cy="12699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578" y="838179"/>
            <a:ext cx="5079873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20">
                <a:solidFill>
                  <a:srgbClr val="B8722E"/>
                </a:solidFill>
                <a:latin typeface="JetBrains Mono"/>
              </a:rPr>
              <a:t>MODEL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786" y="1168370"/>
            <a:ext cx="10794730" cy="5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1F232A"/>
                </a:solidFill>
                <a:latin typeface="Aptos Display"/>
              </a:rPr>
              <a:t>Native vs </a:t>
            </a:r>
            <a:r>
              <a:rPr sz="5800" b="0" i="1">
                <a:solidFill>
                  <a:srgbClr val="B8722E"/>
                </a:solidFill>
                <a:latin typeface="Aptos Display"/>
              </a:rPr>
              <a:t>retrieval-augmented</a:t>
            </a:r>
            <a:r>
              <a:rPr sz="5800" b="1" i="0">
                <a:solidFill>
                  <a:srgbClr val="1F232A"/>
                </a:solidFill>
                <a:latin typeface="Aptos Display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8786" y="2031949"/>
            <a:ext cx="5448163" cy="3682907"/>
          </a:xfrm>
          <a:prstGeom prst="rect">
            <a:avLst/>
          </a:prstGeom>
          <a:solidFill>
            <a:srgbClr val="FBFAF6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581" y="2209744"/>
            <a:ext cx="5092572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CONFIGURATION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9186" y="2209744"/>
            <a:ext cx="1269968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50">
                <a:solidFill>
                  <a:srgbClr val="B8722E"/>
                </a:solidFill>
                <a:latin typeface="JetBrains Mono"/>
              </a:rPr>
              <a:t>NATIVE (LLM-ONLY)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581" y="2400239"/>
            <a:ext cx="5092572" cy="38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1F232A"/>
                </a:solidFill>
                <a:latin typeface="Aptos Display"/>
              </a:rPr>
              <a:t>0.3949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581" y="2857428"/>
            <a:ext cx="5092572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LLM JUDGE COMPOSITE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0671" y="2844728"/>
            <a:ext cx="698482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 spc="100">
                <a:solidFill>
                  <a:srgbClr val="1F232A"/>
                </a:solidFill>
                <a:latin typeface="JetBrains Mono"/>
              </a:rPr>
              <a:t>0.3949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581" y="3047923"/>
            <a:ext cx="5092572" cy="25399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581" y="3047923"/>
            <a:ext cx="2011566" cy="25399"/>
          </a:xfrm>
          <a:prstGeom prst="rect">
            <a:avLst/>
          </a:prstGeom>
          <a:solidFill>
            <a:srgbClr val="6C76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581" y="3238419"/>
            <a:ext cx="5092572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RAGAS · FACTUAL 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0671" y="3225719"/>
            <a:ext cx="698482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 spc="100">
                <a:solidFill>
                  <a:srgbClr val="1F232A"/>
                </a:solidFill>
                <a:latin typeface="JetBrains Mono"/>
              </a:rPr>
              <a:t>0.5894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581" y="3428914"/>
            <a:ext cx="5092572" cy="25399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581" y="3428914"/>
            <a:ext cx="2999525" cy="25399"/>
          </a:xfrm>
          <a:prstGeom prst="rect">
            <a:avLst/>
          </a:prstGeom>
          <a:solidFill>
            <a:srgbClr val="6C76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581" y="3619409"/>
            <a:ext cx="5092572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RAGAS · ANSWER RELEVANCY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0671" y="3606709"/>
            <a:ext cx="698482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 spc="100">
                <a:solidFill>
                  <a:srgbClr val="1F232A"/>
                </a:solidFill>
                <a:latin typeface="JetBrains Mono"/>
              </a:rPr>
              <a:t>0.6453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6581" y="3809904"/>
            <a:ext cx="5092572" cy="25399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6581" y="3809904"/>
            <a:ext cx="3284709" cy="25399"/>
          </a:xfrm>
          <a:prstGeom prst="rect">
            <a:avLst/>
          </a:prstGeom>
          <a:solidFill>
            <a:srgbClr val="6C76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581" y="4000399"/>
            <a:ext cx="5092572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RAGAS · SEMANTIC SIMILARITY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0671" y="3987700"/>
            <a:ext cx="698482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 spc="100">
                <a:solidFill>
                  <a:srgbClr val="1F232A"/>
                </a:solidFill>
                <a:latin typeface="JetBrains Mono"/>
              </a:rPr>
              <a:t>0.8502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6581" y="4190895"/>
            <a:ext cx="5092572" cy="25399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6581" y="4190895"/>
            <a:ext cx="4328686" cy="25399"/>
          </a:xfrm>
          <a:prstGeom prst="rect">
            <a:avLst/>
          </a:prstGeom>
          <a:solidFill>
            <a:srgbClr val="6C76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4745" y="2031949"/>
            <a:ext cx="5448163" cy="3682907"/>
          </a:xfrm>
          <a:prstGeom prst="rect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607509" y="2031949"/>
            <a:ext cx="25399" cy="3682907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62540" y="2209744"/>
            <a:ext cx="5092572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D89254"/>
                </a:solidFill>
                <a:latin typeface="JetBrains Mono"/>
              </a:rPr>
              <a:t>CONFIGURATION 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85145" y="2209744"/>
            <a:ext cx="1269968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50">
                <a:solidFill>
                  <a:srgbClr val="D89254"/>
                </a:solidFill>
                <a:latin typeface="JetBrains Mono"/>
              </a:rPr>
              <a:t>HYBRID (RAG)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2540" y="2400239"/>
            <a:ext cx="5092572" cy="38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BFAF6"/>
                </a:solidFill>
                <a:latin typeface="Aptos Display"/>
              </a:rPr>
              <a:t>0.4458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2540" y="2857428"/>
            <a:ext cx="5092572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D89254"/>
                </a:solidFill>
                <a:latin typeface="JetBrains Mono"/>
              </a:rPr>
              <a:t>LLM JUDGE COMPOSITE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56631" y="2844728"/>
            <a:ext cx="698482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 spc="100">
                <a:solidFill>
                  <a:srgbClr val="FBFAF6"/>
                </a:solidFill>
                <a:latin typeface="JetBrains Mono"/>
              </a:rPr>
              <a:t>0.4458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62540" y="3047923"/>
            <a:ext cx="5092572" cy="25399"/>
          </a:xfrm>
          <a:prstGeom prst="rect">
            <a:avLst/>
          </a:prstGeom>
          <a:solidFill>
            <a:srgbClr val="E9C9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62540" y="3047923"/>
            <a:ext cx="2271287" cy="25399"/>
          </a:xfrm>
          <a:prstGeom prst="rect">
            <a:avLst/>
          </a:prstGeom>
          <a:solidFill>
            <a:srgbClr val="D892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62540" y="3238419"/>
            <a:ext cx="5092572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D89254"/>
                </a:solidFill>
                <a:latin typeface="JetBrains Mono"/>
              </a:rPr>
              <a:t>RAGAS · FACTUAL RECALL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56631" y="3225719"/>
            <a:ext cx="698482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 spc="100">
                <a:solidFill>
                  <a:srgbClr val="FBFAF6"/>
                </a:solidFill>
                <a:latin typeface="JetBrains Mono"/>
              </a:rPr>
              <a:t>0.4616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62540" y="3428914"/>
            <a:ext cx="5092572" cy="25399"/>
          </a:xfrm>
          <a:prstGeom prst="rect">
            <a:avLst/>
          </a:prstGeom>
          <a:solidFill>
            <a:srgbClr val="E9C9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62540" y="3428914"/>
            <a:ext cx="2352768" cy="25399"/>
          </a:xfrm>
          <a:prstGeom prst="rect">
            <a:avLst/>
          </a:prstGeom>
          <a:solidFill>
            <a:srgbClr val="D892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62540" y="3619409"/>
            <a:ext cx="5092572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D89254"/>
                </a:solidFill>
                <a:latin typeface="JetBrains Mono"/>
              </a:rPr>
              <a:t>RAGAS · ANSWER RELEVANCY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56631" y="3606709"/>
            <a:ext cx="698482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 spc="100">
                <a:solidFill>
                  <a:srgbClr val="FBFAF6"/>
                </a:solidFill>
                <a:latin typeface="JetBrains Mono"/>
              </a:rPr>
              <a:t>0.8253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62540" y="3809904"/>
            <a:ext cx="5092572" cy="25399"/>
          </a:xfrm>
          <a:prstGeom prst="rect">
            <a:avLst/>
          </a:prstGeom>
          <a:solidFill>
            <a:srgbClr val="E9C9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62540" y="3809904"/>
            <a:ext cx="4201372" cy="25399"/>
          </a:xfrm>
          <a:prstGeom prst="rect">
            <a:avLst/>
          </a:prstGeom>
          <a:solidFill>
            <a:srgbClr val="D892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62540" y="4000399"/>
            <a:ext cx="5092572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D89254"/>
                </a:solidFill>
                <a:latin typeface="JetBrains Mono"/>
              </a:rPr>
              <a:t>RAGAS · SEMANTIC SIMILARITY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56631" y="3987700"/>
            <a:ext cx="698482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 spc="100">
                <a:solidFill>
                  <a:srgbClr val="FBFAF6"/>
                </a:solidFill>
                <a:latin typeface="JetBrains Mono"/>
              </a:rPr>
              <a:t>0.8425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62540" y="4190895"/>
            <a:ext cx="5092572" cy="25399"/>
          </a:xfrm>
          <a:prstGeom prst="rect">
            <a:avLst/>
          </a:prstGeom>
          <a:solidFill>
            <a:srgbClr val="E9C9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62540" y="4190895"/>
            <a:ext cx="4287946" cy="25399"/>
          </a:xfrm>
          <a:prstGeom prst="rect">
            <a:avLst/>
          </a:prstGeom>
          <a:solidFill>
            <a:srgbClr val="D892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8786" y="5968850"/>
            <a:ext cx="11074123" cy="177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180">
                <a:solidFill>
                  <a:srgbClr val="B8722E"/>
                </a:solidFill>
                <a:latin typeface="JetBrains Mono"/>
              </a:rPr>
              <a:t>Δ JUDGE  +0.0509 (+12.9%)   ·   Δ RAGAS OVERALL  +0.0148 (+2.1%)   ·   18-case stratified sample (bdc4927d) · 2026-04-29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8786" y="6411752"/>
            <a:ext cx="11074123" cy="317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8786" y="6502237"/>
            <a:ext cx="380990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80">
                <a:solidFill>
                  <a:srgbClr val="6C7680"/>
                </a:solidFill>
                <a:latin typeface="JetBrains Mono"/>
              </a:rPr>
              <a:t>PROJECT DECK · VOL. 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23004" y="6502237"/>
            <a:ext cx="380990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80">
                <a:solidFill>
                  <a:srgbClr val="6C7680"/>
                </a:solidFill>
                <a:latin typeface="JetBrains Mono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8786" y="228594"/>
            <a:ext cx="76198" cy="76198"/>
          </a:xfrm>
          <a:prstGeom prst="ellipse">
            <a:avLst/>
          </a:prstGeom>
          <a:solidFill>
            <a:srgbClr val="D892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782" y="177795"/>
            <a:ext cx="1523961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232A"/>
                </a:solidFill>
                <a:latin typeface="Aptos Display"/>
              </a:rPr>
              <a:t>Project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2939" y="203194"/>
            <a:ext cx="6857828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80">
                <a:solidFill>
                  <a:srgbClr val="B8722E"/>
                </a:solidFill>
                <a:latin typeface="JetBrains Mono"/>
              </a:rPr>
              <a:t>11</a:t>
            </a:r>
            <a:r>
              <a:rPr sz="1000" b="0" i="0" spc="180">
                <a:solidFill>
                  <a:srgbClr val="6C7680"/>
                </a:solidFill>
                <a:latin typeface="JetBrains Mono"/>
              </a:rPr>
              <a:t>  ·  RESULTS · SAMPLE OUTPUTS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4761" y="203194"/>
            <a:ext cx="210814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20">
                <a:solidFill>
                  <a:srgbClr val="6C7680"/>
                </a:solidFill>
                <a:latin typeface="JetBrains Mono"/>
              </a:rPr>
              <a:t>VOL. 01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58786" y="506399"/>
            <a:ext cx="11074123" cy="317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8786" y="895327"/>
            <a:ext cx="228594" cy="12699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578" y="838179"/>
            <a:ext cx="5079873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20">
                <a:solidFill>
                  <a:srgbClr val="B8722E"/>
                </a:solidFill>
                <a:latin typeface="JetBrains Mono"/>
              </a:rPr>
              <a:t>SAMPLE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786" y="1168370"/>
            <a:ext cx="10794730" cy="5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1F232A"/>
                </a:solidFill>
                <a:latin typeface="Aptos Display"/>
              </a:rPr>
              <a:t>Three queries, </a:t>
            </a:r>
            <a:r>
              <a:rPr sz="5800" b="0" i="1">
                <a:solidFill>
                  <a:srgbClr val="B8722E"/>
                </a:solidFill>
                <a:latin typeface="Aptos Display"/>
              </a:rPr>
              <a:t>side by side</a:t>
            </a:r>
            <a:r>
              <a:rPr sz="5800" b="1" i="0">
                <a:solidFill>
                  <a:srgbClr val="1F232A"/>
                </a:solidFill>
                <a:latin typeface="Aptos Display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786" y="1904952"/>
            <a:ext cx="507987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3770" y="1904952"/>
            <a:ext cx="2412939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06" y="1904952"/>
            <a:ext cx="3682907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NATIVE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611" y="1904952"/>
            <a:ext cx="3682907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B8722E"/>
                </a:solidFill>
                <a:latin typeface="JetBrains Mono"/>
              </a:rPr>
              <a:t>RAG 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8786" y="2043061"/>
            <a:ext cx="11074123" cy="317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8786" y="2260543"/>
            <a:ext cx="507987" cy="317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9BA3AC"/>
                </a:solidFill>
                <a:latin typeface="Aptos Display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93770" y="2133546"/>
            <a:ext cx="2412939" cy="1384265"/>
          </a:xfrm>
          <a:prstGeom prst="rect">
            <a:avLst/>
          </a:prstGeom>
          <a:solidFill>
            <a:srgbClr val="FBFAF6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08067" y="2235144"/>
            <a:ext cx="2184345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9BA3AC"/>
                </a:solidFill>
                <a:latin typeface="JetBrains Mono"/>
              </a:rPr>
              <a:t>B01 · APPLICABILITY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8067" y="2387540"/>
            <a:ext cx="2184345" cy="1028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1F232A"/>
                </a:solidFill>
                <a:latin typeface="Inter"/>
              </a:rPr>
              <a:t>A healthcare provider's patient-monitoring systems are designated CII; their hospital-administration system shares the same enterprise network. Does CCoP 2.0 mandatory compliance extend to the admin system?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33706" y="2133546"/>
            <a:ext cx="3682907" cy="1384265"/>
          </a:xfrm>
          <a:prstGeom prst="rect">
            <a:avLst/>
          </a:prstGeom>
          <a:solidFill>
            <a:srgbClr val="FBFAF6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8003" y="2235144"/>
            <a:ext cx="3454313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9BA3AC"/>
                </a:solidFill>
                <a:latin typeface="JetBrains Mono"/>
              </a:rPr>
              <a:t>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8003" y="2387540"/>
            <a:ext cx="3454313" cy="80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1F232A"/>
                </a:solidFill>
                <a:latin typeface="Inter"/>
              </a:rPr>
              <a:t>Yes — anything on the same enterprise network is in scope under the CIIO's perimeter, so the admin system must comply with CCoP 2.0.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8003" y="3289217"/>
            <a:ext cx="88897" cy="88897"/>
          </a:xfrm>
          <a:prstGeom prst="rect">
            <a:avLst/>
          </a:prstGeom>
          <a:solidFill>
            <a:srgbClr val="DCDCD8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62300" y="3289217"/>
            <a:ext cx="88897" cy="88897"/>
          </a:xfrm>
          <a:prstGeom prst="rect">
            <a:avLst/>
          </a:prstGeom>
          <a:noFill/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76598" y="3289217"/>
            <a:ext cx="88897" cy="88897"/>
          </a:xfrm>
          <a:prstGeom prst="rect">
            <a:avLst/>
          </a:prstGeom>
          <a:noFill/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90895" y="3289217"/>
            <a:ext cx="88897" cy="88897"/>
          </a:xfrm>
          <a:prstGeom prst="rect">
            <a:avLst/>
          </a:prstGeom>
          <a:noFill/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05192" y="3289217"/>
            <a:ext cx="88897" cy="88897"/>
          </a:xfrm>
          <a:prstGeom prst="rect">
            <a:avLst/>
          </a:prstGeom>
          <a:noFill/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4633" y="3314617"/>
            <a:ext cx="647683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50">
                <a:solidFill>
                  <a:srgbClr val="6C7680"/>
                </a:solidFill>
                <a:latin typeface="JetBrains Mono"/>
              </a:rPr>
              <a:t>JUDGE  0.17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3611" y="2133546"/>
            <a:ext cx="3682907" cy="1384265"/>
          </a:xfrm>
          <a:prstGeom prst="rect">
            <a:avLst/>
          </a:prstGeom>
          <a:solidFill>
            <a:srgbClr val="FBFAF6"/>
          </a:solidFill>
          <a:ln w="1905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57908" y="2235144"/>
            <a:ext cx="3454313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B8722E"/>
                </a:solidFill>
                <a:latin typeface="JetBrains Mono"/>
              </a:rPr>
              <a:t>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57908" y="2387540"/>
            <a:ext cx="3454313" cy="80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1F232A"/>
                </a:solidFill>
                <a:latin typeface="Inter"/>
              </a:rPr>
              <a:t>Mandatory compliance applies only to systems within the digital boundary of the designated CII (CCoP 2.0 §1.2, RESPONSE-TO-FEEDBACK Q2.2-2.3). The boundary is jointly determined by CSA, the CIIO, and the Sector Lead — it is not the enterprise network perimeter.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57908" y="3289217"/>
            <a:ext cx="88897" cy="88897"/>
          </a:xfrm>
          <a:prstGeom prst="rect">
            <a:avLst/>
          </a:prstGeom>
          <a:solidFill>
            <a:srgbClr val="B8722E"/>
          </a:solidFill>
          <a:ln w="762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205" y="3289217"/>
            <a:ext cx="88897" cy="88897"/>
          </a:xfrm>
          <a:prstGeom prst="rect">
            <a:avLst/>
          </a:prstGeom>
          <a:solidFill>
            <a:srgbClr val="B8722E"/>
          </a:solidFill>
          <a:ln w="762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86502" y="3289217"/>
            <a:ext cx="88897" cy="88897"/>
          </a:xfrm>
          <a:prstGeom prst="rect">
            <a:avLst/>
          </a:prstGeom>
          <a:solidFill>
            <a:srgbClr val="B8722E"/>
          </a:solidFill>
          <a:ln w="762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00799" y="3289217"/>
            <a:ext cx="88897" cy="88897"/>
          </a:xfrm>
          <a:prstGeom prst="rect">
            <a:avLst/>
          </a:prstGeom>
          <a:solidFill>
            <a:srgbClr val="B8722E"/>
          </a:solidFill>
          <a:ln w="762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15097" y="3289217"/>
            <a:ext cx="88897" cy="88897"/>
          </a:xfrm>
          <a:prstGeom prst="rect">
            <a:avLst/>
          </a:prstGeom>
          <a:noFill/>
          <a:ln w="762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67493" y="3314617"/>
            <a:ext cx="888977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B8722E"/>
                </a:solidFill>
                <a:latin typeface="JetBrains Mono"/>
              </a:rPr>
              <a:t>WITH SOURCES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64538" y="3314617"/>
            <a:ext cx="647683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50">
                <a:solidFill>
                  <a:srgbClr val="B8722E"/>
                </a:solidFill>
                <a:latin typeface="JetBrains Mono"/>
              </a:rPr>
              <a:t>JUDGE  0.33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8786" y="3733706"/>
            <a:ext cx="507987" cy="317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9BA3AC"/>
                </a:solidFill>
                <a:latin typeface="Aptos Display"/>
              </a:rPr>
              <a:t>02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93770" y="3606709"/>
            <a:ext cx="2412939" cy="1384265"/>
          </a:xfrm>
          <a:prstGeom prst="rect">
            <a:avLst/>
          </a:prstGeom>
          <a:solidFill>
            <a:srgbClr val="FBFAF6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08067" y="3708307"/>
            <a:ext cx="2184345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9BA3AC"/>
                </a:solidFill>
                <a:latin typeface="JetBrains Mono"/>
              </a:rPr>
              <a:t>B21 · HALLUCINATION OVER-SPECIFICATION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08067" y="3860703"/>
            <a:ext cx="2184345" cy="1028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1F232A"/>
                </a:solidFill>
                <a:latin typeface="Inter"/>
              </a:rPr>
              <a:t>Under CCoP 2.0, what specific timeline does §5.3.1(c) require for revoking privileged access on personnel transfer?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33706" y="3606709"/>
            <a:ext cx="3682907" cy="1384265"/>
          </a:xfrm>
          <a:prstGeom prst="rect">
            <a:avLst/>
          </a:prstGeom>
          <a:solidFill>
            <a:srgbClr val="FBFAF6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8003" y="3708307"/>
            <a:ext cx="3454313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9BA3AC"/>
                </a:solidFill>
                <a:latin typeface="JetBrains Mono"/>
              </a:rPr>
              <a:t>RESPONSE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8003" y="3860703"/>
            <a:ext cx="3454313" cy="80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1F232A"/>
                </a:solidFill>
                <a:latin typeface="Inter"/>
              </a:rPr>
              <a:t>CCoP 2.0 §5.3.1(c) requires revocation within 24 hours and a documented audit-log entry within 48 hours of transfer.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8003" y="4762380"/>
            <a:ext cx="88897" cy="88897"/>
          </a:xfrm>
          <a:prstGeom prst="rect">
            <a:avLst/>
          </a:prstGeom>
          <a:solidFill>
            <a:srgbClr val="DCDCD8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962300" y="4762380"/>
            <a:ext cx="88897" cy="88897"/>
          </a:xfrm>
          <a:prstGeom prst="rect">
            <a:avLst/>
          </a:prstGeom>
          <a:noFill/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076598" y="4762380"/>
            <a:ext cx="88897" cy="88897"/>
          </a:xfrm>
          <a:prstGeom prst="rect">
            <a:avLst/>
          </a:prstGeom>
          <a:noFill/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90895" y="4762380"/>
            <a:ext cx="88897" cy="88897"/>
          </a:xfrm>
          <a:prstGeom prst="rect">
            <a:avLst/>
          </a:prstGeom>
          <a:noFill/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05192" y="4762380"/>
            <a:ext cx="88897" cy="88897"/>
          </a:xfrm>
          <a:prstGeom prst="rect">
            <a:avLst/>
          </a:prstGeom>
          <a:noFill/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54633" y="4787780"/>
            <a:ext cx="647683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50">
                <a:solidFill>
                  <a:srgbClr val="6C7680"/>
                </a:solidFill>
                <a:latin typeface="JetBrains Mono"/>
              </a:rPr>
              <a:t>JUDGE  0.17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43611" y="3606709"/>
            <a:ext cx="3682907" cy="1384265"/>
          </a:xfrm>
          <a:prstGeom prst="rect">
            <a:avLst/>
          </a:prstGeom>
          <a:solidFill>
            <a:srgbClr val="FBFAF6"/>
          </a:solidFill>
          <a:ln w="1905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57908" y="3708307"/>
            <a:ext cx="3454313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B8722E"/>
                </a:solidFill>
                <a:latin typeface="JetBrains Mono"/>
              </a:rPr>
              <a:t>RESPONSE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57908" y="3860703"/>
            <a:ext cx="3454313" cy="80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1F232A"/>
                </a:solidFill>
                <a:latin typeface="Inter"/>
              </a:rPr>
              <a:t>§5.3.1(c) does not exist in the corpus. CCoP 2.0 §5.3.1 has sub-letters (a) and (b); it requires periodic review of privileged-access rights without specifying a transfer-revocation timeline.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57908" y="4762380"/>
            <a:ext cx="88897" cy="88897"/>
          </a:xfrm>
          <a:prstGeom prst="rect">
            <a:avLst/>
          </a:prstGeom>
          <a:solidFill>
            <a:srgbClr val="B8722E"/>
          </a:solidFill>
          <a:ln w="762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72205" y="4762380"/>
            <a:ext cx="88897" cy="88897"/>
          </a:xfrm>
          <a:prstGeom prst="rect">
            <a:avLst/>
          </a:prstGeom>
          <a:solidFill>
            <a:srgbClr val="B8722E"/>
          </a:solidFill>
          <a:ln w="762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886502" y="4762380"/>
            <a:ext cx="88897" cy="88897"/>
          </a:xfrm>
          <a:prstGeom prst="rect">
            <a:avLst/>
          </a:prstGeom>
          <a:solidFill>
            <a:srgbClr val="B8722E"/>
          </a:solidFill>
          <a:ln w="762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000799" y="4762380"/>
            <a:ext cx="88897" cy="88897"/>
          </a:xfrm>
          <a:prstGeom prst="rect">
            <a:avLst/>
          </a:prstGeom>
          <a:solidFill>
            <a:srgbClr val="B8722E"/>
          </a:solidFill>
          <a:ln w="762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115097" y="4762380"/>
            <a:ext cx="88897" cy="88897"/>
          </a:xfrm>
          <a:prstGeom prst="rect">
            <a:avLst/>
          </a:prstGeom>
          <a:solidFill>
            <a:srgbClr val="B8722E"/>
          </a:solidFill>
          <a:ln w="762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67493" y="4787780"/>
            <a:ext cx="888977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B8722E"/>
                </a:solidFill>
                <a:latin typeface="JetBrains Mono"/>
              </a:rPr>
              <a:t>WITH SOURCES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64538" y="4787780"/>
            <a:ext cx="647683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50">
                <a:solidFill>
                  <a:srgbClr val="B8722E"/>
                </a:solidFill>
                <a:latin typeface="JetBrains Mono"/>
              </a:rPr>
              <a:t>JUDGE  0.61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8786" y="5206869"/>
            <a:ext cx="507987" cy="317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9BA3AC"/>
                </a:solidFill>
                <a:latin typeface="Aptos Display"/>
              </a:rPr>
              <a:t>03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93770" y="5079873"/>
            <a:ext cx="2412939" cy="1384265"/>
          </a:xfrm>
          <a:prstGeom prst="rect">
            <a:avLst/>
          </a:prstGeom>
          <a:solidFill>
            <a:srgbClr val="FBFAF6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308067" y="5181470"/>
            <a:ext cx="2184345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9BA3AC"/>
                </a:solidFill>
                <a:latin typeface="JetBrains Mono"/>
              </a:rPr>
              <a:t>B03 · CONDITIONAL COMPLIANCE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08067" y="5333866"/>
            <a:ext cx="2184345" cy="1028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1F232A"/>
                </a:solidFill>
                <a:latin typeface="Inter"/>
              </a:rPr>
              <a:t>If a CIIO has a legacy OT system that cannot support MFA, must the system be replaced to comply with CCoP 2.0 access-control requirements?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733706" y="5079873"/>
            <a:ext cx="3682907" cy="1384265"/>
          </a:xfrm>
          <a:prstGeom prst="rect">
            <a:avLst/>
          </a:prstGeom>
          <a:solidFill>
            <a:srgbClr val="FBFAF6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848003" y="5181470"/>
            <a:ext cx="3454313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9BA3AC"/>
                </a:solidFill>
                <a:latin typeface="JetBrains Mono"/>
              </a:rPr>
              <a:t>RESPONSE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48003" y="5333866"/>
            <a:ext cx="3454313" cy="80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1F232A"/>
                </a:solidFill>
                <a:latin typeface="Inter"/>
              </a:rPr>
              <a:t>If the conditional logic in CCoP 2.0 §5.x is followed, replacement is generally required when MFA cannot be implemented on legacy systems.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8003" y="6235544"/>
            <a:ext cx="88897" cy="88897"/>
          </a:xfrm>
          <a:prstGeom prst="rect">
            <a:avLst/>
          </a:prstGeom>
          <a:solidFill>
            <a:srgbClr val="DCDCD8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962300" y="6235544"/>
            <a:ext cx="88897" cy="88897"/>
          </a:xfrm>
          <a:prstGeom prst="rect">
            <a:avLst/>
          </a:prstGeom>
          <a:solidFill>
            <a:srgbClr val="DCDCD8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076598" y="6235544"/>
            <a:ext cx="88897" cy="88897"/>
          </a:xfrm>
          <a:prstGeom prst="rect">
            <a:avLst/>
          </a:prstGeom>
          <a:solidFill>
            <a:srgbClr val="DCDCD8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190895" y="6235544"/>
            <a:ext cx="88897" cy="88897"/>
          </a:xfrm>
          <a:prstGeom prst="rect">
            <a:avLst/>
          </a:prstGeom>
          <a:noFill/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305192" y="6235544"/>
            <a:ext cx="88897" cy="88897"/>
          </a:xfrm>
          <a:prstGeom prst="rect">
            <a:avLst/>
          </a:prstGeom>
          <a:noFill/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54633" y="6260943"/>
            <a:ext cx="647683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50">
                <a:solidFill>
                  <a:srgbClr val="6C7680"/>
                </a:solidFill>
                <a:latin typeface="JetBrains Mono"/>
              </a:rPr>
              <a:t>JUDGE  0.44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43611" y="5079873"/>
            <a:ext cx="3682907" cy="1384265"/>
          </a:xfrm>
          <a:prstGeom prst="rect">
            <a:avLst/>
          </a:prstGeom>
          <a:solidFill>
            <a:srgbClr val="FBFAF6"/>
          </a:solidFill>
          <a:ln w="1905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657908" y="5181470"/>
            <a:ext cx="3454313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B8722E"/>
                </a:solidFill>
                <a:latin typeface="JetBrains Mono"/>
              </a:rPr>
              <a:t>RESPONSE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57908" y="5333866"/>
            <a:ext cx="3454313" cy="80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1F232A"/>
                </a:solidFill>
                <a:latin typeface="Inter"/>
              </a:rPr>
              <a:t>Retrieved context referenced the wrong clause and the model defaulted to a generic answer. The CCoP waiver mechanism (§11) for compensating controls was not surfaced by retrieval — known retrieval failure mode.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57908" y="6235544"/>
            <a:ext cx="88897" cy="88897"/>
          </a:xfrm>
          <a:prstGeom prst="rect">
            <a:avLst/>
          </a:prstGeom>
          <a:solidFill>
            <a:srgbClr val="B8722E"/>
          </a:solidFill>
          <a:ln w="762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772205" y="6235544"/>
            <a:ext cx="88897" cy="88897"/>
          </a:xfrm>
          <a:prstGeom prst="rect">
            <a:avLst/>
          </a:prstGeom>
          <a:solidFill>
            <a:srgbClr val="B8722E"/>
          </a:solidFill>
          <a:ln w="762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886502" y="6235544"/>
            <a:ext cx="88897" cy="88897"/>
          </a:xfrm>
          <a:prstGeom prst="rect">
            <a:avLst/>
          </a:prstGeom>
          <a:noFill/>
          <a:ln w="762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000799" y="6235544"/>
            <a:ext cx="88897" cy="88897"/>
          </a:xfrm>
          <a:prstGeom prst="rect">
            <a:avLst/>
          </a:prstGeom>
          <a:noFill/>
          <a:ln w="762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115097" y="6235544"/>
            <a:ext cx="88897" cy="88897"/>
          </a:xfrm>
          <a:prstGeom prst="rect">
            <a:avLst/>
          </a:prstGeom>
          <a:noFill/>
          <a:ln w="762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67493" y="6260943"/>
            <a:ext cx="888977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B8722E"/>
                </a:solidFill>
                <a:latin typeface="JetBrains Mono"/>
              </a:rPr>
              <a:t>WITH SOURCES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464538" y="6260943"/>
            <a:ext cx="647683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50">
                <a:solidFill>
                  <a:srgbClr val="B8722E"/>
                </a:solidFill>
                <a:latin typeface="JetBrains Mono"/>
              </a:rPr>
              <a:t>JUDGE  0.17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58786" y="6411752"/>
            <a:ext cx="11074123" cy="317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58786" y="6502237"/>
            <a:ext cx="380990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80">
                <a:solidFill>
                  <a:srgbClr val="6C7680"/>
                </a:solidFill>
                <a:latin typeface="JetBrains Mono"/>
              </a:rPr>
              <a:t>PROJECT DECK · VOL. 01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23004" y="6502237"/>
            <a:ext cx="380990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80">
                <a:solidFill>
                  <a:srgbClr val="6C7680"/>
                </a:solidFill>
                <a:latin typeface="JetBrains Mono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8786" y="228594"/>
            <a:ext cx="76198" cy="76198"/>
          </a:xfrm>
          <a:prstGeom prst="ellipse">
            <a:avLst/>
          </a:prstGeom>
          <a:solidFill>
            <a:srgbClr val="D892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782" y="177795"/>
            <a:ext cx="1523961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232A"/>
                </a:solidFill>
                <a:latin typeface="Aptos Display"/>
              </a:rPr>
              <a:t>Project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2939" y="203194"/>
            <a:ext cx="6857828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80">
                <a:solidFill>
                  <a:srgbClr val="B8722E"/>
                </a:solidFill>
                <a:latin typeface="JetBrains Mono"/>
              </a:rPr>
              <a:t>12</a:t>
            </a:r>
            <a:r>
              <a:rPr sz="1000" b="0" i="0" spc="180">
                <a:solidFill>
                  <a:srgbClr val="6C7680"/>
                </a:solidFill>
                <a:latin typeface="JetBrains Mono"/>
              </a:rPr>
              <a:t>  ·  OBSERVATIONS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4761" y="203194"/>
            <a:ext cx="210814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20">
                <a:solidFill>
                  <a:srgbClr val="6C7680"/>
                </a:solidFill>
                <a:latin typeface="JetBrains Mono"/>
              </a:rPr>
              <a:t>VOL. 01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58786" y="506399"/>
            <a:ext cx="11074123" cy="317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8786" y="895327"/>
            <a:ext cx="228594" cy="12699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578" y="838179"/>
            <a:ext cx="5079873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20">
                <a:solidFill>
                  <a:srgbClr val="B8722E"/>
                </a:solidFill>
                <a:latin typeface="JetBrains Mono"/>
              </a:rPr>
              <a:t>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786" y="1168370"/>
            <a:ext cx="10794730" cy="5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1F232A"/>
                </a:solidFill>
                <a:latin typeface="Aptos Display"/>
              </a:rPr>
              <a:t>What the data </a:t>
            </a:r>
            <a:r>
              <a:rPr sz="5800" b="0" i="1">
                <a:solidFill>
                  <a:srgbClr val="B8722E"/>
                </a:solidFill>
                <a:latin typeface="Aptos Display"/>
              </a:rPr>
              <a:t>actually says</a:t>
            </a:r>
            <a:r>
              <a:rPr sz="5800" b="1" i="0">
                <a:solidFill>
                  <a:srgbClr val="1F232A"/>
                </a:solidFill>
                <a:latin typeface="Aptos Display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8786" y="2031949"/>
            <a:ext cx="6222844" cy="3809904"/>
          </a:xfrm>
          <a:prstGeom prst="rect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56231" y="2031949"/>
            <a:ext cx="25399" cy="3809904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377" y="2387540"/>
            <a:ext cx="5511662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D89254"/>
                </a:solidFill>
                <a:latin typeface="JetBrains Mono"/>
              </a:rPr>
              <a:t>HEADLINE OBSERVATION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377" y="2603434"/>
            <a:ext cx="761980" cy="25399"/>
          </a:xfrm>
          <a:prstGeom prst="rect">
            <a:avLst/>
          </a:prstGeom>
          <a:solidFill>
            <a:srgbClr val="D892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377" y="2730431"/>
            <a:ext cx="5511662" cy="13969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BFAF6"/>
                </a:solidFill>
                <a:latin typeface="Aptos Display"/>
              </a:rPr>
              <a:t>The LLM Judge measures what RAGAs does not.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77" y="4254393"/>
            <a:ext cx="5511662" cy="13969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9C9A8"/>
                </a:solidFill>
                <a:latin typeface="Inter"/>
              </a:rPr>
              <a:t>RAGAs aggregates retrieval and surface-similarity proxies that score 0.6 – 0.85 on responses the LLM Judge scores 0.16 – 0.45. The 0.27-point gap is the difference between scoring response-shape correctness and response-substance correctness.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422" y="2031949"/>
            <a:ext cx="4546486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SUPPORTING</a:t>
            </a:r>
          </a:p>
        </p:txBody>
      </p:sp>
      <p:sp>
        <p:nvSpPr>
          <p:cNvPr id="18" name="Oval 17"/>
          <p:cNvSpPr/>
          <p:nvPr/>
        </p:nvSpPr>
        <p:spPr>
          <a:xfrm>
            <a:off x="7086422" y="2222444"/>
            <a:ext cx="279393" cy="279393"/>
          </a:xfrm>
          <a:prstGeom prst="ellipse">
            <a:avLst/>
          </a:prstGeom>
          <a:solidFill>
            <a:srgbClr val="F5F4F1"/>
          </a:solidFill>
          <a:ln w="1524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422" y="2298642"/>
            <a:ext cx="279393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180">
                <a:solidFill>
                  <a:srgbClr val="B8722E"/>
                </a:solidFill>
                <a:latin typeface="JetBrains Mono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7413" y="2209744"/>
            <a:ext cx="4165495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32A"/>
                </a:solidFill>
                <a:latin typeface="Aptos Display"/>
              </a:rPr>
              <a:t>RAG's contribution is conditional, not uniform.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7413" y="2400239"/>
            <a:ext cx="4165495" cy="63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C7680"/>
                </a:solidFill>
                <a:latin typeface="Inter"/>
              </a:rPr>
              <a:t>Strong gains on retrieval-sensitive benchmarks (B21 +0.44, B01 +0.17); approximately flat on benchmarks where the parametric model has the facts; degrades on B03/B04/B06/B22 cluster.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422" y="3059036"/>
            <a:ext cx="4546486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086422" y="3136821"/>
            <a:ext cx="279393" cy="279393"/>
          </a:xfrm>
          <a:prstGeom prst="ellipse">
            <a:avLst/>
          </a:prstGeom>
          <a:solidFill>
            <a:srgbClr val="F5F4F1"/>
          </a:solidFill>
          <a:ln w="1524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422" y="3213019"/>
            <a:ext cx="279393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180">
                <a:solidFill>
                  <a:srgbClr val="B8722E"/>
                </a:solidFill>
                <a:latin typeface="JetBrains Mono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7413" y="3124121"/>
            <a:ext cx="4165495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32A"/>
                </a:solidFill>
                <a:latin typeface="Aptos Display"/>
              </a:rPr>
              <a:t>D3/D6 decoupling exposes invisible failures.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7413" y="3314617"/>
            <a:ext cx="4165495" cy="63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C7680"/>
                </a:solidFill>
                <a:latin typeface="Inter"/>
              </a:rPr>
              <a:t>Splitting claim-level and citation-level grounding into separate dimensions makes a class of "correct IDs, wrong descriptions" failures legible that the original 5-dim rubric collapsed into noise.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422" y="3973413"/>
            <a:ext cx="4546486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086422" y="4051198"/>
            <a:ext cx="279393" cy="279393"/>
          </a:xfrm>
          <a:prstGeom prst="ellipse">
            <a:avLst/>
          </a:prstGeom>
          <a:solidFill>
            <a:srgbClr val="F5F4F1"/>
          </a:solidFill>
          <a:ln w="1524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422" y="4127396"/>
            <a:ext cx="279393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180">
                <a:solidFill>
                  <a:srgbClr val="B8722E"/>
                </a:solidFill>
                <a:latin typeface="JetBrains Mono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7413" y="4038499"/>
            <a:ext cx="4165495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32A"/>
                </a:solidFill>
                <a:latin typeface="Aptos Display"/>
              </a:rPr>
              <a:t>Auditor + verifier pair is the floor.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7413" y="4228994"/>
            <a:ext cx="4165495" cy="63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C7680"/>
                </a:solidFill>
                <a:latin typeface="Inter"/>
              </a:rPr>
              <a:t>Single-pass review missed clause-fabrication defects in B05/B06 because the auditor's interpretation drifted with the test case's drafting error. Independent verification catches 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422" y="4887790"/>
            <a:ext cx="4546486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86422" y="4965575"/>
            <a:ext cx="279393" cy="279393"/>
          </a:xfrm>
          <a:prstGeom prst="ellipse">
            <a:avLst/>
          </a:prstGeom>
          <a:solidFill>
            <a:srgbClr val="F5F4F1"/>
          </a:solidFill>
          <a:ln w="1524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86422" y="5041773"/>
            <a:ext cx="279393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180">
                <a:solidFill>
                  <a:srgbClr val="B8722E"/>
                </a:solidFill>
                <a:latin typeface="JetBrains Mono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7413" y="4952876"/>
            <a:ext cx="4165495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32A"/>
                </a:solidFill>
                <a:latin typeface="Aptos Display"/>
              </a:rPr>
              <a:t>Cross-encoder demotion is a real failure mode.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7413" y="5143371"/>
            <a:ext cx="4165495" cy="63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C7680"/>
                </a:solidFill>
                <a:latin typeface="Inter"/>
              </a:rPr>
              <a:t>On short, acronym-heavy queries the cross-encoder occasionally demotes correct clauses (B03 §5.3.1: dense rank 7 → CE rank 12). HyDE rewriting partially compensates but does not fully resolve it.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86422" y="5802167"/>
            <a:ext cx="4546486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8786" y="6411752"/>
            <a:ext cx="11074123" cy="317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8786" y="6502237"/>
            <a:ext cx="380990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80">
                <a:solidFill>
                  <a:srgbClr val="6C7680"/>
                </a:solidFill>
                <a:latin typeface="JetBrains Mono"/>
              </a:rPr>
              <a:t>PROJECT DECK · VOL. 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23004" y="6502237"/>
            <a:ext cx="380990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80">
                <a:solidFill>
                  <a:srgbClr val="6C7680"/>
                </a:solidFill>
                <a:latin typeface="JetBrains Mono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8786" y="228594"/>
            <a:ext cx="76198" cy="76198"/>
          </a:xfrm>
          <a:prstGeom prst="ellipse">
            <a:avLst/>
          </a:prstGeom>
          <a:solidFill>
            <a:srgbClr val="D892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782" y="177795"/>
            <a:ext cx="1523961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232A"/>
                </a:solidFill>
                <a:latin typeface="Aptos Display"/>
              </a:rPr>
              <a:t>Project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2939" y="203194"/>
            <a:ext cx="6857828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80">
                <a:solidFill>
                  <a:srgbClr val="B8722E"/>
                </a:solidFill>
                <a:latin typeface="JetBrains Mono"/>
              </a:rPr>
              <a:t>13</a:t>
            </a:r>
            <a:r>
              <a:rPr sz="1000" b="0" i="0" spc="180">
                <a:solidFill>
                  <a:srgbClr val="6C7680"/>
                </a:solidFill>
                <a:latin typeface="JetBrains Mono"/>
              </a:rPr>
              <a:t>  · 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4761" y="203194"/>
            <a:ext cx="210814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20">
                <a:solidFill>
                  <a:srgbClr val="6C7680"/>
                </a:solidFill>
                <a:latin typeface="JetBrains Mono"/>
              </a:rPr>
              <a:t>VOL. 01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58786" y="506399"/>
            <a:ext cx="11074123" cy="317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8786" y="895327"/>
            <a:ext cx="228594" cy="12699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578" y="838179"/>
            <a:ext cx="5079873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20">
                <a:solidFill>
                  <a:srgbClr val="B8722E"/>
                </a:solidFill>
                <a:latin typeface="JetBrains Mono"/>
              </a:rP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786" y="1168370"/>
            <a:ext cx="10794730" cy="5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1F232A"/>
                </a:solidFill>
                <a:latin typeface="Aptos Display"/>
              </a:rPr>
              <a:t>What we do </a:t>
            </a:r>
            <a:r>
              <a:rPr sz="5800" b="0" i="1">
                <a:solidFill>
                  <a:srgbClr val="B8722E"/>
                </a:solidFill>
                <a:latin typeface="Aptos Display"/>
              </a:rPr>
              <a:t>next</a:t>
            </a:r>
            <a:r>
              <a:rPr sz="5800" b="1" i="0">
                <a:solidFill>
                  <a:srgbClr val="1F232A"/>
                </a:solidFill>
                <a:latin typeface="Aptos Display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" y="2031949"/>
            <a:ext cx="6222844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SEQUENCE</a:t>
            </a:r>
          </a:p>
        </p:txBody>
      </p:sp>
      <p:sp>
        <p:nvSpPr>
          <p:cNvPr id="12" name="Oval 11"/>
          <p:cNvSpPr/>
          <p:nvPr/>
        </p:nvSpPr>
        <p:spPr>
          <a:xfrm>
            <a:off x="749281" y="2285942"/>
            <a:ext cx="279393" cy="279393"/>
          </a:xfrm>
          <a:prstGeom prst="ellipse">
            <a:avLst/>
          </a:prstGeom>
          <a:solidFill>
            <a:srgbClr val="FBFAF6"/>
          </a:solidFill>
          <a:ln w="1524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281" y="2362140"/>
            <a:ext cx="279393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180">
                <a:solidFill>
                  <a:srgbClr val="B8722E"/>
                </a:solidFill>
                <a:latin typeface="JetBrains Mono"/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5802" y="2565335"/>
            <a:ext cx="6349" cy="546086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5671" y="2260543"/>
            <a:ext cx="5664058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9BA3AC"/>
                </a:solidFill>
                <a:latin typeface="JetBrains Mono"/>
              </a:rPr>
              <a:t>HORIZON · NEAR-TERM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5671" y="2400239"/>
            <a:ext cx="5664058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32A"/>
                </a:solidFill>
                <a:latin typeface="Aptos Display"/>
              </a:rPr>
              <a:t>Close the ground-truth 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5671" y="2616134"/>
            <a:ext cx="5664058" cy="444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C7680"/>
                </a:solidFill>
                <a:latin typeface="Inter"/>
              </a:rPr>
              <a:t>Auditor + verifier pair completes pass over 435 cases; corrections applied; §13.4 re-run.</a:t>
            </a:r>
          </a:p>
        </p:txBody>
      </p:sp>
      <p:sp>
        <p:nvSpPr>
          <p:cNvPr id="18" name="Oval 17"/>
          <p:cNvSpPr/>
          <p:nvPr/>
        </p:nvSpPr>
        <p:spPr>
          <a:xfrm>
            <a:off x="749281" y="3111422"/>
            <a:ext cx="279393" cy="279393"/>
          </a:xfrm>
          <a:prstGeom prst="ellipse">
            <a:avLst/>
          </a:prstGeom>
          <a:solidFill>
            <a:srgbClr val="FBFAF6"/>
          </a:solidFill>
          <a:ln w="762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281" y="3187620"/>
            <a:ext cx="279393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180">
                <a:solidFill>
                  <a:srgbClr val="6C7680"/>
                </a:solidFill>
                <a:latin typeface="JetBrains Mono"/>
              </a:rPr>
              <a:t>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5802" y="3390815"/>
            <a:ext cx="6349" cy="546086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55671" y="3086022"/>
            <a:ext cx="5664058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9BA3AC"/>
                </a:solidFill>
                <a:latin typeface="JetBrains Mono"/>
              </a:rPr>
              <a:t>HORIZON · NEAR-TERM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671" y="3225719"/>
            <a:ext cx="5664058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32A"/>
                </a:solidFill>
                <a:latin typeface="Aptos Display"/>
              </a:rPr>
              <a:t>Run human-expert κ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671" y="3441613"/>
            <a:ext cx="5664058" cy="444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C7680"/>
                </a:solidFill>
                <a:latin typeface="Inter"/>
              </a:rPr>
              <a:t>Cohen's κ on the 18-case stratified sample, per dimension, vs primary and secondary judges.</a:t>
            </a:r>
          </a:p>
        </p:txBody>
      </p:sp>
      <p:sp>
        <p:nvSpPr>
          <p:cNvPr id="24" name="Oval 23"/>
          <p:cNvSpPr/>
          <p:nvPr/>
        </p:nvSpPr>
        <p:spPr>
          <a:xfrm>
            <a:off x="749281" y="3936901"/>
            <a:ext cx="279393" cy="279393"/>
          </a:xfrm>
          <a:prstGeom prst="ellipse">
            <a:avLst/>
          </a:prstGeom>
          <a:solidFill>
            <a:srgbClr val="FBFAF6"/>
          </a:solidFill>
          <a:ln w="762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281" y="4013099"/>
            <a:ext cx="279393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180">
                <a:solidFill>
                  <a:srgbClr val="6C7680"/>
                </a:solidFill>
                <a:latin typeface="JetBrains Mono"/>
              </a:rPr>
              <a:t>03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5802" y="4216294"/>
            <a:ext cx="6349" cy="546086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55671" y="3911502"/>
            <a:ext cx="5664058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9BA3AC"/>
                </a:solidFill>
                <a:latin typeface="JetBrains Mono"/>
              </a:rPr>
              <a:t>HORIZON · MID-TERM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5671" y="4051198"/>
            <a:ext cx="5664058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32A"/>
                </a:solidFill>
                <a:latin typeface="Aptos Display"/>
              </a:rPr>
              <a:t>Fine-tune Llama-Primus on CCoP 2.0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5671" y="4267093"/>
            <a:ext cx="5664058" cy="444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C7680"/>
                </a:solidFill>
                <a:latin typeface="Inter"/>
              </a:rPr>
              <a:t>QLoRA on the corpus; re-evaluate on the same sample to isolate fine-tune delta from RAG delta.</a:t>
            </a:r>
          </a:p>
        </p:txBody>
      </p:sp>
      <p:sp>
        <p:nvSpPr>
          <p:cNvPr id="30" name="Oval 29"/>
          <p:cNvSpPr/>
          <p:nvPr/>
        </p:nvSpPr>
        <p:spPr>
          <a:xfrm>
            <a:off x="749281" y="4762380"/>
            <a:ext cx="279393" cy="279393"/>
          </a:xfrm>
          <a:prstGeom prst="ellipse">
            <a:avLst/>
          </a:prstGeom>
          <a:solidFill>
            <a:srgbClr val="FBFAF6"/>
          </a:solidFill>
          <a:ln w="762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281" y="4838579"/>
            <a:ext cx="279393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180">
                <a:solidFill>
                  <a:srgbClr val="6C7680"/>
                </a:solidFill>
                <a:latin typeface="JetBrains Mono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5671" y="4736981"/>
            <a:ext cx="5664058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9BA3AC"/>
                </a:solidFill>
                <a:latin typeface="JetBrains Mono"/>
              </a:rPr>
              <a:t>HORIZON · LONG-TERM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5671" y="4876678"/>
            <a:ext cx="5664058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32A"/>
                </a:solidFill>
                <a:latin typeface="Aptos Display"/>
              </a:rPr>
              <a:t>Expand corpus + lift threshold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5671" y="5092572"/>
            <a:ext cx="5664058" cy="444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C7680"/>
                </a:solidFill>
                <a:latin typeface="Inter"/>
              </a:rPr>
              <a:t>Add B11/B15-B17/B19/B20; transition baseline → fine-tuned (50%) → deployment (85%) phases.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40416" y="2031949"/>
            <a:ext cx="4292492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PRIORITY MATRIX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78675" y="2209744"/>
            <a:ext cx="1015974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220">
                <a:solidFill>
                  <a:srgbClr val="9BA3AC"/>
                </a:solidFill>
                <a:latin typeface="JetBrains Mono"/>
              </a:rPr>
              <a:t>IMPACT  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40416" y="2412939"/>
            <a:ext cx="4292492" cy="3809904"/>
          </a:xfrm>
          <a:prstGeom prst="rect">
            <a:avLst/>
          </a:prstGeom>
          <a:solidFill>
            <a:srgbClr val="FBFAF6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40416" y="4316304"/>
            <a:ext cx="4292492" cy="317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85075" y="2412939"/>
            <a:ext cx="3174" cy="380990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16614" y="2489137"/>
            <a:ext cx="888977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9BA3AC"/>
                </a:solidFill>
                <a:latin typeface="JetBrains Mono"/>
              </a:rPr>
              <a:t>QUICK WINS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43931" y="2489137"/>
            <a:ext cx="888977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B8722E"/>
                </a:solidFill>
                <a:latin typeface="JetBrains Mono"/>
              </a:rPr>
              <a:t>BIG BETS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16614" y="6019649"/>
            <a:ext cx="888977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9BA3AC"/>
                </a:solidFill>
                <a:latin typeface="JetBrains Mono"/>
              </a:rPr>
              <a:t>FILL-INS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3931" y="6019649"/>
            <a:ext cx="888977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9BA3AC"/>
                </a:solidFill>
                <a:latin typeface="JetBrains Mono"/>
              </a:rPr>
              <a:t>RECONSIDER</a:t>
            </a:r>
          </a:p>
        </p:txBody>
      </p:sp>
      <p:sp>
        <p:nvSpPr>
          <p:cNvPr id="44" name="Oval 43"/>
          <p:cNvSpPr/>
          <p:nvPr/>
        </p:nvSpPr>
        <p:spPr>
          <a:xfrm>
            <a:off x="8208566" y="3403514"/>
            <a:ext cx="152396" cy="152396"/>
          </a:xfrm>
          <a:prstGeom prst="ellipse">
            <a:avLst/>
          </a:prstGeom>
          <a:solidFill>
            <a:srgbClr val="DCDCD8"/>
          </a:solidFill>
          <a:ln w="6350">
            <a:solidFill>
              <a:srgbClr val="6C76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40275" y="3581310"/>
            <a:ext cx="888977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150">
                <a:solidFill>
                  <a:srgbClr val="6C7680"/>
                </a:solidFill>
                <a:latin typeface="JetBrains Mono"/>
              </a:rPr>
              <a:t>GT audit</a:t>
            </a:r>
          </a:p>
        </p:txBody>
      </p:sp>
      <p:sp>
        <p:nvSpPr>
          <p:cNvPr id="46" name="Oval 45"/>
          <p:cNvSpPr/>
          <p:nvPr/>
        </p:nvSpPr>
        <p:spPr>
          <a:xfrm>
            <a:off x="10230864" y="3136821"/>
            <a:ext cx="228594" cy="228594"/>
          </a:xfrm>
          <a:prstGeom prst="ellipse">
            <a:avLst/>
          </a:prstGeom>
          <a:solidFill>
            <a:srgbClr val="E9C9A8"/>
          </a:solidFill>
          <a:ln w="1905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00672" y="3390815"/>
            <a:ext cx="888977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150">
                <a:solidFill>
                  <a:srgbClr val="B8722E"/>
                </a:solidFill>
                <a:latin typeface="JetBrains Mono"/>
              </a:rPr>
              <a:t>Fine-tune</a:t>
            </a:r>
          </a:p>
        </p:txBody>
      </p:sp>
      <p:sp>
        <p:nvSpPr>
          <p:cNvPr id="48" name="Oval 47"/>
          <p:cNvSpPr/>
          <p:nvPr/>
        </p:nvSpPr>
        <p:spPr>
          <a:xfrm>
            <a:off x="8908065" y="4787780"/>
            <a:ext cx="126996" cy="126996"/>
          </a:xfrm>
          <a:prstGeom prst="ellipse">
            <a:avLst/>
          </a:prstGeom>
          <a:solidFill>
            <a:srgbClr val="DCDCD8"/>
          </a:solidFill>
          <a:ln w="6350">
            <a:solidFill>
              <a:srgbClr val="6C76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27074" y="4940176"/>
            <a:ext cx="888977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150">
                <a:solidFill>
                  <a:srgbClr val="6C7680"/>
                </a:solidFill>
                <a:latin typeface="JetBrains Mono"/>
              </a:rPr>
              <a:t>κ pass</a:t>
            </a:r>
          </a:p>
        </p:txBody>
      </p:sp>
      <p:sp>
        <p:nvSpPr>
          <p:cNvPr id="50" name="Oval 49"/>
          <p:cNvSpPr/>
          <p:nvPr/>
        </p:nvSpPr>
        <p:spPr>
          <a:xfrm>
            <a:off x="10685512" y="4990975"/>
            <a:ext cx="177795" cy="177795"/>
          </a:xfrm>
          <a:prstGeom prst="ellipse">
            <a:avLst/>
          </a:prstGeom>
          <a:solidFill>
            <a:srgbClr val="DCDCD8"/>
          </a:solidFill>
          <a:ln w="6350">
            <a:solidFill>
              <a:srgbClr val="6C76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329921" y="5194170"/>
            <a:ext cx="888977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150">
                <a:solidFill>
                  <a:srgbClr val="6C7680"/>
                </a:solidFill>
                <a:latin typeface="JetBrains Mono"/>
              </a:rPr>
              <a:t>Corpus expand</a:t>
            </a:r>
          </a:p>
        </p:txBody>
      </p:sp>
      <p:sp>
        <p:nvSpPr>
          <p:cNvPr id="52" name="Oval 51"/>
          <p:cNvSpPr/>
          <p:nvPr/>
        </p:nvSpPr>
        <p:spPr>
          <a:xfrm>
            <a:off x="9680713" y="4025799"/>
            <a:ext cx="126996" cy="126996"/>
          </a:xfrm>
          <a:prstGeom prst="ellipse">
            <a:avLst/>
          </a:prstGeom>
          <a:solidFill>
            <a:srgbClr val="DCDCD8"/>
          </a:solidFill>
          <a:ln w="6350">
            <a:solidFill>
              <a:srgbClr val="6C76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99723" y="4178195"/>
            <a:ext cx="888977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150">
                <a:solidFill>
                  <a:srgbClr val="6C7680"/>
                </a:solidFill>
                <a:latin typeface="JetBrains Mono"/>
              </a:rPr>
              <a:t>Retrieval fix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70928" y="6286342"/>
            <a:ext cx="761980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20">
                <a:solidFill>
                  <a:srgbClr val="9BA3AC"/>
                </a:solidFill>
                <a:latin typeface="JetBrains Mono"/>
              </a:rPr>
              <a:t>EFFORT  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8786" y="6411752"/>
            <a:ext cx="11074123" cy="317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8786" y="6502237"/>
            <a:ext cx="380990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80">
                <a:solidFill>
                  <a:srgbClr val="6C7680"/>
                </a:solidFill>
                <a:latin typeface="JetBrains Mono"/>
              </a:rPr>
              <a:t>PROJECT DECK · VOL. 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23004" y="6502237"/>
            <a:ext cx="380990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80">
                <a:solidFill>
                  <a:srgbClr val="6C7680"/>
                </a:solidFill>
                <a:latin typeface="JetBrains Mono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8786" y="228594"/>
            <a:ext cx="76198" cy="76198"/>
          </a:xfrm>
          <a:prstGeom prst="ellipse">
            <a:avLst/>
          </a:prstGeom>
          <a:solidFill>
            <a:srgbClr val="D892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782" y="177795"/>
            <a:ext cx="1523961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232A"/>
                </a:solidFill>
                <a:latin typeface="Aptos Display"/>
              </a:rPr>
              <a:t>Project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2939" y="203194"/>
            <a:ext cx="6857828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80">
                <a:solidFill>
                  <a:srgbClr val="B8722E"/>
                </a:solidFill>
                <a:latin typeface="JetBrains Mono"/>
              </a:rPr>
              <a:t>14</a:t>
            </a:r>
            <a:r>
              <a:rPr sz="1000" b="0" i="0" spc="180">
                <a:solidFill>
                  <a:srgbClr val="6C7680"/>
                </a:solidFill>
                <a:latin typeface="JetBrains Mono"/>
              </a:rPr>
              <a:t>  · 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4761" y="203194"/>
            <a:ext cx="210814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20">
                <a:solidFill>
                  <a:srgbClr val="6C7680"/>
                </a:solidFill>
                <a:latin typeface="JetBrains Mono"/>
              </a:rPr>
              <a:t>VOL. 01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58786" y="506399"/>
            <a:ext cx="11074123" cy="317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27796" y="1396965"/>
            <a:ext cx="2920926" cy="2920926"/>
          </a:xfrm>
          <a:prstGeom prst="ellipse">
            <a:avLst/>
          </a:prstGeom>
          <a:noFill/>
          <a:ln w="6350">
            <a:solidFill>
              <a:srgbClr val="CCCF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8787" y="1777955"/>
            <a:ext cx="2158946" cy="2158946"/>
          </a:xfrm>
          <a:prstGeom prst="ellipse">
            <a:avLst/>
          </a:prstGeom>
          <a:noFill/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89777" y="2158946"/>
            <a:ext cx="1396965" cy="1396965"/>
          </a:xfrm>
          <a:prstGeom prst="ellipse">
            <a:avLst/>
          </a:prstGeom>
          <a:noFill/>
          <a:ln w="6350">
            <a:solidFill>
              <a:srgbClr val="E9C9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32669" y="2501837"/>
            <a:ext cx="711182" cy="711182"/>
          </a:xfrm>
          <a:prstGeom prst="ellipse">
            <a:avLst/>
          </a:prstGeom>
          <a:noFill/>
          <a:ln w="12700">
            <a:solidFill>
              <a:srgbClr val="B87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56511" y="2825679"/>
            <a:ext cx="63498" cy="63498"/>
          </a:xfrm>
          <a:prstGeom prst="ellipse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8786" y="895327"/>
            <a:ext cx="228594" cy="12699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3578" y="838179"/>
            <a:ext cx="5079873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20">
                <a:solidFill>
                  <a:srgbClr val="B8722E"/>
                </a:solidFill>
                <a:latin typeface="JetBrains Mono"/>
              </a:rPr>
              <a:t>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786" y="1168370"/>
            <a:ext cx="6984825" cy="5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1F232A"/>
                </a:solidFill>
                <a:latin typeface="Aptos Display"/>
              </a:rPr>
              <a:t>The </a:t>
            </a:r>
            <a:r>
              <a:rPr sz="5800" b="0" i="1">
                <a:solidFill>
                  <a:srgbClr val="B8722E"/>
                </a:solidFill>
                <a:latin typeface="Aptos Display"/>
              </a:rPr>
              <a:t>one thing</a:t>
            </a:r>
            <a:r>
              <a:rPr sz="5800" b="1" i="0">
                <a:solidFill>
                  <a:srgbClr val="1F232A"/>
                </a:solidFill>
                <a:latin typeface="Aptos Display"/>
              </a:rPr>
              <a:t> we want you to remember.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8786" y="2285942"/>
            <a:ext cx="6222844" cy="3047923"/>
          </a:xfrm>
          <a:prstGeom prst="rect">
            <a:avLst/>
          </a:prstGeom>
          <a:solidFill>
            <a:srgbClr val="FBFAF6"/>
          </a:solidFill>
          <a:ln w="6350">
            <a:solidFill>
              <a:srgbClr val="B8BC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8786" y="2285942"/>
            <a:ext cx="25399" cy="3047923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377" y="2539936"/>
            <a:ext cx="5511662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CLOSING STATEMENT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377" y="2793930"/>
            <a:ext cx="5511662" cy="126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b="1" i="0">
                <a:solidFill>
                  <a:srgbClr val="1F232A"/>
                </a:solidFill>
                <a:latin typeface="Aptos Display"/>
              </a:rPr>
              <a:t>Substance over similarity.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377" y="4063898"/>
            <a:ext cx="1269968" cy="12699"/>
          </a:xfrm>
          <a:prstGeom prst="rect">
            <a:avLst/>
          </a:prstGeom>
          <a:solidFill>
            <a:srgbClr val="B87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377" y="4190895"/>
            <a:ext cx="5511662" cy="10159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6C7680"/>
                </a:solidFill>
                <a:latin typeface="Inter"/>
              </a:rPr>
              <a:t>Compliance reasoning fails in ways semantic similarity cannot see. The 6-dimension judge — paired with deterministic citation verification — measures what we actually need to trust the model on regulatory questions.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8020" y="2285942"/>
            <a:ext cx="4444888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WHERE TO NEXT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8020" y="2514537"/>
            <a:ext cx="355591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20">
                <a:solidFill>
                  <a:srgbClr val="B8722E"/>
                </a:solidFill>
                <a:latin typeface="JetBrains Mono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4410" y="2489137"/>
            <a:ext cx="3682907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232A"/>
                </a:solidFill>
                <a:latin typeface="Aptos Display"/>
              </a:rPr>
              <a:t>Read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94410" y="2679633"/>
            <a:ext cx="3682907" cy="317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C7680"/>
                </a:solidFill>
                <a:latin typeface="Inter"/>
              </a:rPr>
              <a:t>Term 2 Final Report — 17 sections covering GT, retrieval, judge, ablations.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80512" y="2552636"/>
            <a:ext cx="152396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 i="0">
                <a:solidFill>
                  <a:srgbClr val="B8722E"/>
                </a:solidFill>
                <a:latin typeface="JetBrains Mono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88020" y="3046336"/>
            <a:ext cx="4444888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88020" y="3124121"/>
            <a:ext cx="355591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20">
                <a:solidFill>
                  <a:srgbClr val="B8722E"/>
                </a:solidFill>
                <a:latin typeface="JetBrains Mono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94410" y="3098722"/>
            <a:ext cx="3682907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232A"/>
                </a:solidFill>
                <a:latin typeface="Aptos Display"/>
              </a:rPr>
              <a:t>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94410" y="3289217"/>
            <a:ext cx="3682907" cy="317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C7680"/>
                </a:solidFill>
                <a:latin typeface="Inter"/>
              </a:rPr>
              <a:t>ccop-eval CLI · 18 benchmarks, hybrid + llm-only modes, configurable judge.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80512" y="3162220"/>
            <a:ext cx="152396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 i="0">
                <a:solidFill>
                  <a:srgbClr val="B8722E"/>
                </a:solidFill>
                <a:latin typeface="JetBrains Mono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88020" y="3655921"/>
            <a:ext cx="4444888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88020" y="3733706"/>
            <a:ext cx="355591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20">
                <a:solidFill>
                  <a:srgbClr val="B8722E"/>
                </a:solidFill>
                <a:latin typeface="JetBrains Mono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94410" y="3708307"/>
            <a:ext cx="3682907" cy="190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232A"/>
                </a:solidFill>
                <a:latin typeface="Aptos Display"/>
              </a:rPr>
              <a:t>Reach 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94410" y="3898802"/>
            <a:ext cx="3682907" cy="317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C7680"/>
                </a:solidFill>
                <a:latin typeface="Inter"/>
              </a:rPr>
              <a:t>Sagar Pratap Singh · 1010736 · MDAIE-Studio Aether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80512" y="3771805"/>
            <a:ext cx="152396" cy="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 i="0">
                <a:solidFill>
                  <a:srgbClr val="B8722E"/>
                </a:solidFill>
                <a:latin typeface="JetBrains Mono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88020" y="4265505"/>
            <a:ext cx="4444888" cy="3174"/>
          </a:xfrm>
          <a:prstGeom prst="rect">
            <a:avLst/>
          </a:prstGeom>
          <a:solidFill>
            <a:srgbClr val="CC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88020" y="4851278"/>
            <a:ext cx="4444888" cy="114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20">
                <a:solidFill>
                  <a:srgbClr val="6C7680"/>
                </a:solidFill>
                <a:latin typeface="JetBrains Mono"/>
              </a:rPr>
              <a:t>THANKS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88020" y="4978275"/>
            <a:ext cx="4444888" cy="2285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1F232A"/>
                </a:solidFill>
                <a:latin typeface="Aptos Display"/>
              </a:rPr>
              <a:t>Sagar Pratap Singh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8786" y="6411752"/>
            <a:ext cx="11074123" cy="3174"/>
          </a:xfrm>
          <a:prstGeom prst="rect">
            <a:avLst/>
          </a:prstGeom>
          <a:solidFill>
            <a:srgbClr val="B8BC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8786" y="6502237"/>
            <a:ext cx="380990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80">
                <a:solidFill>
                  <a:srgbClr val="6C7680"/>
                </a:solidFill>
                <a:latin typeface="JetBrains Mono"/>
              </a:rPr>
              <a:t>PROJECT DECK · VOL. 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25879" y="6502237"/>
            <a:ext cx="2539936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180">
                <a:solidFill>
                  <a:srgbClr val="B8722E"/>
                </a:solidFill>
                <a:latin typeface="JetBrains Mono"/>
              </a:rPr>
              <a:t>END OF DECK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23004" y="6502237"/>
            <a:ext cx="380990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80">
                <a:solidFill>
                  <a:srgbClr val="6C7680"/>
                </a:solidFill>
                <a:latin typeface="JetBrains Mono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