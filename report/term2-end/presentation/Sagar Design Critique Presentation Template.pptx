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embeddedFontLst>
    <p:embeddedFont>
      <p:font typeface="Inter"/>
      <p:regular r:id="rId31"/>
    </p:embeddedFont>
    <p:embeddedFont>
      <p:font typeface="Spline Sans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xmlns="" Id="rId31" Type="http://schemas.openxmlformats.org/officeDocument/2006/relationships/font" Target="fonts/rId31.fntdata"/><Relationship xmlns="" Id="rId32" Type="http://schemas.openxmlformats.org/officeDocument/2006/relationships/font" Target="fonts/rId3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3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650" y="628650"/>
            <a:ext cx="3209925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38"/>
              </a:lnSpc>
              <a:buNone/>
            </a:pPr>
            <a:r>
              <a:rPr lang="en-US" sz="7125" spc="-4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7125" dirty="0"/>
          </a:p>
          <a:p>
            <a:pPr algn="l" indent="0" marL="0">
              <a:lnSpc>
                <a:spcPts val="7838"/>
              </a:lnSpc>
              <a:buNone/>
            </a:pPr>
            <a:r>
              <a:rPr lang="en-US" sz="7125" spc="-4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Critique</a:t>
            </a:r>
            <a:endParaRPr lang="en-US" sz="7125" dirty="0"/>
          </a:p>
        </p:txBody>
      </p:sp>
      <p:sp>
        <p:nvSpPr>
          <p:cNvPr id="5" name="Text 1"/>
          <p:cNvSpPr/>
          <p:nvPr/>
        </p:nvSpPr>
        <p:spPr>
          <a:xfrm>
            <a:off x="6567488" y="3686175"/>
            <a:ext cx="19478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3563" spc="-17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</a:t>
            </a:r>
            <a:endParaRPr lang="en-US" sz="356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BBC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650" y="628650"/>
            <a:ext cx="3209925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38"/>
              </a:lnSpc>
              <a:buNone/>
            </a:pPr>
            <a:r>
              <a:rPr lang="en-US" sz="7125" spc="-4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7125" dirty="0"/>
          </a:p>
          <a:p>
            <a:pPr algn="l" indent="0" marL="0">
              <a:lnSpc>
                <a:spcPts val="7838"/>
              </a:lnSpc>
              <a:buNone/>
            </a:pPr>
            <a:r>
              <a:rPr lang="en-US" sz="7125" spc="-4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Critique</a:t>
            </a:r>
            <a:endParaRPr lang="en-US" sz="7125" dirty="0"/>
          </a:p>
        </p:txBody>
      </p:sp>
      <p:sp>
        <p:nvSpPr>
          <p:cNvPr id="5" name="Text 1"/>
          <p:cNvSpPr/>
          <p:nvPr/>
        </p:nvSpPr>
        <p:spPr>
          <a:xfrm>
            <a:off x="6567488" y="3686175"/>
            <a:ext cx="19478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3563" spc="-17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</a:t>
            </a:r>
            <a:endParaRPr lang="en-US" sz="356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28650"/>
            <a:ext cx="4819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status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628650" y="981075"/>
            <a:ext cx="4819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team progress</a:t>
            </a:r>
            <a:endParaRPr lang="en-US" sz="1710" dirty="0"/>
          </a:p>
        </p:txBody>
      </p:sp>
      <p:sp>
        <p:nvSpPr>
          <p:cNvPr id="5" name="Text 2"/>
          <p:cNvSpPr/>
          <p:nvPr/>
        </p:nvSpPr>
        <p:spPr>
          <a:xfrm>
            <a:off x="628650" y="2819400"/>
            <a:ext cx="1347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Exploration phase</a:t>
            </a:r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</a:t>
            </a:r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sky thinking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6819900" y="2819400"/>
            <a:ext cx="1347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pPr algn="r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</a:t>
            </a:r>
            <a:pPr algn="r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handoff</a:t>
            </a:r>
            <a:endParaRPr lang="en-US" sz="114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650" y="2464825"/>
            <a:ext cx="7681912" cy="21068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19537" y="2305050"/>
            <a:ext cx="528638" cy="528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2790825"/>
            <a:ext cx="13477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</a:t>
            </a:r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of this stage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3857625" y="2790825"/>
            <a:ext cx="13477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2 </a:t>
            </a:r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of this stage</a:t>
            </a:r>
            <a:endParaRPr lang="en-US" sz="1140" dirty="0"/>
          </a:p>
        </p:txBody>
      </p:sp>
      <p:sp>
        <p:nvSpPr>
          <p:cNvPr id="5" name="Text 2"/>
          <p:cNvSpPr/>
          <p:nvPr/>
        </p:nvSpPr>
        <p:spPr>
          <a:xfrm>
            <a:off x="6700838" y="2800350"/>
            <a:ext cx="1347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3 description</a:t>
            </a:r>
            <a:endParaRPr lang="en-US" sz="114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650" y="2462213"/>
            <a:ext cx="7210425" cy="214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650" y="628650"/>
            <a:ext cx="4819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status</a:t>
            </a:r>
            <a:endParaRPr lang="en-US" sz="1140" dirty="0"/>
          </a:p>
        </p:txBody>
      </p:sp>
      <p:sp>
        <p:nvSpPr>
          <p:cNvPr id="8" name="Text 4"/>
          <p:cNvSpPr/>
          <p:nvPr/>
        </p:nvSpPr>
        <p:spPr>
          <a:xfrm>
            <a:off x="628650" y="981075"/>
            <a:ext cx="4819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Here’s what we’ll focus on today</a:t>
            </a:r>
            <a:endParaRPr lang="en-US" sz="17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4938" y="1671638"/>
            <a:ext cx="3481388" cy="6572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214938" y="1671638"/>
            <a:ext cx="3109913" cy="233362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214938" y="1688306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8BAFA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5519738" y="1671638"/>
            <a:ext cx="280511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Broadening scope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5214938" y="2095500"/>
            <a:ext cx="3109913" cy="233362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5214938" y="2112169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8BAFA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5519738" y="2095500"/>
            <a:ext cx="280511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 resolutions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628650" y="1671638"/>
            <a:ext cx="3481388" cy="1081088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28650" y="1671638"/>
            <a:ext cx="3400425" cy="233362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28650" y="1671638"/>
            <a:ext cx="15240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8BAFA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952500" y="1671638"/>
            <a:ext cx="307657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team up-to-speed</a:t>
            </a:r>
            <a:endParaRPr lang="en-US" sz="1283" dirty="0"/>
          </a:p>
        </p:txBody>
      </p:sp>
      <p:sp>
        <p:nvSpPr>
          <p:cNvPr id="13" name="Shape 11"/>
          <p:cNvSpPr/>
          <p:nvPr/>
        </p:nvSpPr>
        <p:spPr>
          <a:xfrm>
            <a:off x="628650" y="2095500"/>
            <a:ext cx="3128963" cy="233362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28650" y="2095500"/>
            <a:ext cx="15240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8BAFA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83" dirty="0"/>
          </a:p>
        </p:txBody>
      </p:sp>
      <p:sp>
        <p:nvSpPr>
          <p:cNvPr id="15" name="Text 13"/>
          <p:cNvSpPr/>
          <p:nvPr/>
        </p:nvSpPr>
        <p:spPr>
          <a:xfrm>
            <a:off x="952500" y="2095500"/>
            <a:ext cx="280511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alignment on ideas proposed</a:t>
            </a:r>
            <a:endParaRPr lang="en-US" sz="1283" dirty="0"/>
          </a:p>
        </p:txBody>
      </p:sp>
      <p:sp>
        <p:nvSpPr>
          <p:cNvPr id="16" name="Shape 14"/>
          <p:cNvSpPr/>
          <p:nvPr/>
        </p:nvSpPr>
        <p:spPr>
          <a:xfrm>
            <a:off x="628650" y="2519363"/>
            <a:ext cx="3128963" cy="233362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28650" y="2519363"/>
            <a:ext cx="152400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8BAFA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83" dirty="0"/>
          </a:p>
        </p:txBody>
      </p:sp>
      <p:sp>
        <p:nvSpPr>
          <p:cNvPr id="18" name="Text 16"/>
          <p:cNvSpPr/>
          <p:nvPr/>
        </p:nvSpPr>
        <p:spPr>
          <a:xfrm>
            <a:off x="952500" y="2519363"/>
            <a:ext cx="280511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visual feedback on designs</a:t>
            </a:r>
            <a:endParaRPr lang="en-US" sz="1283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8650" y="628650"/>
            <a:ext cx="4819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628650" y="981075"/>
            <a:ext cx="4819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and non-goals</a:t>
            </a:r>
            <a:endParaRPr lang="en-US" sz="17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3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38563" y="2309813"/>
            <a:ext cx="1666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3563" spc="-17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356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2088" y="3757613"/>
            <a:ext cx="29575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4: </a:t>
            </a:r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that breaks  into several lines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1471613" y="2447925"/>
            <a:ext cx="30194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2: </a:t>
            </a:r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that breaks into  several lines </a:t>
            </a:r>
            <a:endParaRPr lang="en-US" sz="1140" dirty="0"/>
          </a:p>
        </p:txBody>
      </p:sp>
      <p:sp>
        <p:nvSpPr>
          <p:cNvPr id="5" name="Text 2"/>
          <p:cNvSpPr/>
          <p:nvPr/>
        </p:nvSpPr>
        <p:spPr>
          <a:xfrm>
            <a:off x="1476375" y="3105150"/>
            <a:ext cx="3014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3: </a:t>
            </a:r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that breaks into  several lines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7781925" y="3948112"/>
            <a:ext cx="5857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855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1476375" y="1771650"/>
            <a:ext cx="26622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1:</a:t>
            </a:r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that breaks into two lines</a:t>
            </a:r>
            <a:endParaRPr lang="en-US" sz="114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650" y="1766888"/>
            <a:ext cx="760433" cy="56755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8650" y="3095625"/>
            <a:ext cx="759033" cy="563089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8650" y="2433638"/>
            <a:ext cx="759033" cy="563089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8650" y="3757613"/>
            <a:ext cx="760433" cy="567556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10740" t="0" b="2837"/>
          <a:stretch/>
        </p:blipFill>
        <p:spPr>
          <a:xfrm>
            <a:off x="5819775" y="2560606"/>
            <a:ext cx="2384208" cy="15425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28650" y="628650"/>
            <a:ext cx="481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140" dirty="0"/>
          </a:p>
        </p:txBody>
      </p:sp>
      <p:sp>
        <p:nvSpPr>
          <p:cNvPr id="14" name="Text 6"/>
          <p:cNvSpPr/>
          <p:nvPr/>
        </p:nvSpPr>
        <p:spPr>
          <a:xfrm>
            <a:off x="628650" y="1000125"/>
            <a:ext cx="4819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surface</a:t>
            </a:r>
            <a:endParaRPr lang="en-US" sz="171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870172" y="2157413"/>
            <a:ext cx="3930276" cy="3150474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872163" y="1600200"/>
            <a:ext cx="2883424" cy="204171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872163" y="1019175"/>
            <a:ext cx="2883424" cy="2041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200275"/>
            <a:ext cx="5486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user decides to sign up, here are the steps they have to take to successfully</a:t>
            </a:r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8BAFA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an account.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1957388" y="1828800"/>
            <a:ext cx="5229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11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28650"/>
            <a:ext cx="2452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628650" y="1000125"/>
            <a:ext cx="24526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 User lands in the sign up screen</a:t>
            </a:r>
            <a:endParaRPr lang="en-US" sz="114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-13097" t="0" b="22758"/>
          <a:stretch/>
        </p:blipFill>
        <p:spPr>
          <a:xfrm>
            <a:off x="3481388" y="933450"/>
            <a:ext cx="6991350" cy="43481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43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586163" y="2309813"/>
            <a:ext cx="19716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3563" spc="-17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Problems</a:t>
            </a:r>
            <a:endParaRPr lang="en-US" sz="356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62175" y="1957388"/>
            <a:ext cx="481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2162175" y="2328863"/>
            <a:ext cx="48196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X and Surface Y feel very disconnected</a:t>
            </a:r>
            <a:endParaRPr lang="en-US" sz="1710" dirty="0"/>
          </a:p>
        </p:txBody>
      </p:sp>
      <p:sp>
        <p:nvSpPr>
          <p:cNvPr id="5" name="Shape 2"/>
          <p:cNvSpPr/>
          <p:nvPr/>
        </p:nvSpPr>
        <p:spPr>
          <a:xfrm rot="-1602175">
            <a:off x="6087786" y="559878"/>
            <a:ext cx="797572" cy="809831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 rot="-4924235">
            <a:off x="2285667" y="3076912"/>
            <a:ext cx="707730" cy="1221180"/>
          </a:xfrm>
          <a:prstGeom prst="rect">
            <a:avLst/>
          </a:prstGeom>
          <a:noFill/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8850" y="533400"/>
            <a:ext cx="1078706" cy="108346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77782" y="533400"/>
            <a:ext cx="1775669" cy="889695"/>
          </a:xfrm>
          <a:prstGeom prst="roundRect">
            <a:avLst/>
          </a:prstGeom>
          <a:solidFill>
            <a:srgbClr val="FFE1E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4538" y="3138488"/>
            <a:ext cx="1309688" cy="87153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125" y="3338513"/>
            <a:ext cx="2332137" cy="14656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650" y="628650"/>
            <a:ext cx="4819650" cy="118110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628650" y="628650"/>
            <a:ext cx="4819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1</a:t>
            </a:r>
            <a:endParaRPr lang="en-US" sz="1140" dirty="0"/>
          </a:p>
        </p:txBody>
      </p:sp>
      <p:sp>
        <p:nvSpPr>
          <p:cNvPr id="5" name="Text 2"/>
          <p:cNvSpPr/>
          <p:nvPr/>
        </p:nvSpPr>
        <p:spPr>
          <a:xfrm>
            <a:off x="628650" y="981075"/>
            <a:ext cx="48196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presenting our vision for a world-class resource hub to support growth across the user journey for all our product lines.</a:t>
            </a:r>
            <a:endParaRPr lang="en-US" sz="1710" dirty="0"/>
          </a:p>
        </p:txBody>
      </p:sp>
      <p:sp>
        <p:nvSpPr>
          <p:cNvPr id="6" name="Text 3"/>
          <p:cNvSpPr/>
          <p:nvPr/>
        </p:nvSpPr>
        <p:spPr>
          <a:xfrm>
            <a:off x="538163" y="2224088"/>
            <a:ext cx="3381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one summarized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538163" y="2576513"/>
            <a:ext cx="3381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two summarized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538163" y="2928938"/>
            <a:ext cx="3381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three summarized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3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2309813"/>
            <a:ext cx="30527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19"/>
              </a:lnSpc>
              <a:buNone/>
            </a:pPr>
            <a:r>
              <a:rPr lang="en-US" sz="3563" spc="-17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space</a:t>
            </a:r>
            <a:endParaRPr lang="en-US" sz="356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62175" y="1381125"/>
            <a:ext cx="481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140" dirty="0"/>
          </a:p>
        </p:txBody>
      </p:sp>
      <p:sp>
        <p:nvSpPr>
          <p:cNvPr id="4" name="Text 1"/>
          <p:cNvSpPr/>
          <p:nvPr/>
        </p:nvSpPr>
        <p:spPr>
          <a:xfrm>
            <a:off x="2162175" y="1752600"/>
            <a:ext cx="4819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one seamless experience</a:t>
            </a:r>
            <a:endParaRPr lang="en-US" sz="1710" dirty="0"/>
          </a:p>
        </p:txBody>
      </p:sp>
      <p:sp>
        <p:nvSpPr>
          <p:cNvPr id="5" name="Shape 2"/>
          <p:cNvSpPr/>
          <p:nvPr/>
        </p:nvSpPr>
        <p:spPr>
          <a:xfrm rot="-1602175">
            <a:off x="4316136" y="2517265"/>
            <a:ext cx="797572" cy="809831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 rot="-4924235">
            <a:off x="4033504" y="2676862"/>
            <a:ext cx="707730" cy="1221180"/>
          </a:xfrm>
          <a:prstGeom prst="rect">
            <a:avLst/>
          </a:prstGeom>
          <a:noFill/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7225" y="2471738"/>
            <a:ext cx="1078706" cy="108346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38563" y="2852738"/>
            <a:ext cx="1309688" cy="87153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224463" y="2347913"/>
            <a:ext cx="1775669" cy="889695"/>
          </a:xfrm>
          <a:prstGeom prst="roundRect">
            <a:avLst/>
          </a:prstGeom>
          <a:solidFill>
            <a:srgbClr val="FFE1EE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66963" y="3181352"/>
            <a:ext cx="2332137" cy="14656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150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/>
          </a:solidFill>
          <a:ln w="4524">
            <a:solidFill>
              <a:srgbClr val="E6E6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8650" y="1343025"/>
            <a:ext cx="2105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growth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x and y improvements </a:t>
            </a:r>
            <a:endParaRPr lang="en-US" sz="1283" dirty="0"/>
          </a:p>
        </p:txBody>
      </p:sp>
      <p:sp>
        <p:nvSpPr>
          <p:cNvPr id="5" name="Shape 2"/>
          <p:cNvSpPr/>
          <p:nvPr/>
        </p:nvSpPr>
        <p:spPr>
          <a:xfrm>
            <a:off x="628650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628650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985838"/>
            <a:ext cx="7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4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38211" t="0" b="27521"/>
          <a:stretch/>
        </p:blipFill>
        <p:spPr>
          <a:xfrm>
            <a:off x="628650" y="2114550"/>
            <a:ext cx="2533650" cy="20193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3263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/>
          </a:solidFill>
          <a:ln w="4524">
            <a:solidFill>
              <a:srgbClr val="E6E6E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29442" t="0" b="0"/>
          <a:stretch/>
        </p:blipFill>
        <p:spPr>
          <a:xfrm>
            <a:off x="2671763" y="1824038"/>
            <a:ext cx="2647950" cy="552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33763" y="1343025"/>
            <a:ext cx="21336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successfully complete their task </a:t>
            </a:r>
            <a:endParaRPr lang="en-US" sz="1283" dirty="0"/>
          </a:p>
        </p:txBody>
      </p:sp>
      <p:sp>
        <p:nvSpPr>
          <p:cNvPr id="12" name="Shape 7"/>
          <p:cNvSpPr/>
          <p:nvPr/>
        </p:nvSpPr>
        <p:spPr>
          <a:xfrm>
            <a:off x="3433763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13" name="Shape 8"/>
          <p:cNvSpPr/>
          <p:nvPr/>
        </p:nvSpPr>
        <p:spPr>
          <a:xfrm>
            <a:off x="3433763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9"/>
          <p:cNvSpPr/>
          <p:nvPr/>
        </p:nvSpPr>
        <p:spPr>
          <a:xfrm>
            <a:off x="3538538" y="985838"/>
            <a:ext cx="95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4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38211" t="0" b="27521"/>
          <a:stretch/>
        </p:blipFill>
        <p:spPr>
          <a:xfrm>
            <a:off x="3433763" y="2114550"/>
            <a:ext cx="2533650" cy="20193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48375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/>
          </a:solidFill>
          <a:ln w="4524">
            <a:solidFill>
              <a:srgbClr val="E6E6E6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29442" t="0" b="0"/>
          <a:stretch/>
        </p:blipFill>
        <p:spPr>
          <a:xfrm>
            <a:off x="5476875" y="1824038"/>
            <a:ext cx="2647950" cy="55245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238875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19" name="Shape 12"/>
          <p:cNvSpPr/>
          <p:nvPr/>
        </p:nvSpPr>
        <p:spPr>
          <a:xfrm>
            <a:off x="6238875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3"/>
          <p:cNvSpPr/>
          <p:nvPr/>
        </p:nvSpPr>
        <p:spPr>
          <a:xfrm>
            <a:off x="6343650" y="985838"/>
            <a:ext cx="1000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40" dirty="0"/>
          </a:p>
        </p:txBody>
      </p:sp>
      <p:sp>
        <p:nvSpPr>
          <p:cNvPr id="21" name="Text 14"/>
          <p:cNvSpPr/>
          <p:nvPr/>
        </p:nvSpPr>
        <p:spPr>
          <a:xfrm>
            <a:off x="6238875" y="1343025"/>
            <a:ext cx="21621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experience consistent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products</a:t>
            </a:r>
            <a:endParaRPr lang="en-US" sz="1283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38211" t="0" b="27521"/>
          <a:stretch/>
        </p:blipFill>
        <p:spPr>
          <a:xfrm>
            <a:off x="6238875" y="2114550"/>
            <a:ext cx="253365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150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/>
          </a:solidFill>
          <a:ln w="4524">
            <a:solidFill>
              <a:srgbClr val="E6E6E6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8738" y="1962150"/>
            <a:ext cx="828675" cy="276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1343025"/>
            <a:ext cx="2105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growth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x and y improvements </a:t>
            </a:r>
            <a:endParaRPr lang="en-US" sz="1283" dirty="0"/>
          </a:p>
        </p:txBody>
      </p:sp>
      <p:sp>
        <p:nvSpPr>
          <p:cNvPr id="6" name="Shape 2"/>
          <p:cNvSpPr/>
          <p:nvPr/>
        </p:nvSpPr>
        <p:spPr>
          <a:xfrm>
            <a:off x="628650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7" name="Shape 3"/>
          <p:cNvSpPr/>
          <p:nvPr/>
        </p:nvSpPr>
        <p:spPr>
          <a:xfrm>
            <a:off x="628650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742950" y="985838"/>
            <a:ext cx="7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4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38211" t="0" b="27521"/>
          <a:stretch/>
        </p:blipFill>
        <p:spPr>
          <a:xfrm>
            <a:off x="628650" y="2114550"/>
            <a:ext cx="2533650" cy="2019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43263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>
              <a:alpha val="20000"/>
            </a:srgbClr>
          </a:solidFill>
          <a:ln w="4524">
            <a:solidFill>
              <a:srgbClr val="E6E6E6">
                <a:alpha val="2000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29442" t="0" b="0"/>
          <a:stretch/>
        </p:blipFill>
        <p:spPr>
          <a:xfrm>
            <a:off x="2671763" y="1824038"/>
            <a:ext cx="2647950" cy="552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33763" y="1343025"/>
            <a:ext cx="21336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successfully complete their task </a:t>
            </a:r>
            <a:endParaRPr lang="en-US" sz="1283" dirty="0"/>
          </a:p>
        </p:txBody>
      </p:sp>
      <p:sp>
        <p:nvSpPr>
          <p:cNvPr id="13" name="Shape 7"/>
          <p:cNvSpPr/>
          <p:nvPr/>
        </p:nvSpPr>
        <p:spPr>
          <a:xfrm>
            <a:off x="3433763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14" name="Shape 8"/>
          <p:cNvSpPr/>
          <p:nvPr/>
        </p:nvSpPr>
        <p:spPr>
          <a:xfrm>
            <a:off x="3433763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9"/>
          <p:cNvSpPr/>
          <p:nvPr/>
        </p:nvSpPr>
        <p:spPr>
          <a:xfrm>
            <a:off x="3538538" y="985838"/>
            <a:ext cx="95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4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38211" t="0" b="27521"/>
          <a:stretch/>
        </p:blipFill>
        <p:spPr>
          <a:xfrm>
            <a:off x="3433763" y="2114550"/>
            <a:ext cx="2533650" cy="20193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48375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>
              <a:alpha val="20000"/>
            </a:srgbClr>
          </a:solidFill>
          <a:ln w="4524">
            <a:solidFill>
              <a:srgbClr val="E6E6E6">
                <a:alpha val="20000"/>
              </a:srgbClr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29442" t="0" b="0"/>
          <a:stretch/>
        </p:blipFill>
        <p:spPr>
          <a:xfrm>
            <a:off x="5476875" y="1824038"/>
            <a:ext cx="2647950" cy="5524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238875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20" name="Shape 12"/>
          <p:cNvSpPr/>
          <p:nvPr/>
        </p:nvSpPr>
        <p:spPr>
          <a:xfrm>
            <a:off x="6238875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3"/>
          <p:cNvSpPr/>
          <p:nvPr/>
        </p:nvSpPr>
        <p:spPr>
          <a:xfrm>
            <a:off x="6343650" y="985838"/>
            <a:ext cx="1000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40" dirty="0"/>
          </a:p>
        </p:txBody>
      </p:sp>
      <p:sp>
        <p:nvSpPr>
          <p:cNvPr id="22" name="Text 14"/>
          <p:cNvSpPr/>
          <p:nvPr/>
        </p:nvSpPr>
        <p:spPr>
          <a:xfrm>
            <a:off x="6238875" y="1343025"/>
            <a:ext cx="21621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experience consistent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products</a:t>
            </a:r>
            <a:endParaRPr lang="en-US" sz="1283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38211" t="0" b="27521"/>
          <a:stretch/>
        </p:blipFill>
        <p:spPr>
          <a:xfrm>
            <a:off x="6238875" y="2114550"/>
            <a:ext cx="253365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628650"/>
            <a:ext cx="41386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growth through x and y improvements 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628650" y="1524000"/>
            <a:ext cx="33813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We’re optimizing sign up by reducing friction and introduce ui changes. Some initiatives as part of this workstream:</a:t>
            </a:r>
            <a:endParaRPr lang="en-US" sz="11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24463" y="0"/>
            <a:ext cx="3919537" cy="5143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8650" y="2276475"/>
            <a:ext cx="2462213" cy="952500"/>
          </a:xfrm>
          <a:prstGeom prst="rect">
            <a:avLst/>
          </a:prstGeom>
          <a:noFill/>
          <a:ln/>
        </p:spPr>
      </p:sp>
      <p:sp>
        <p:nvSpPr>
          <p:cNvPr id="7" name="Shape 3"/>
          <p:cNvSpPr/>
          <p:nvPr/>
        </p:nvSpPr>
        <p:spPr>
          <a:xfrm>
            <a:off x="628650" y="2276475"/>
            <a:ext cx="1014413" cy="266700"/>
          </a:xfrm>
          <a:prstGeom prst="roundRect">
            <a:avLst>
              <a:gd name="adj" fmla="val 109714"/>
            </a:avLst>
          </a:prstGeom>
          <a:solidFill>
            <a:srgbClr val="F5F5F5"/>
          </a:solidFill>
          <a:ln/>
        </p:spPr>
      </p:sp>
      <p:sp>
        <p:nvSpPr>
          <p:cNvPr id="8" name="Text 4"/>
          <p:cNvSpPr/>
          <p:nvPr/>
        </p:nvSpPr>
        <p:spPr>
          <a:xfrm>
            <a:off x="742950" y="2333625"/>
            <a:ext cx="7858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855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Google Auth</a:t>
            </a:r>
            <a:endParaRPr lang="en-US" sz="855" dirty="0"/>
          </a:p>
        </p:txBody>
      </p:sp>
      <p:sp>
        <p:nvSpPr>
          <p:cNvPr id="9" name="Shape 5"/>
          <p:cNvSpPr/>
          <p:nvPr/>
        </p:nvSpPr>
        <p:spPr>
          <a:xfrm rot="0">
            <a:off x="1719263" y="2276475"/>
            <a:ext cx="1371600" cy="266700"/>
          </a:xfrm>
          <a:prstGeom prst="roundRect">
            <a:avLst>
              <a:gd name="adj" fmla="val 109714"/>
            </a:avLst>
          </a:prstGeom>
          <a:solidFill>
            <a:srgbClr val="F5F5F5"/>
          </a:solidFill>
          <a:ln/>
        </p:spPr>
      </p:sp>
      <p:sp>
        <p:nvSpPr>
          <p:cNvPr id="10" name="Text 6"/>
          <p:cNvSpPr/>
          <p:nvPr/>
        </p:nvSpPr>
        <p:spPr>
          <a:xfrm rot="0">
            <a:off x="1833563" y="233362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855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Input field redesign</a:t>
            </a:r>
            <a:endParaRPr lang="en-US" sz="855" dirty="0"/>
          </a:p>
        </p:txBody>
      </p:sp>
      <p:sp>
        <p:nvSpPr>
          <p:cNvPr id="11" name="Shape 7"/>
          <p:cNvSpPr/>
          <p:nvPr/>
        </p:nvSpPr>
        <p:spPr>
          <a:xfrm rot="0">
            <a:off x="628650" y="2619375"/>
            <a:ext cx="1171575" cy="266700"/>
          </a:xfrm>
          <a:prstGeom prst="roundRect">
            <a:avLst>
              <a:gd name="adj" fmla="val 109714"/>
            </a:avLst>
          </a:prstGeom>
          <a:solidFill>
            <a:srgbClr val="F5F5F5"/>
          </a:solidFill>
          <a:ln/>
        </p:spPr>
      </p:sp>
      <p:sp>
        <p:nvSpPr>
          <p:cNvPr id="12" name="Text 8"/>
          <p:cNvSpPr/>
          <p:nvPr/>
        </p:nvSpPr>
        <p:spPr>
          <a:xfrm rot="0">
            <a:off x="742950" y="2676525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855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Form Validation</a:t>
            </a:r>
            <a:endParaRPr lang="en-US" sz="855" dirty="0"/>
          </a:p>
        </p:txBody>
      </p:sp>
      <p:sp>
        <p:nvSpPr>
          <p:cNvPr id="13" name="Shape 9"/>
          <p:cNvSpPr/>
          <p:nvPr/>
        </p:nvSpPr>
        <p:spPr>
          <a:xfrm>
            <a:off x="1876425" y="2619375"/>
            <a:ext cx="1157288" cy="266700"/>
          </a:xfrm>
          <a:prstGeom prst="roundRect">
            <a:avLst>
              <a:gd name="adj" fmla="val 109714"/>
            </a:avLst>
          </a:prstGeom>
          <a:solidFill>
            <a:srgbClr val="F5F5F5"/>
          </a:solidFill>
          <a:ln/>
        </p:spPr>
      </p:sp>
      <p:sp>
        <p:nvSpPr>
          <p:cNvPr id="14" name="Text 10"/>
          <p:cNvSpPr/>
          <p:nvPr/>
        </p:nvSpPr>
        <p:spPr>
          <a:xfrm>
            <a:off x="1990725" y="2676525"/>
            <a:ext cx="9286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855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Facebook Auth</a:t>
            </a:r>
            <a:endParaRPr lang="en-US" sz="855" dirty="0"/>
          </a:p>
        </p:txBody>
      </p:sp>
      <p:sp>
        <p:nvSpPr>
          <p:cNvPr id="15" name="Shape 11"/>
          <p:cNvSpPr/>
          <p:nvPr/>
        </p:nvSpPr>
        <p:spPr>
          <a:xfrm>
            <a:off x="628650" y="2962275"/>
            <a:ext cx="741073" cy="266700"/>
          </a:xfrm>
          <a:prstGeom prst="roundRect">
            <a:avLst>
              <a:gd name="adj" fmla="val 109714"/>
            </a:avLst>
          </a:prstGeom>
          <a:solidFill>
            <a:srgbClr val="F5F5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2" t="0" b="0"/>
          <a:stretch/>
        </p:blipFill>
        <p:spPr>
          <a:xfrm>
            <a:off x="742950" y="3054070"/>
            <a:ext cx="83846" cy="831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896" y="3019425"/>
            <a:ext cx="390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855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AutoFill</a:t>
            </a:r>
            <a:endParaRPr lang="en-US" sz="855" dirty="0"/>
          </a:p>
        </p:txBody>
      </p:sp>
      <p:sp>
        <p:nvSpPr>
          <p:cNvPr id="18" name="Shape 13"/>
          <p:cNvSpPr/>
          <p:nvPr/>
        </p:nvSpPr>
        <p:spPr>
          <a:xfrm>
            <a:off x="1445921" y="2962275"/>
            <a:ext cx="550573" cy="266700"/>
          </a:xfrm>
          <a:prstGeom prst="roundRect">
            <a:avLst>
              <a:gd name="adj" fmla="val 109714"/>
            </a:avLst>
          </a:prstGeom>
          <a:solidFill>
            <a:srgbClr val="F5F5F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2" t="0" b="0"/>
          <a:stretch/>
        </p:blipFill>
        <p:spPr>
          <a:xfrm>
            <a:off x="1560221" y="3054070"/>
            <a:ext cx="83846" cy="8311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82167" y="3019425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855" spc="-1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2FA</a:t>
            </a:r>
            <a:endParaRPr lang="en-US" sz="85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150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>
              <a:alpha val="20000"/>
            </a:srgbClr>
          </a:solidFill>
          <a:ln w="4524">
            <a:solidFill>
              <a:srgbClr val="E6E6E6">
                <a:alpha val="2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8738" y="1962150"/>
            <a:ext cx="828675" cy="276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1343025"/>
            <a:ext cx="2105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growth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x and y improvements </a:t>
            </a:r>
            <a:endParaRPr lang="en-US" sz="1283" dirty="0"/>
          </a:p>
        </p:txBody>
      </p:sp>
      <p:sp>
        <p:nvSpPr>
          <p:cNvPr id="6" name="Shape 2"/>
          <p:cNvSpPr/>
          <p:nvPr/>
        </p:nvSpPr>
        <p:spPr>
          <a:xfrm>
            <a:off x="628650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7" name="Shape 3"/>
          <p:cNvSpPr/>
          <p:nvPr/>
        </p:nvSpPr>
        <p:spPr>
          <a:xfrm>
            <a:off x="628650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742950" y="985838"/>
            <a:ext cx="7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4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38211" t="0" b="27521"/>
          <a:stretch/>
        </p:blipFill>
        <p:spPr>
          <a:xfrm>
            <a:off x="628650" y="2114550"/>
            <a:ext cx="2533650" cy="2019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43263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/>
          </a:solidFill>
          <a:ln w="4524">
            <a:solidFill>
              <a:srgbClr val="E6E6E6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29442" t="0" b="0"/>
          <a:stretch/>
        </p:blipFill>
        <p:spPr>
          <a:xfrm>
            <a:off x="2671763" y="1824038"/>
            <a:ext cx="2647950" cy="552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33763" y="1343025"/>
            <a:ext cx="21336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successfully complete their task </a:t>
            </a:r>
            <a:endParaRPr lang="en-US" sz="1283" dirty="0"/>
          </a:p>
        </p:txBody>
      </p:sp>
      <p:sp>
        <p:nvSpPr>
          <p:cNvPr id="13" name="Shape 7"/>
          <p:cNvSpPr/>
          <p:nvPr/>
        </p:nvSpPr>
        <p:spPr>
          <a:xfrm>
            <a:off x="3433763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14" name="Shape 8"/>
          <p:cNvSpPr/>
          <p:nvPr/>
        </p:nvSpPr>
        <p:spPr>
          <a:xfrm>
            <a:off x="3433763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9"/>
          <p:cNvSpPr/>
          <p:nvPr/>
        </p:nvSpPr>
        <p:spPr>
          <a:xfrm>
            <a:off x="3538538" y="985838"/>
            <a:ext cx="95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4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38211" t="0" b="27521"/>
          <a:stretch/>
        </p:blipFill>
        <p:spPr>
          <a:xfrm>
            <a:off x="3433763" y="2114550"/>
            <a:ext cx="2533650" cy="20193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48375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>
              <a:alpha val="20000"/>
            </a:srgbClr>
          </a:solidFill>
          <a:ln w="4524">
            <a:solidFill>
              <a:srgbClr val="E6E6E6">
                <a:alpha val="20000"/>
              </a:srgbClr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29442" t="0" b="0"/>
          <a:stretch/>
        </p:blipFill>
        <p:spPr>
          <a:xfrm>
            <a:off x="5476875" y="1824038"/>
            <a:ext cx="2647950" cy="5524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238875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20" name="Shape 12"/>
          <p:cNvSpPr/>
          <p:nvPr/>
        </p:nvSpPr>
        <p:spPr>
          <a:xfrm>
            <a:off x="6238875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3"/>
          <p:cNvSpPr/>
          <p:nvPr/>
        </p:nvSpPr>
        <p:spPr>
          <a:xfrm>
            <a:off x="6343650" y="985838"/>
            <a:ext cx="1000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40" dirty="0"/>
          </a:p>
        </p:txBody>
      </p:sp>
      <p:sp>
        <p:nvSpPr>
          <p:cNvPr id="22" name="Text 14"/>
          <p:cNvSpPr/>
          <p:nvPr/>
        </p:nvSpPr>
        <p:spPr>
          <a:xfrm>
            <a:off x="6238875" y="1343025"/>
            <a:ext cx="21621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experience consistent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products</a:t>
            </a:r>
            <a:endParaRPr lang="en-US" sz="1283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38211" t="0" b="27521"/>
          <a:stretch/>
        </p:blipFill>
        <p:spPr>
          <a:xfrm>
            <a:off x="6238875" y="2114550"/>
            <a:ext cx="253365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150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>
              <a:alpha val="20000"/>
            </a:srgbClr>
          </a:solidFill>
          <a:ln w="4524">
            <a:solidFill>
              <a:srgbClr val="E6E6E6">
                <a:alpha val="2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8738" y="1962150"/>
            <a:ext cx="828675" cy="276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1343025"/>
            <a:ext cx="2105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growth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x and y improvements </a:t>
            </a:r>
            <a:endParaRPr lang="en-US" sz="1283" dirty="0"/>
          </a:p>
        </p:txBody>
      </p:sp>
      <p:sp>
        <p:nvSpPr>
          <p:cNvPr id="6" name="Shape 2"/>
          <p:cNvSpPr/>
          <p:nvPr/>
        </p:nvSpPr>
        <p:spPr>
          <a:xfrm>
            <a:off x="628650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7" name="Shape 3"/>
          <p:cNvSpPr/>
          <p:nvPr/>
        </p:nvSpPr>
        <p:spPr>
          <a:xfrm>
            <a:off x="628650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742950" y="985838"/>
            <a:ext cx="7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4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38211" t="0" b="27521"/>
          <a:stretch/>
        </p:blipFill>
        <p:spPr>
          <a:xfrm>
            <a:off x="628650" y="2114550"/>
            <a:ext cx="2533650" cy="2019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43263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>
              <a:alpha val="20000"/>
            </a:srgbClr>
          </a:solidFill>
          <a:ln w="4524">
            <a:solidFill>
              <a:srgbClr val="E6E6E6">
                <a:alpha val="2000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29442" t="0" b="0"/>
          <a:stretch/>
        </p:blipFill>
        <p:spPr>
          <a:xfrm>
            <a:off x="2671763" y="1824038"/>
            <a:ext cx="2647950" cy="552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33763" y="1343025"/>
            <a:ext cx="21336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successfully complete their task </a:t>
            </a:r>
            <a:endParaRPr lang="en-US" sz="1283" dirty="0"/>
          </a:p>
        </p:txBody>
      </p:sp>
      <p:sp>
        <p:nvSpPr>
          <p:cNvPr id="13" name="Shape 7"/>
          <p:cNvSpPr/>
          <p:nvPr/>
        </p:nvSpPr>
        <p:spPr>
          <a:xfrm>
            <a:off x="3433763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14" name="Shape 8"/>
          <p:cNvSpPr/>
          <p:nvPr/>
        </p:nvSpPr>
        <p:spPr>
          <a:xfrm>
            <a:off x="3433763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9"/>
          <p:cNvSpPr/>
          <p:nvPr/>
        </p:nvSpPr>
        <p:spPr>
          <a:xfrm>
            <a:off x="3538538" y="985838"/>
            <a:ext cx="95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4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38211" t="0" b="27521"/>
          <a:stretch/>
        </p:blipFill>
        <p:spPr>
          <a:xfrm>
            <a:off x="3433763" y="2114550"/>
            <a:ext cx="2533650" cy="20193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48375" y="733425"/>
            <a:ext cx="2647950" cy="3371850"/>
          </a:xfrm>
          <a:prstGeom prst="roundRect">
            <a:avLst>
              <a:gd name="adj" fmla="val 11050"/>
            </a:avLst>
          </a:prstGeom>
          <a:solidFill>
            <a:srgbClr val="F5F5F5"/>
          </a:solidFill>
          <a:ln w="4524">
            <a:solidFill>
              <a:srgbClr val="E6E6E6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29442" t="0" b="0"/>
          <a:stretch/>
        </p:blipFill>
        <p:spPr>
          <a:xfrm>
            <a:off x="5476875" y="1824038"/>
            <a:ext cx="2647950" cy="5524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238875" y="923925"/>
            <a:ext cx="304800" cy="304800"/>
          </a:xfrm>
          <a:prstGeom prst="rect">
            <a:avLst/>
          </a:prstGeom>
          <a:noFill/>
          <a:ln/>
        </p:spPr>
      </p:sp>
      <p:sp>
        <p:nvSpPr>
          <p:cNvPr id="20" name="Shape 12"/>
          <p:cNvSpPr/>
          <p:nvPr/>
        </p:nvSpPr>
        <p:spPr>
          <a:xfrm>
            <a:off x="6238875" y="923925"/>
            <a:ext cx="304800" cy="304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3"/>
          <p:cNvSpPr/>
          <p:nvPr/>
        </p:nvSpPr>
        <p:spPr>
          <a:xfrm>
            <a:off x="6343650" y="985838"/>
            <a:ext cx="1000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40" dirty="0"/>
          </a:p>
        </p:txBody>
      </p:sp>
      <p:sp>
        <p:nvSpPr>
          <p:cNvPr id="22" name="Text 14"/>
          <p:cNvSpPr/>
          <p:nvPr/>
        </p:nvSpPr>
        <p:spPr>
          <a:xfrm>
            <a:off x="6238875" y="1343025"/>
            <a:ext cx="21621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experience consistent </a:t>
            </a:r>
            <a:pPr algn="l" indent="0" marL="0">
              <a:lnSpc>
                <a:spcPts val="1744"/>
              </a:lnSpc>
              <a:buNone/>
            </a:pPr>
            <a:r>
              <a:rPr lang="en-US" sz="1283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products</a:t>
            </a:r>
            <a:endParaRPr lang="en-US" sz="1283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38211" t="0" b="27521"/>
          <a:stretch/>
        </p:blipFill>
        <p:spPr>
          <a:xfrm>
            <a:off x="6238875" y="2114550"/>
            <a:ext cx="253365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2425" y="885825"/>
            <a:ext cx="41386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with making things consistent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4162425" y="1628775"/>
            <a:ext cx="338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 consistency with evolving user needs and feedback can be tricky, as we need to refine elements without disrupting the overall cohesive look and feel.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4086225" y="2581275"/>
            <a:ext cx="3381375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33"/>
              </a:lnSpc>
              <a:buSzPct val="100000"/>
              <a:buChar char="•"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1</a:t>
            </a:r>
            <a:endParaRPr lang="en-US" sz="1140" dirty="0"/>
          </a:p>
          <a:p>
            <a:pPr algn="l" marL="342900" indent="-342900">
              <a:lnSpc>
                <a:spcPts val="2633"/>
              </a:lnSpc>
              <a:buSzPct val="100000"/>
              <a:buChar char="•"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2</a:t>
            </a:r>
            <a:endParaRPr lang="en-US" sz="1140" dirty="0"/>
          </a:p>
          <a:p>
            <a:pPr algn="l" marL="342900" indent="-342900">
              <a:lnSpc>
                <a:spcPts val="2633"/>
              </a:lnSpc>
              <a:buSzPct val="100000"/>
              <a:buChar char="•"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3</a:t>
            </a:r>
            <a:endParaRPr lang="en-US" sz="114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150" y="2562225"/>
            <a:ext cx="3128963" cy="19573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50" y="438150"/>
            <a:ext cx="3128963" cy="193357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150" y="604838"/>
            <a:ext cx="457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1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-18481" t="0" b="26396"/>
          <a:stretch/>
        </p:blipFill>
        <p:spPr>
          <a:xfrm>
            <a:off x="438150" y="1138238"/>
            <a:ext cx="4457700" cy="41433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19613" y="0"/>
            <a:ext cx="4624388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4957763" y="604838"/>
            <a:ext cx="352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14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-42152" t="0" b="26396"/>
          <a:stretch/>
        </p:blipFill>
        <p:spPr>
          <a:xfrm>
            <a:off x="4843463" y="1138238"/>
            <a:ext cx="5348288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387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828800" y="2795588"/>
            <a:ext cx="54864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the floor for questions...</a:t>
            </a:r>
            <a:endParaRPr lang="en-US" sz="1710" dirty="0"/>
          </a:p>
        </p:txBody>
      </p:sp>
      <p:sp>
        <p:nvSpPr>
          <p:cNvPr id="4" name="Shape 2"/>
          <p:cNvSpPr/>
          <p:nvPr/>
        </p:nvSpPr>
        <p:spPr>
          <a:xfrm>
            <a:off x="4214813" y="1824038"/>
            <a:ext cx="709613" cy="657225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52888" y="1804988"/>
            <a:ext cx="690563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62175" y="1171575"/>
            <a:ext cx="4819650" cy="2514600"/>
          </a:xfrm>
          <a:prstGeom prst="rect">
            <a:avLst/>
          </a:prstGeom>
          <a:noFill/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62175" y="1171575"/>
            <a:ext cx="4819650" cy="27622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162175" y="1619250"/>
            <a:ext cx="4819650" cy="276225"/>
          </a:xfrm>
          <a:prstGeom prst="rect">
            <a:avLst/>
          </a:prstGeom>
          <a:noFill/>
          <a:ln/>
        </p:spPr>
      </p:sp>
      <p:sp>
        <p:nvSpPr>
          <p:cNvPr id="6" name="Shape 2"/>
          <p:cNvSpPr/>
          <p:nvPr/>
        </p:nvSpPr>
        <p:spPr>
          <a:xfrm>
            <a:off x="2162175" y="1619250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62175" y="1619250"/>
            <a:ext cx="276225" cy="2762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552700" y="1619250"/>
            <a:ext cx="12573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Soundharya</a:t>
            </a:r>
            <a:endParaRPr lang="en-US" sz="1710" dirty="0"/>
          </a:p>
        </p:txBody>
      </p:sp>
      <p:sp>
        <p:nvSpPr>
          <p:cNvPr id="9" name="Shape 4"/>
          <p:cNvSpPr/>
          <p:nvPr/>
        </p:nvSpPr>
        <p:spPr>
          <a:xfrm>
            <a:off x="4657725" y="1619250"/>
            <a:ext cx="2324100" cy="276225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6357938" y="1657350"/>
            <a:ext cx="623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</a:t>
            </a:r>
            <a:endParaRPr lang="en-US" sz="1140" dirty="0"/>
          </a:p>
        </p:txBody>
      </p:sp>
      <p:sp>
        <p:nvSpPr>
          <p:cNvPr id="11" name="Shape 6"/>
          <p:cNvSpPr/>
          <p:nvPr/>
        </p:nvSpPr>
        <p:spPr>
          <a:xfrm>
            <a:off x="2162175" y="2066925"/>
            <a:ext cx="4819650" cy="276225"/>
          </a:xfrm>
          <a:prstGeom prst="rect">
            <a:avLst/>
          </a:prstGeom>
          <a:noFill/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62175" y="2066925"/>
            <a:ext cx="276225" cy="2762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609850" y="2066925"/>
            <a:ext cx="2100263" cy="276225"/>
          </a:xfrm>
          <a:prstGeom prst="rect">
            <a:avLst/>
          </a:prstGeom>
          <a:noFill/>
          <a:ln/>
        </p:spPr>
      </p:sp>
      <p:sp>
        <p:nvSpPr>
          <p:cNvPr id="14" name="Text 8"/>
          <p:cNvSpPr/>
          <p:nvPr/>
        </p:nvSpPr>
        <p:spPr>
          <a:xfrm>
            <a:off x="2609850" y="2066925"/>
            <a:ext cx="6429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</a:t>
            </a:r>
            <a:endParaRPr lang="en-US" sz="1710" dirty="0"/>
          </a:p>
        </p:txBody>
      </p:sp>
      <p:sp>
        <p:nvSpPr>
          <p:cNvPr id="15" name="Shape 9"/>
          <p:cNvSpPr/>
          <p:nvPr/>
        </p:nvSpPr>
        <p:spPr>
          <a:xfrm>
            <a:off x="4881563" y="2066925"/>
            <a:ext cx="2100263" cy="276225"/>
          </a:xfrm>
          <a:prstGeom prst="rect">
            <a:avLst/>
          </a:prstGeom>
          <a:noFill/>
          <a:ln/>
        </p:spPr>
      </p:sp>
      <p:sp>
        <p:nvSpPr>
          <p:cNvPr id="16" name="Text 10"/>
          <p:cNvSpPr/>
          <p:nvPr/>
        </p:nvSpPr>
        <p:spPr>
          <a:xfrm>
            <a:off x="6357938" y="2105025"/>
            <a:ext cx="623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</a:t>
            </a:r>
            <a:endParaRPr lang="en-US" sz="1140" dirty="0"/>
          </a:p>
        </p:txBody>
      </p:sp>
      <p:sp>
        <p:nvSpPr>
          <p:cNvPr id="17" name="Shape 11"/>
          <p:cNvSpPr/>
          <p:nvPr/>
        </p:nvSpPr>
        <p:spPr>
          <a:xfrm>
            <a:off x="2162175" y="2514600"/>
            <a:ext cx="4819650" cy="276225"/>
          </a:xfrm>
          <a:prstGeom prst="rect">
            <a:avLst/>
          </a:prstGeom>
          <a:noFill/>
          <a:ln/>
        </p:spPr>
      </p:sp>
      <p:sp>
        <p:nvSpPr>
          <p:cNvPr id="18" name="Shape 12"/>
          <p:cNvSpPr/>
          <p:nvPr/>
        </p:nvSpPr>
        <p:spPr>
          <a:xfrm>
            <a:off x="2162175" y="2514600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162175" y="2514600"/>
            <a:ext cx="276225" cy="2762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552700" y="2514600"/>
            <a:ext cx="8715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Jasmine</a:t>
            </a:r>
            <a:endParaRPr lang="en-US" sz="1710" dirty="0"/>
          </a:p>
        </p:txBody>
      </p:sp>
      <p:sp>
        <p:nvSpPr>
          <p:cNvPr id="21" name="Shape 14"/>
          <p:cNvSpPr/>
          <p:nvPr/>
        </p:nvSpPr>
        <p:spPr>
          <a:xfrm>
            <a:off x="4657725" y="2514600"/>
            <a:ext cx="2324100" cy="276225"/>
          </a:xfrm>
          <a:prstGeom prst="rect">
            <a:avLst/>
          </a:prstGeom>
          <a:noFill/>
          <a:ln/>
        </p:spPr>
      </p:sp>
      <p:sp>
        <p:nvSpPr>
          <p:cNvPr id="22" name="Text 15"/>
          <p:cNvSpPr/>
          <p:nvPr/>
        </p:nvSpPr>
        <p:spPr>
          <a:xfrm>
            <a:off x="6748463" y="2552700"/>
            <a:ext cx="233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</a:t>
            </a:r>
            <a:endParaRPr lang="en-US" sz="1140" dirty="0"/>
          </a:p>
        </p:txBody>
      </p:sp>
      <p:sp>
        <p:nvSpPr>
          <p:cNvPr id="23" name="Shape 16"/>
          <p:cNvSpPr/>
          <p:nvPr/>
        </p:nvSpPr>
        <p:spPr>
          <a:xfrm>
            <a:off x="2162175" y="2962275"/>
            <a:ext cx="4819650" cy="276225"/>
          </a:xfrm>
          <a:prstGeom prst="rect">
            <a:avLst/>
          </a:prstGeom>
          <a:noFill/>
          <a:ln/>
        </p:spPr>
      </p:sp>
      <p:sp>
        <p:nvSpPr>
          <p:cNvPr id="24" name="Shape 17"/>
          <p:cNvSpPr/>
          <p:nvPr/>
        </p:nvSpPr>
        <p:spPr>
          <a:xfrm>
            <a:off x="2162175" y="2962275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162175" y="2962275"/>
            <a:ext cx="276225" cy="2762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52700" y="2962275"/>
            <a:ext cx="7286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Wendy</a:t>
            </a:r>
            <a:endParaRPr lang="en-US" sz="1710" dirty="0"/>
          </a:p>
        </p:txBody>
      </p:sp>
      <p:sp>
        <p:nvSpPr>
          <p:cNvPr id="27" name="Shape 19"/>
          <p:cNvSpPr/>
          <p:nvPr/>
        </p:nvSpPr>
        <p:spPr>
          <a:xfrm>
            <a:off x="4657725" y="2962275"/>
            <a:ext cx="2324100" cy="276225"/>
          </a:xfrm>
          <a:prstGeom prst="rect">
            <a:avLst/>
          </a:prstGeom>
          <a:noFill/>
          <a:ln/>
        </p:spPr>
      </p:sp>
      <p:sp>
        <p:nvSpPr>
          <p:cNvPr id="28" name="Text 20"/>
          <p:cNvSpPr/>
          <p:nvPr/>
        </p:nvSpPr>
        <p:spPr>
          <a:xfrm>
            <a:off x="6748463" y="3000375"/>
            <a:ext cx="233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</a:t>
            </a:r>
            <a:endParaRPr lang="en-US" sz="1140" dirty="0"/>
          </a:p>
        </p:txBody>
      </p:sp>
      <p:sp>
        <p:nvSpPr>
          <p:cNvPr id="29" name="Shape 21"/>
          <p:cNvSpPr/>
          <p:nvPr/>
        </p:nvSpPr>
        <p:spPr>
          <a:xfrm>
            <a:off x="2162175" y="3409950"/>
            <a:ext cx="4819650" cy="276225"/>
          </a:xfrm>
          <a:prstGeom prst="rect">
            <a:avLst/>
          </a:prstGeom>
          <a:noFill/>
          <a:ln/>
        </p:spPr>
      </p:sp>
      <p:sp>
        <p:nvSpPr>
          <p:cNvPr id="30" name="Shape 22"/>
          <p:cNvSpPr/>
          <p:nvPr/>
        </p:nvSpPr>
        <p:spPr>
          <a:xfrm>
            <a:off x="2162175" y="3409950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162175" y="3409950"/>
            <a:ext cx="276225" cy="2762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552700" y="3409950"/>
            <a:ext cx="40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</a:t>
            </a:r>
            <a:endParaRPr lang="en-US" sz="1710" dirty="0"/>
          </a:p>
        </p:txBody>
      </p:sp>
      <p:sp>
        <p:nvSpPr>
          <p:cNvPr id="33" name="Shape 24"/>
          <p:cNvSpPr/>
          <p:nvPr/>
        </p:nvSpPr>
        <p:spPr>
          <a:xfrm>
            <a:off x="4657725" y="3409950"/>
            <a:ext cx="2324100" cy="276225"/>
          </a:xfrm>
          <a:prstGeom prst="rect">
            <a:avLst/>
          </a:prstGeom>
          <a:noFill/>
          <a:ln/>
        </p:spPr>
      </p:sp>
      <p:sp>
        <p:nvSpPr>
          <p:cNvPr id="34" name="Text 25"/>
          <p:cNvSpPr/>
          <p:nvPr/>
        </p:nvSpPr>
        <p:spPr>
          <a:xfrm>
            <a:off x="6367463" y="3448050"/>
            <a:ext cx="614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43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4838700"/>
            <a:ext cx="9144000" cy="304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162175" y="1171575"/>
            <a:ext cx="4819650" cy="2514600"/>
          </a:xfrm>
          <a:prstGeom prst="rect">
            <a:avLst/>
          </a:prstGeom>
          <a:noFill/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62175" y="1171575"/>
            <a:ext cx="4819650" cy="27622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162175" y="1619250"/>
            <a:ext cx="4819650" cy="276225"/>
          </a:xfrm>
          <a:prstGeom prst="rect">
            <a:avLst/>
          </a:prstGeom>
          <a:noFill/>
          <a:ln/>
        </p:spPr>
      </p:sp>
      <p:sp>
        <p:nvSpPr>
          <p:cNvPr id="7" name="Shape 2"/>
          <p:cNvSpPr/>
          <p:nvPr/>
        </p:nvSpPr>
        <p:spPr>
          <a:xfrm>
            <a:off x="2162175" y="1619250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62175" y="1619250"/>
            <a:ext cx="276225" cy="2762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552700" y="1619250"/>
            <a:ext cx="12573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Soundharya</a:t>
            </a:r>
            <a:endParaRPr lang="en-US" sz="1710" dirty="0"/>
          </a:p>
        </p:txBody>
      </p:sp>
      <p:sp>
        <p:nvSpPr>
          <p:cNvPr id="10" name="Shape 4"/>
          <p:cNvSpPr/>
          <p:nvPr/>
        </p:nvSpPr>
        <p:spPr>
          <a:xfrm>
            <a:off x="4657725" y="1619250"/>
            <a:ext cx="2324100" cy="276225"/>
          </a:xfrm>
          <a:prstGeom prst="rect">
            <a:avLst/>
          </a:prstGeom>
          <a:noFill/>
          <a:ln/>
        </p:spPr>
      </p:sp>
      <p:sp>
        <p:nvSpPr>
          <p:cNvPr id="11" name="Text 5"/>
          <p:cNvSpPr/>
          <p:nvPr/>
        </p:nvSpPr>
        <p:spPr>
          <a:xfrm>
            <a:off x="6357938" y="1657350"/>
            <a:ext cx="623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</a:t>
            </a:r>
            <a:endParaRPr lang="en-US" sz="1140" dirty="0"/>
          </a:p>
        </p:txBody>
      </p:sp>
      <p:sp>
        <p:nvSpPr>
          <p:cNvPr id="12" name="Shape 6"/>
          <p:cNvSpPr/>
          <p:nvPr/>
        </p:nvSpPr>
        <p:spPr>
          <a:xfrm>
            <a:off x="2162175" y="2066925"/>
            <a:ext cx="4819650" cy="276225"/>
          </a:xfrm>
          <a:prstGeom prst="rect">
            <a:avLst/>
          </a:prstGeom>
          <a:noFill/>
          <a:ln/>
        </p:spPr>
      </p:sp>
      <p:sp>
        <p:nvSpPr>
          <p:cNvPr id="13" name="Shape 7"/>
          <p:cNvSpPr/>
          <p:nvPr/>
        </p:nvSpPr>
        <p:spPr>
          <a:xfrm>
            <a:off x="2162175" y="2066925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162175" y="2066925"/>
            <a:ext cx="276225" cy="2762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552700" y="2066925"/>
            <a:ext cx="6429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</a:t>
            </a:r>
            <a:endParaRPr lang="en-US" sz="1710" dirty="0"/>
          </a:p>
        </p:txBody>
      </p:sp>
      <p:sp>
        <p:nvSpPr>
          <p:cNvPr id="16" name="Shape 9"/>
          <p:cNvSpPr/>
          <p:nvPr/>
        </p:nvSpPr>
        <p:spPr>
          <a:xfrm>
            <a:off x="4657725" y="2066925"/>
            <a:ext cx="2324100" cy="276225"/>
          </a:xfrm>
          <a:prstGeom prst="rect">
            <a:avLst/>
          </a:prstGeom>
          <a:noFill/>
          <a:ln/>
        </p:spPr>
      </p:sp>
      <p:sp>
        <p:nvSpPr>
          <p:cNvPr id="17" name="Text 10"/>
          <p:cNvSpPr/>
          <p:nvPr/>
        </p:nvSpPr>
        <p:spPr>
          <a:xfrm>
            <a:off x="6357938" y="2105025"/>
            <a:ext cx="623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</a:t>
            </a:r>
            <a:endParaRPr lang="en-US" sz="1140" dirty="0"/>
          </a:p>
        </p:txBody>
      </p:sp>
      <p:sp>
        <p:nvSpPr>
          <p:cNvPr id="18" name="Shape 11"/>
          <p:cNvSpPr/>
          <p:nvPr/>
        </p:nvSpPr>
        <p:spPr>
          <a:xfrm>
            <a:off x="2162175" y="2514600"/>
            <a:ext cx="4819650" cy="276225"/>
          </a:xfrm>
          <a:prstGeom prst="rect">
            <a:avLst/>
          </a:prstGeom>
          <a:noFill/>
          <a:ln/>
        </p:spPr>
      </p:sp>
      <p:sp>
        <p:nvSpPr>
          <p:cNvPr id="19" name="Shape 12"/>
          <p:cNvSpPr/>
          <p:nvPr/>
        </p:nvSpPr>
        <p:spPr>
          <a:xfrm>
            <a:off x="2162175" y="2514600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162175" y="2514600"/>
            <a:ext cx="276225" cy="2762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552700" y="2514600"/>
            <a:ext cx="8715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Jasmine</a:t>
            </a:r>
            <a:endParaRPr lang="en-US" sz="1710" dirty="0"/>
          </a:p>
        </p:txBody>
      </p:sp>
      <p:sp>
        <p:nvSpPr>
          <p:cNvPr id="22" name="Shape 14"/>
          <p:cNvSpPr/>
          <p:nvPr/>
        </p:nvSpPr>
        <p:spPr>
          <a:xfrm>
            <a:off x="4657725" y="2514600"/>
            <a:ext cx="2324100" cy="276225"/>
          </a:xfrm>
          <a:prstGeom prst="rect">
            <a:avLst/>
          </a:prstGeom>
          <a:noFill/>
          <a:ln/>
        </p:spPr>
      </p:sp>
      <p:sp>
        <p:nvSpPr>
          <p:cNvPr id="23" name="Text 15"/>
          <p:cNvSpPr/>
          <p:nvPr/>
        </p:nvSpPr>
        <p:spPr>
          <a:xfrm>
            <a:off x="6748463" y="2552700"/>
            <a:ext cx="233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</a:t>
            </a:r>
            <a:endParaRPr lang="en-US" sz="1140" dirty="0"/>
          </a:p>
        </p:txBody>
      </p:sp>
      <p:sp>
        <p:nvSpPr>
          <p:cNvPr id="24" name="Shape 16"/>
          <p:cNvSpPr/>
          <p:nvPr/>
        </p:nvSpPr>
        <p:spPr>
          <a:xfrm>
            <a:off x="2162175" y="2962275"/>
            <a:ext cx="4819650" cy="276225"/>
          </a:xfrm>
          <a:prstGeom prst="rect">
            <a:avLst/>
          </a:prstGeom>
          <a:noFill/>
          <a:ln/>
        </p:spPr>
      </p:sp>
      <p:sp>
        <p:nvSpPr>
          <p:cNvPr id="25" name="Shape 17"/>
          <p:cNvSpPr/>
          <p:nvPr/>
        </p:nvSpPr>
        <p:spPr>
          <a:xfrm>
            <a:off x="2162175" y="2962275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162175" y="2962275"/>
            <a:ext cx="276225" cy="2762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552700" y="2962275"/>
            <a:ext cx="7286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Wendy</a:t>
            </a:r>
            <a:endParaRPr lang="en-US" sz="1710" dirty="0"/>
          </a:p>
        </p:txBody>
      </p:sp>
      <p:sp>
        <p:nvSpPr>
          <p:cNvPr id="28" name="Shape 19"/>
          <p:cNvSpPr/>
          <p:nvPr/>
        </p:nvSpPr>
        <p:spPr>
          <a:xfrm>
            <a:off x="4657725" y="2962275"/>
            <a:ext cx="2324100" cy="276225"/>
          </a:xfrm>
          <a:prstGeom prst="rect">
            <a:avLst/>
          </a:prstGeom>
          <a:noFill/>
          <a:ln/>
        </p:spPr>
      </p:sp>
      <p:sp>
        <p:nvSpPr>
          <p:cNvPr id="29" name="Text 20"/>
          <p:cNvSpPr/>
          <p:nvPr/>
        </p:nvSpPr>
        <p:spPr>
          <a:xfrm>
            <a:off x="6748463" y="3000375"/>
            <a:ext cx="233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</a:t>
            </a:r>
            <a:endParaRPr lang="en-US" sz="1140" dirty="0"/>
          </a:p>
        </p:txBody>
      </p:sp>
      <p:sp>
        <p:nvSpPr>
          <p:cNvPr id="30" name="Shape 21"/>
          <p:cNvSpPr/>
          <p:nvPr/>
        </p:nvSpPr>
        <p:spPr>
          <a:xfrm>
            <a:off x="2162175" y="3409950"/>
            <a:ext cx="4819650" cy="276225"/>
          </a:xfrm>
          <a:prstGeom prst="rect">
            <a:avLst/>
          </a:prstGeom>
          <a:noFill/>
          <a:ln/>
        </p:spPr>
      </p:sp>
      <p:sp>
        <p:nvSpPr>
          <p:cNvPr id="31" name="Shape 22"/>
          <p:cNvSpPr/>
          <p:nvPr/>
        </p:nvSpPr>
        <p:spPr>
          <a:xfrm>
            <a:off x="2162175" y="3409950"/>
            <a:ext cx="2324100" cy="276225"/>
          </a:xfrm>
          <a:prstGeom prst="rect">
            <a:avLst/>
          </a:prstGeom>
          <a:noFill/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162175" y="3409950"/>
            <a:ext cx="276225" cy="27622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552700" y="3409950"/>
            <a:ext cx="40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51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</a:t>
            </a:r>
            <a:endParaRPr lang="en-US" sz="1710" dirty="0"/>
          </a:p>
        </p:txBody>
      </p:sp>
      <p:sp>
        <p:nvSpPr>
          <p:cNvPr id="34" name="Shape 24"/>
          <p:cNvSpPr/>
          <p:nvPr/>
        </p:nvSpPr>
        <p:spPr>
          <a:xfrm>
            <a:off x="4657725" y="3409950"/>
            <a:ext cx="2324100" cy="276225"/>
          </a:xfrm>
          <a:prstGeom prst="rect">
            <a:avLst/>
          </a:prstGeom>
          <a:noFill/>
          <a:ln/>
        </p:spPr>
      </p:sp>
      <p:sp>
        <p:nvSpPr>
          <p:cNvPr id="35" name="Text 25"/>
          <p:cNvSpPr/>
          <p:nvPr/>
        </p:nvSpPr>
        <p:spPr>
          <a:xfrm>
            <a:off x="6367463" y="3448050"/>
            <a:ext cx="614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82"/>
              </a:lnSpc>
              <a:buNone/>
            </a:pPr>
            <a:r>
              <a:rPr lang="en-US" sz="1140" spc="-34" kern="0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2026-04-29T13:51:47Z</dcterms:created>
  <dcterms:modified xsi:type="dcterms:W3CDTF">2026-04-29T13:51:47Z</dcterms:modified>
</cp:coreProperties>
</file>